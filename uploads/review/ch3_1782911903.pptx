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bookmarkIdSeed="2">
  <p:sldMasterIdLst>
    <p:sldMasterId id="2147483648" r:id="rId1"/>
  </p:sldMasterIdLst>
  <p:notesMasterIdLst>
    <p:notesMasterId r:id="rId56"/>
  </p:notesMasterIdLst>
  <p:handoutMasterIdLst>
    <p:handoutMasterId r:id="rId57"/>
  </p:handoutMasterIdLst>
  <p:sldIdLst>
    <p:sldId id="256" r:id="rId2"/>
    <p:sldId id="16766072" r:id="rId3"/>
    <p:sldId id="16766073" r:id="rId4"/>
    <p:sldId id="16766221" r:id="rId5"/>
    <p:sldId id="523" r:id="rId6"/>
    <p:sldId id="8094" r:id="rId7"/>
    <p:sldId id="8095" r:id="rId8"/>
    <p:sldId id="16766222" r:id="rId9"/>
    <p:sldId id="16766223" r:id="rId10"/>
    <p:sldId id="8096" r:id="rId11"/>
    <p:sldId id="8097" r:id="rId12"/>
    <p:sldId id="8098" r:id="rId13"/>
    <p:sldId id="16766224" r:id="rId14"/>
    <p:sldId id="16766231" r:id="rId15"/>
    <p:sldId id="8130" r:id="rId16"/>
    <p:sldId id="16766225" r:id="rId17"/>
    <p:sldId id="16766226" r:id="rId18"/>
    <p:sldId id="16766227" r:id="rId19"/>
    <p:sldId id="16766228" r:id="rId20"/>
    <p:sldId id="16766232" r:id="rId21"/>
    <p:sldId id="8101" r:id="rId22"/>
    <p:sldId id="8120" r:id="rId23"/>
    <p:sldId id="8121" r:id="rId24"/>
    <p:sldId id="8122" r:id="rId25"/>
    <p:sldId id="8123" r:id="rId26"/>
    <p:sldId id="8124" r:id="rId27"/>
    <p:sldId id="8125" r:id="rId28"/>
    <p:sldId id="8126" r:id="rId29"/>
    <p:sldId id="8127" r:id="rId30"/>
    <p:sldId id="8128" r:id="rId31"/>
    <p:sldId id="16766233" r:id="rId32"/>
    <p:sldId id="16766234" r:id="rId33"/>
    <p:sldId id="16766235" r:id="rId34"/>
    <p:sldId id="16766236" r:id="rId35"/>
    <p:sldId id="16766237" r:id="rId36"/>
    <p:sldId id="16766240" r:id="rId37"/>
    <p:sldId id="16766241" r:id="rId38"/>
    <p:sldId id="16766242" r:id="rId39"/>
    <p:sldId id="16766243" r:id="rId40"/>
    <p:sldId id="16766244" r:id="rId41"/>
    <p:sldId id="16766248" r:id="rId42"/>
    <p:sldId id="16766249" r:id="rId43"/>
    <p:sldId id="8099" r:id="rId44"/>
    <p:sldId id="8100" r:id="rId45"/>
    <p:sldId id="16766257" r:id="rId46"/>
    <p:sldId id="8129" r:id="rId47"/>
    <p:sldId id="16766253" r:id="rId48"/>
    <p:sldId id="16766259" r:id="rId49"/>
    <p:sldId id="16766254" r:id="rId50"/>
    <p:sldId id="16766260" r:id="rId51"/>
    <p:sldId id="16766255" r:id="rId52"/>
    <p:sldId id="16766256" r:id="rId53"/>
    <p:sldId id="16766250" r:id="rId54"/>
    <p:sldId id="294" r:id="rId55"/>
  </p:sldIdLst>
  <p:sldSz cx="12192000" cy="6858000"/>
  <p:notesSz cx="6794500" cy="99187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124" userDrawn="1">
          <p15:clr>
            <a:srgbClr val="A4A3A4"/>
          </p15:clr>
        </p15:guide>
        <p15:guide id="2" pos="214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34C9F"/>
    <a:srgbClr val="4ABEED"/>
    <a:srgbClr val="B01F24"/>
    <a:srgbClr val="FFFFCC"/>
    <a:srgbClr val="333333"/>
    <a:srgbClr val="F3F3F3"/>
    <a:srgbClr val="003F88"/>
    <a:srgbClr val="F88D2F"/>
    <a:srgbClr val="663300"/>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5194" autoAdjust="0"/>
    <p:restoredTop sz="90236" autoAdjust="0"/>
  </p:normalViewPr>
  <p:slideViewPr>
    <p:cSldViewPr snapToGrid="0">
      <p:cViewPr varScale="1">
        <p:scale>
          <a:sx n="107" d="100"/>
          <a:sy n="107" d="100"/>
        </p:scale>
        <p:origin x="184" y="1544"/>
      </p:cViewPr>
      <p:guideLst>
        <p:guide orient="horz" pos="2160"/>
        <p:guide pos="3840"/>
      </p:guideLst>
    </p:cSldViewPr>
  </p:slideViewPr>
  <p:notesTextViewPr>
    <p:cViewPr>
      <p:scale>
        <a:sx n="3" d="2"/>
        <a:sy n="3" d="2"/>
      </p:scale>
      <p:origin x="0" y="0"/>
    </p:cViewPr>
  </p:notesTextViewPr>
  <p:notesViewPr>
    <p:cSldViewPr snapToGrid="0">
      <p:cViewPr varScale="1">
        <p:scale>
          <a:sx n="110" d="100"/>
          <a:sy n="110" d="100"/>
        </p:scale>
        <p:origin x="4824" y="184"/>
      </p:cViewPr>
      <p:guideLst>
        <p:guide orient="horz" pos="3124"/>
        <p:guide pos="2140"/>
      </p:guideLst>
    </p:cSldViewPr>
  </p:notes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2944283" cy="495935"/>
          </a:xfrm>
          <a:prstGeom prst="rect">
            <a:avLst/>
          </a:prstGeom>
        </p:spPr>
        <p:txBody>
          <a:bodyPr vert="horz" lIns="95492" tIns="47746" rIns="95492" bIns="47746" rtlCol="0"/>
          <a:lstStyle>
            <a:lvl1pPr algn="l">
              <a:defRPr sz="1300"/>
            </a:lvl1pPr>
          </a:lstStyle>
          <a:p>
            <a:endParaRPr lang="zh-CN" altLang="en-US"/>
          </a:p>
        </p:txBody>
      </p:sp>
      <p:sp>
        <p:nvSpPr>
          <p:cNvPr id="3" name="日期占位符 2"/>
          <p:cNvSpPr>
            <a:spLocks noGrp="1"/>
          </p:cNvSpPr>
          <p:nvPr>
            <p:ph type="dt" sz="quarter" idx="1"/>
          </p:nvPr>
        </p:nvSpPr>
        <p:spPr>
          <a:xfrm>
            <a:off x="3848645" y="1"/>
            <a:ext cx="2944283" cy="495935"/>
          </a:xfrm>
          <a:prstGeom prst="rect">
            <a:avLst/>
          </a:prstGeom>
        </p:spPr>
        <p:txBody>
          <a:bodyPr vert="horz" lIns="95492" tIns="47746" rIns="95492" bIns="47746" rtlCol="0"/>
          <a:lstStyle>
            <a:lvl1pPr algn="r">
              <a:defRPr sz="1300"/>
            </a:lvl1pPr>
          </a:lstStyle>
          <a:p>
            <a:fld id="{EABEC9A9-8197-4257-ADF2-59768B043AAC}" type="datetimeFigureOut">
              <a:rPr lang="zh-CN" altLang="en-US" smtClean="0"/>
              <a:t>2026/3/26</a:t>
            </a:fld>
            <a:endParaRPr lang="zh-CN" altLang="en-US"/>
          </a:p>
        </p:txBody>
      </p:sp>
      <p:sp>
        <p:nvSpPr>
          <p:cNvPr id="4" name="页脚占位符 3"/>
          <p:cNvSpPr>
            <a:spLocks noGrp="1"/>
          </p:cNvSpPr>
          <p:nvPr>
            <p:ph type="ftr" sz="quarter" idx="2"/>
          </p:nvPr>
        </p:nvSpPr>
        <p:spPr>
          <a:xfrm>
            <a:off x="0" y="9421044"/>
            <a:ext cx="2944283" cy="495935"/>
          </a:xfrm>
          <a:prstGeom prst="rect">
            <a:avLst/>
          </a:prstGeom>
        </p:spPr>
        <p:txBody>
          <a:bodyPr vert="horz" lIns="95492" tIns="47746" rIns="95492" bIns="47746" rtlCol="0" anchor="b"/>
          <a:lstStyle>
            <a:lvl1pPr algn="l">
              <a:defRPr sz="1300"/>
            </a:lvl1pPr>
          </a:lstStyle>
          <a:p>
            <a:endParaRPr lang="zh-CN" altLang="en-US"/>
          </a:p>
        </p:txBody>
      </p:sp>
      <p:sp>
        <p:nvSpPr>
          <p:cNvPr id="5" name="灯片编号占位符 4"/>
          <p:cNvSpPr>
            <a:spLocks noGrp="1"/>
          </p:cNvSpPr>
          <p:nvPr>
            <p:ph type="sldNum" sz="quarter" idx="3"/>
          </p:nvPr>
        </p:nvSpPr>
        <p:spPr>
          <a:xfrm>
            <a:off x="3848645" y="9421044"/>
            <a:ext cx="2944283" cy="495935"/>
          </a:xfrm>
          <a:prstGeom prst="rect">
            <a:avLst/>
          </a:prstGeom>
        </p:spPr>
        <p:txBody>
          <a:bodyPr vert="horz" lIns="95492" tIns="47746" rIns="95492" bIns="47746" rtlCol="0" anchor="b"/>
          <a:lstStyle>
            <a:lvl1pPr algn="r">
              <a:defRPr sz="1300"/>
            </a:lvl1pPr>
          </a:lstStyle>
          <a:p>
            <a:fld id="{93D655E0-DE0B-47B4-9B41-34C4A90D47A8}" type="slidenum">
              <a:rPr lang="zh-CN" altLang="en-US" smtClean="0"/>
              <a:t>‹#›</a:t>
            </a:fld>
            <a:endParaRPr lang="zh-CN" altLang="en-US"/>
          </a:p>
        </p:txBody>
      </p:sp>
    </p:spTree>
    <p:extLst>
      <p:ext uri="{BB962C8B-B14F-4D97-AF65-F5344CB8AC3E}">
        <p14:creationId xmlns:p14="http://schemas.microsoft.com/office/powerpoint/2010/main" val="35532716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4813" cy="4968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48100" y="0"/>
            <a:ext cx="2944813" cy="496888"/>
          </a:xfrm>
          <a:prstGeom prst="rect">
            <a:avLst/>
          </a:prstGeom>
        </p:spPr>
        <p:txBody>
          <a:bodyPr vert="horz" lIns="91440" tIns="45720" rIns="91440" bIns="45720" rtlCol="0"/>
          <a:lstStyle>
            <a:lvl1pPr algn="r">
              <a:defRPr sz="1200"/>
            </a:lvl1pPr>
          </a:lstStyle>
          <a:p>
            <a:fld id="{72FA6C4C-04D2-417C-B23F-E55227F108E0}" type="datetimeFigureOut">
              <a:rPr lang="zh-CN" altLang="en-US" smtClean="0"/>
              <a:t>2026/3/26</a:t>
            </a:fld>
            <a:endParaRPr lang="zh-CN" altLang="en-US"/>
          </a:p>
        </p:txBody>
      </p:sp>
      <p:sp>
        <p:nvSpPr>
          <p:cNvPr id="4" name="幻灯片图像占位符 3"/>
          <p:cNvSpPr>
            <a:spLocks noGrp="1" noRot="1" noChangeAspect="1"/>
          </p:cNvSpPr>
          <p:nvPr>
            <p:ph type="sldImg" idx="2"/>
          </p:nvPr>
        </p:nvSpPr>
        <p:spPr>
          <a:xfrm>
            <a:off x="422275" y="1239838"/>
            <a:ext cx="5949950" cy="3348037"/>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450" y="4773613"/>
            <a:ext cx="5435600" cy="39052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421813"/>
            <a:ext cx="2944813" cy="4968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48100" y="9421813"/>
            <a:ext cx="2944813" cy="496887"/>
          </a:xfrm>
          <a:prstGeom prst="rect">
            <a:avLst/>
          </a:prstGeom>
        </p:spPr>
        <p:txBody>
          <a:bodyPr vert="horz" lIns="91440" tIns="45720" rIns="91440" bIns="45720" rtlCol="0" anchor="b"/>
          <a:lstStyle>
            <a:lvl1pPr algn="r">
              <a:defRPr sz="1200"/>
            </a:lvl1pPr>
          </a:lstStyle>
          <a:p>
            <a:fld id="{65ACE964-20FD-4E02-AD78-D23A92B56B1B}" type="slidenum">
              <a:rPr lang="zh-CN" altLang="en-US" smtClean="0"/>
              <a:t>‹#›</a:t>
            </a:fld>
            <a:endParaRPr lang="zh-CN" altLang="en-US"/>
          </a:p>
        </p:txBody>
      </p:sp>
    </p:spTree>
    <p:extLst>
      <p:ext uri="{BB962C8B-B14F-4D97-AF65-F5344CB8AC3E}">
        <p14:creationId xmlns:p14="http://schemas.microsoft.com/office/powerpoint/2010/main" val="36783361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0" y="2630041"/>
            <a:ext cx="5386388" cy="798959"/>
          </a:xfrm>
          <a:prstGeom prst="rect">
            <a:avLst/>
          </a:prstGeom>
        </p:spPr>
        <p:txBody>
          <a:bodyPr anchor="ctr">
            <a:normAutofit/>
          </a:bodyPr>
          <a:lstStyle>
            <a:lvl1pPr marL="0" indent="0" algn="ctr">
              <a:buNone/>
              <a:defRPr sz="2800" b="1">
                <a:solidFill>
                  <a:schemeClr val="bg1"/>
                </a:solidFill>
                <a:effectLst>
                  <a:outerShdw blurRad="38100" dist="38100" dir="2700000" algn="tl">
                    <a:srgbClr val="000000">
                      <a:alpha val="43137"/>
                    </a:srgbClr>
                  </a:outerShdw>
                </a:effectLst>
                <a:latin typeface="微软雅黑" pitchFamily="34" charset="-122"/>
                <a:ea typeface="微软雅黑"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Tree>
    <p:extLst>
      <p:ext uri="{BB962C8B-B14F-4D97-AF65-F5344CB8AC3E}">
        <p14:creationId xmlns:p14="http://schemas.microsoft.com/office/powerpoint/2010/main" val="3924475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A06AA681-F899-1740-B6BC-6CAB3FC70F3D}"/>
              </a:ext>
            </a:extLst>
          </p:cNvPr>
          <p:cNvSpPr/>
          <p:nvPr userDrawn="1"/>
        </p:nvSpPr>
        <p:spPr>
          <a:xfrm>
            <a:off x="1" y="764293"/>
            <a:ext cx="12192000" cy="56726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标题 1"/>
          <p:cNvSpPr>
            <a:spLocks noGrp="1"/>
          </p:cNvSpPr>
          <p:nvPr>
            <p:ph type="title"/>
          </p:nvPr>
        </p:nvSpPr>
        <p:spPr>
          <a:xfrm>
            <a:off x="439615" y="207071"/>
            <a:ext cx="11298116" cy="437186"/>
          </a:xfrm>
          <a:prstGeom prst="rect">
            <a:avLst/>
          </a:prstGeom>
        </p:spPr>
        <p:txBody>
          <a:bodyPr>
            <a:noAutofit/>
          </a:bodyPr>
          <a:lstStyle>
            <a:lvl1pPr algn="l">
              <a:defRPr sz="2400" b="1" baseline="0">
                <a:solidFill>
                  <a:schemeClr val="bg1"/>
                </a:solidFill>
                <a:latin typeface="Georgia" panose="02040502050405020303" pitchFamily="18" charset="0"/>
                <a:ea typeface="微软雅黑" pitchFamily="34" charset="-122"/>
              </a:defRPr>
            </a:lvl1pPr>
          </a:lstStyle>
          <a:p>
            <a:r>
              <a:rPr lang="zh-CN" altLang="en-US" dirty="0"/>
              <a:t>单击此处编辑母版标题样式</a:t>
            </a:r>
          </a:p>
        </p:txBody>
      </p:sp>
      <p:sp>
        <p:nvSpPr>
          <p:cNvPr id="3" name="内容占位符 2"/>
          <p:cNvSpPr>
            <a:spLocks noGrp="1"/>
          </p:cNvSpPr>
          <p:nvPr>
            <p:ph idx="1"/>
          </p:nvPr>
        </p:nvSpPr>
        <p:spPr>
          <a:xfrm>
            <a:off x="439615" y="875793"/>
            <a:ext cx="11298116" cy="5396419"/>
          </a:xfrm>
          <a:prstGeom prst="rect">
            <a:avLst/>
          </a:prstGeom>
        </p:spPr>
        <p:txBody>
          <a:bodyPr/>
          <a:lstStyle>
            <a:lvl1pPr marL="266400" indent="-266400">
              <a:lnSpc>
                <a:spcPct val="150000"/>
              </a:lnSpc>
              <a:spcBef>
                <a:spcPts val="720"/>
              </a:spcBef>
              <a:spcAft>
                <a:spcPts val="240"/>
              </a:spcAft>
              <a:buFont typeface="Wingdings" pitchFamily="2" charset="2"/>
              <a:buChar char=""/>
              <a:defRPr sz="2000" b="1" baseline="0">
                <a:solidFill>
                  <a:srgbClr val="333333"/>
                </a:solidFill>
                <a:latin typeface="Georgia" panose="02040502050405020303" pitchFamily="18" charset="0"/>
                <a:ea typeface="微软雅黑" pitchFamily="34" charset="-122"/>
              </a:defRPr>
            </a:lvl1pPr>
            <a:lvl2pPr marL="712800" indent="-270000">
              <a:lnSpc>
                <a:spcPct val="150000"/>
              </a:lnSpc>
              <a:spcBef>
                <a:spcPts val="36"/>
              </a:spcBef>
              <a:spcAft>
                <a:spcPts val="12"/>
              </a:spcAft>
              <a:defRPr sz="1800" b="1" baseline="0">
                <a:solidFill>
                  <a:srgbClr val="333333"/>
                </a:solidFill>
                <a:latin typeface="Georgia" panose="02040502050405020303" pitchFamily="18" charset="0"/>
                <a:ea typeface="微软雅黑" pitchFamily="34" charset="-122"/>
              </a:defRPr>
            </a:lvl2pPr>
            <a:lvl3pPr marL="1072800" indent="-176400">
              <a:lnSpc>
                <a:spcPct val="150000"/>
              </a:lnSpc>
              <a:spcBef>
                <a:spcPts val="36"/>
              </a:spcBef>
              <a:spcAft>
                <a:spcPts val="12"/>
              </a:spcAft>
              <a:defRPr sz="1600" b="1" baseline="0">
                <a:solidFill>
                  <a:srgbClr val="333333"/>
                </a:solidFill>
                <a:latin typeface="Georgia" panose="02040502050405020303" pitchFamily="18" charset="0"/>
                <a:ea typeface="微软雅黑" pitchFamily="34" charset="-122"/>
              </a:defRPr>
            </a:lvl3pPr>
            <a:lvl4pPr marL="1440000" indent="-187200">
              <a:lnSpc>
                <a:spcPct val="150000"/>
              </a:lnSpc>
              <a:spcBef>
                <a:spcPts val="504"/>
              </a:spcBef>
              <a:spcAft>
                <a:spcPts val="168"/>
              </a:spcAft>
              <a:defRPr sz="1400" b="1" baseline="0">
                <a:solidFill>
                  <a:srgbClr val="333333"/>
                </a:solidFill>
                <a:latin typeface="Georgia" panose="02040502050405020303" pitchFamily="18" charset="0"/>
                <a:ea typeface="微软雅黑" pitchFamily="34" charset="-122"/>
              </a:defRPr>
            </a:lvl4pPr>
            <a:lvl5pPr>
              <a:lnSpc>
                <a:spcPct val="150000"/>
              </a:lnSpc>
              <a:spcBef>
                <a:spcPts val="504"/>
              </a:spcBef>
              <a:spcAft>
                <a:spcPts val="168"/>
              </a:spcAft>
              <a:defRPr sz="1400" b="1" baseline="0">
                <a:solidFill>
                  <a:srgbClr val="333333"/>
                </a:solidFill>
                <a:latin typeface="Georgia" panose="02040502050405020303" pitchFamily="18" charset="0"/>
                <a:ea typeface="微软雅黑" pitchFamily="34" charset="-122"/>
              </a:defRPr>
            </a:lvl5pPr>
          </a:lstStyle>
          <a:p>
            <a:pPr lvl="0"/>
            <a:r>
              <a:rPr lang="zh-CN" altLang="en-US" dirty="0"/>
              <a:t>单击此处编辑母版文本样式</a:t>
            </a:r>
          </a:p>
          <a:p>
            <a:pPr lvl="1"/>
            <a:r>
              <a:rPr lang="zh-CN" altLang="en-US" dirty="0"/>
              <a:t>第二级</a:t>
            </a:r>
          </a:p>
        </p:txBody>
      </p:sp>
      <p:sp>
        <p:nvSpPr>
          <p:cNvPr id="4" name="Oval 36">
            <a:extLst>
              <a:ext uri="{FF2B5EF4-FFF2-40B4-BE49-F238E27FC236}">
                <a16:creationId xmlns:a16="http://schemas.microsoft.com/office/drawing/2014/main" id="{53BD2AE3-6986-3A4C-8872-92CCE70279A3}"/>
              </a:ext>
            </a:extLst>
          </p:cNvPr>
          <p:cNvSpPr>
            <a:spLocks noChangeArrowheads="1"/>
          </p:cNvSpPr>
          <p:nvPr userDrawn="1"/>
        </p:nvSpPr>
        <p:spPr bwMode="auto">
          <a:xfrm>
            <a:off x="5887505" y="6461537"/>
            <a:ext cx="416984" cy="288925"/>
          </a:xfrm>
          <a:prstGeom prst="ellipse">
            <a:avLst/>
          </a:prstGeom>
          <a:solidFill>
            <a:srgbClr val="F3F3F3"/>
          </a:solidFill>
          <a:ln w="22225" algn="ctr">
            <a:solidFill>
              <a:srgbClr val="003F88"/>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36000" tIns="36000" rIns="36000" bIns="36000" anchor="ctr"/>
          <a:lstStyle/>
          <a:p>
            <a:pPr algn="ctr"/>
            <a:fld id="{4B9884D0-9C6F-4B58-8530-0C8AC02EC7F6}" type="slidenum">
              <a:rPr lang="zh-CN" altLang="en-US" sz="1800" b="0">
                <a:solidFill>
                  <a:srgbClr val="003F88"/>
                </a:solidFill>
                <a:latin typeface="Brush Script MT" pitchFamily="66" charset="0"/>
                <a:ea typeface="黑体" pitchFamily="2" charset="-122"/>
              </a:rPr>
              <a:pPr algn="ctr"/>
              <a:t>‹#›</a:t>
            </a:fld>
            <a:endParaRPr lang="en-US" altLang="zh-CN" sz="1800" b="0" dirty="0">
              <a:solidFill>
                <a:srgbClr val="003F88"/>
              </a:solidFill>
              <a:latin typeface="Brush Script MT" pitchFamily="66" charset="0"/>
              <a:ea typeface="黑体" pitchFamily="2" charset="-122"/>
            </a:endParaRPr>
          </a:p>
        </p:txBody>
      </p:sp>
    </p:spTree>
    <p:extLst>
      <p:ext uri="{BB962C8B-B14F-4D97-AF65-F5344CB8AC3E}">
        <p14:creationId xmlns:p14="http://schemas.microsoft.com/office/powerpoint/2010/main" val="3529219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9279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234C9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19726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5" r:id="rId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ctr" defTabSz="914400" rtl="0" eaLnBrk="1" latinLnBrk="0" hangingPunct="1">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image" Target="../media/image1.jpe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slideLayout" Target="../slideLayouts/slideLayout1.xml"/><Relationship Id="rId5" Type="http://schemas.openxmlformats.org/officeDocument/2006/relationships/tags" Target="../tags/tag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20.png"/><Relationship Id="rId5" Type="http://schemas.openxmlformats.org/officeDocument/2006/relationships/image" Target="../media/image110.png"/><Relationship Id="rId4" Type="http://schemas.openxmlformats.org/officeDocument/2006/relationships/image" Target="../media/image100.png"/></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anaconda.com/download/" TargetMode="External"/><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www.jetbrains.com/pycharm/download"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www.python.org/downloads" TargetMode="Externa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2.xml"/><Relationship Id="rId4" Type="http://schemas.openxmlformats.org/officeDocument/2006/relationships/image" Target="../media/image31.jpeg"/></Relationships>
</file>

<file path=ppt/slides/_rels/slide3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34.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3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png"/></Relationships>
</file>

<file path=ppt/slides/_rels/slide3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4.png"/><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50.png"/></Relationships>
</file>

<file path=ppt/slides/_rels/slide3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2.svg"/><Relationship Id="rId2" Type="http://schemas.openxmlformats.org/officeDocument/2006/relationships/image" Target="../media/image61.png"/><Relationship Id="rId1" Type="http://schemas.openxmlformats.org/officeDocument/2006/relationships/slideLayout" Target="../slideLayouts/slideLayout2.xml"/><Relationship Id="rId5" Type="http://schemas.openxmlformats.org/officeDocument/2006/relationships/image" Target="../media/image64.svg"/><Relationship Id="rId4" Type="http://schemas.openxmlformats.org/officeDocument/2006/relationships/image" Target="../media/image63.png"/></Relationships>
</file>

<file path=ppt/slides/_rels/slide4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4" Type="http://schemas.openxmlformats.org/officeDocument/2006/relationships/image" Target="../media/image67.sv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副标题 5"/>
          <p:cNvSpPr>
            <a:spLocks noGrp="1"/>
          </p:cNvSpPr>
          <p:nvPr>
            <p:ph type="subTitle" idx="1"/>
          </p:nvPr>
        </p:nvSpPr>
        <p:spPr>
          <a:xfrm>
            <a:off x="42210" y="2844795"/>
            <a:ext cx="5475829" cy="442036"/>
          </a:xfrm>
        </p:spPr>
        <p:txBody>
          <a:bodyPr>
            <a:noAutofit/>
          </a:bodyPr>
          <a:lstStyle/>
          <a:p>
            <a:r>
              <a:rPr lang="zh-CN" altLang="en-US" sz="2800" dirty="0"/>
              <a:t>第</a:t>
            </a:r>
            <a:r>
              <a:rPr lang="en-US" altLang="zh-CN" sz="2800" dirty="0"/>
              <a:t>3</a:t>
            </a:r>
            <a:r>
              <a:rPr lang="zh-CN" altLang="en-US" sz="2800" dirty="0"/>
              <a:t>章 </a:t>
            </a:r>
            <a:r>
              <a:rPr lang="zh-CN" altLang="en-US" dirty="0"/>
              <a:t>人工智能的应用开发基础</a:t>
            </a:r>
            <a:endParaRPr lang="en-US" altLang="zh-CN" dirty="0"/>
          </a:p>
        </p:txBody>
      </p:sp>
      <p:grpSp>
        <p:nvGrpSpPr>
          <p:cNvPr id="4" name="组合 3">
            <a:extLst>
              <a:ext uri="{FF2B5EF4-FFF2-40B4-BE49-F238E27FC236}">
                <a16:creationId xmlns:a16="http://schemas.microsoft.com/office/drawing/2014/main" id="{D3AE4E78-67DA-6D46-B7A0-50E995AA6702}"/>
              </a:ext>
            </a:extLst>
          </p:cNvPr>
          <p:cNvGrpSpPr/>
          <p:nvPr>
            <p:custDataLst>
              <p:tags r:id="rId1"/>
            </p:custDataLst>
          </p:nvPr>
        </p:nvGrpSpPr>
        <p:grpSpPr>
          <a:xfrm>
            <a:off x="6253605" y="1779569"/>
            <a:ext cx="5896185" cy="4583430"/>
            <a:chOff x="4464256" y="617220"/>
            <a:chExt cx="5021803" cy="3839210"/>
          </a:xfrm>
          <a:effectLst/>
        </p:grpSpPr>
        <p:sp>
          <p:nvSpPr>
            <p:cNvPr id="7" name="PA-装饰 矩形: 圆角 9">
              <a:extLst>
                <a:ext uri="{FF2B5EF4-FFF2-40B4-BE49-F238E27FC236}">
                  <a16:creationId xmlns:a16="http://schemas.microsoft.com/office/drawing/2014/main" id="{7D092A5E-25C1-4846-82BB-086E4931F690}"/>
                </a:ext>
              </a:extLst>
            </p:cNvPr>
            <p:cNvSpPr/>
            <p:nvPr>
              <p:custDataLst>
                <p:tags r:id="rId2"/>
              </p:custDataLst>
            </p:nvPr>
          </p:nvSpPr>
          <p:spPr>
            <a:xfrm>
              <a:off x="4543757" y="4110615"/>
              <a:ext cx="472859" cy="97180"/>
            </a:xfrm>
            <a:prstGeom prst="roundRect">
              <a:avLst>
                <a:gd name="adj" fmla="val 834"/>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gency FB" panose="020B0503020202020204"/>
                <a:ea typeface="微软雅黑" panose="020B0503020204020204" pitchFamily="34" charset="-122"/>
                <a:cs typeface="+mn-cs"/>
              </a:endParaRPr>
            </a:p>
          </p:txBody>
        </p:sp>
        <p:sp>
          <p:nvSpPr>
            <p:cNvPr id="8" name="PA-圆角矩形 3">
              <a:extLst>
                <a:ext uri="{FF2B5EF4-FFF2-40B4-BE49-F238E27FC236}">
                  <a16:creationId xmlns:a16="http://schemas.microsoft.com/office/drawing/2014/main" id="{222CAA97-F3E5-2843-A409-149844BC4323}"/>
                </a:ext>
              </a:extLst>
            </p:cNvPr>
            <p:cNvSpPr/>
            <p:nvPr>
              <p:custDataLst>
                <p:tags r:id="rId3"/>
              </p:custDataLst>
            </p:nvPr>
          </p:nvSpPr>
          <p:spPr>
            <a:xfrm>
              <a:off x="6950966" y="1260016"/>
              <a:ext cx="2415197" cy="994938"/>
            </a:xfrm>
            <a:custGeom>
              <a:avLst/>
              <a:gdLst>
                <a:gd name="connsiteX0" fmla="*/ 12526 w 3645535"/>
                <a:gd name="connsiteY0" fmla="*/ 0 h 1501775"/>
                <a:gd name="connsiteX1" fmla="*/ 3633013 w 3645535"/>
                <a:gd name="connsiteY1" fmla="*/ 2 h 1501775"/>
                <a:gd name="connsiteX2" fmla="*/ 3645535 w 3645535"/>
                <a:gd name="connsiteY2" fmla="*/ 12527 h 1501775"/>
                <a:gd name="connsiteX3" fmla="*/ 3645532 w 3645535"/>
                <a:gd name="connsiteY3" fmla="*/ 1489248 h 1501775"/>
                <a:gd name="connsiteX4" fmla="*/ 3633012 w 3645535"/>
                <a:gd name="connsiteY4" fmla="*/ 1501774 h 1501775"/>
                <a:gd name="connsiteX5" fmla="*/ 12523 w 3645535"/>
                <a:gd name="connsiteY5" fmla="*/ 1501775 h 1501775"/>
                <a:gd name="connsiteX6" fmla="*/ 1 w 3645535"/>
                <a:gd name="connsiteY6" fmla="*/ 1489249 h 1501775"/>
                <a:gd name="connsiteX7" fmla="*/ 0 w 3645535"/>
                <a:gd name="connsiteY7" fmla="*/ 12527 h 1501775"/>
                <a:gd name="connsiteX8" fmla="*/ 12526 w 3645535"/>
                <a:gd name="connsiteY8" fmla="*/ 0 h 1501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45535" h="1501775">
                  <a:moveTo>
                    <a:pt x="12526" y="0"/>
                  </a:moveTo>
                  <a:lnTo>
                    <a:pt x="3633013" y="2"/>
                  </a:lnTo>
                  <a:cubicBezTo>
                    <a:pt x="3639926" y="4"/>
                    <a:pt x="3645536" y="5609"/>
                    <a:pt x="3645535" y="12527"/>
                  </a:cubicBezTo>
                  <a:lnTo>
                    <a:pt x="3645532" y="1489248"/>
                  </a:lnTo>
                  <a:cubicBezTo>
                    <a:pt x="3645536" y="1496166"/>
                    <a:pt x="3639928" y="1501775"/>
                    <a:pt x="3633012" y="1501774"/>
                  </a:cubicBezTo>
                  <a:lnTo>
                    <a:pt x="12523" y="1501775"/>
                  </a:lnTo>
                  <a:cubicBezTo>
                    <a:pt x="5609" y="1501775"/>
                    <a:pt x="-3" y="1496167"/>
                    <a:pt x="1" y="1489249"/>
                  </a:cubicBezTo>
                  <a:lnTo>
                    <a:pt x="0" y="12527"/>
                  </a:lnTo>
                  <a:cubicBezTo>
                    <a:pt x="0" y="5612"/>
                    <a:pt x="5610" y="2"/>
                    <a:pt x="12526" y="0"/>
                  </a:cubicBezTo>
                  <a:close/>
                </a:path>
              </a:pathLst>
            </a:custGeom>
            <a:blipFill dpi="0" rotWithShape="0">
              <a:blip r:embed="rId12"/>
              <a:srcRect/>
              <a:stretch>
                <a:fillRect l="-146000" t="-98000" r="-48000" b="-25500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gency FB" panose="020B0503020202020204"/>
                <a:ea typeface="微软雅黑" panose="020B0503020204020204" pitchFamily="34" charset="-122"/>
                <a:cs typeface="+mn-cs"/>
              </a:endParaRPr>
            </a:p>
          </p:txBody>
        </p:sp>
        <p:sp>
          <p:nvSpPr>
            <p:cNvPr id="9" name="PA-圆角矩形 2">
              <a:extLst>
                <a:ext uri="{FF2B5EF4-FFF2-40B4-BE49-F238E27FC236}">
                  <a16:creationId xmlns:a16="http://schemas.microsoft.com/office/drawing/2014/main" id="{593EEEED-6705-1044-A8E4-83F8B6872642}"/>
                </a:ext>
              </a:extLst>
            </p:cNvPr>
            <p:cNvSpPr/>
            <p:nvPr>
              <p:custDataLst>
                <p:tags r:id="rId4"/>
              </p:custDataLst>
            </p:nvPr>
          </p:nvSpPr>
          <p:spPr>
            <a:xfrm>
              <a:off x="4592577" y="617220"/>
              <a:ext cx="2307501" cy="2154789"/>
            </a:xfrm>
            <a:custGeom>
              <a:avLst/>
              <a:gdLst>
                <a:gd name="connsiteX0" fmla="*/ 27130 w 3482977"/>
                <a:gd name="connsiteY0" fmla="*/ 0 h 3252471"/>
                <a:gd name="connsiteX1" fmla="*/ 3455851 w 3482977"/>
                <a:gd name="connsiteY1" fmla="*/ 1 h 3252471"/>
                <a:gd name="connsiteX2" fmla="*/ 3482977 w 3482977"/>
                <a:gd name="connsiteY2" fmla="*/ 27131 h 3252471"/>
                <a:gd name="connsiteX3" fmla="*/ 3482974 w 3482977"/>
                <a:gd name="connsiteY3" fmla="*/ 3225345 h 3252471"/>
                <a:gd name="connsiteX4" fmla="*/ 3455849 w 3482977"/>
                <a:gd name="connsiteY4" fmla="*/ 3252466 h 3252471"/>
                <a:gd name="connsiteX5" fmla="*/ 27127 w 3482977"/>
                <a:gd name="connsiteY5" fmla="*/ 3252471 h 3252471"/>
                <a:gd name="connsiteX6" fmla="*/ 0 w 3482977"/>
                <a:gd name="connsiteY6" fmla="*/ 3225340 h 3252471"/>
                <a:gd name="connsiteX7" fmla="*/ 3 w 3482977"/>
                <a:gd name="connsiteY7" fmla="*/ 27124 h 3252471"/>
                <a:gd name="connsiteX8" fmla="*/ 27130 w 3482977"/>
                <a:gd name="connsiteY8" fmla="*/ 0 h 3252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82977" h="3252471">
                  <a:moveTo>
                    <a:pt x="27130" y="0"/>
                  </a:moveTo>
                  <a:lnTo>
                    <a:pt x="3455851" y="1"/>
                  </a:lnTo>
                  <a:cubicBezTo>
                    <a:pt x="3470831" y="3"/>
                    <a:pt x="3482976" y="12150"/>
                    <a:pt x="3482977" y="27131"/>
                  </a:cubicBezTo>
                  <a:lnTo>
                    <a:pt x="3482974" y="3225345"/>
                  </a:lnTo>
                  <a:cubicBezTo>
                    <a:pt x="3482976" y="3240325"/>
                    <a:pt x="3470835" y="3252471"/>
                    <a:pt x="3455849" y="3252466"/>
                  </a:cubicBezTo>
                  <a:lnTo>
                    <a:pt x="27127" y="3252471"/>
                  </a:lnTo>
                  <a:cubicBezTo>
                    <a:pt x="12150" y="3252469"/>
                    <a:pt x="3" y="3240325"/>
                    <a:pt x="0" y="3225340"/>
                  </a:cubicBezTo>
                  <a:lnTo>
                    <a:pt x="3" y="27124"/>
                  </a:lnTo>
                  <a:cubicBezTo>
                    <a:pt x="3" y="12144"/>
                    <a:pt x="12149" y="3"/>
                    <a:pt x="27130" y="0"/>
                  </a:cubicBezTo>
                  <a:close/>
                </a:path>
              </a:pathLst>
            </a:custGeom>
            <a:blipFill dpi="0" rotWithShape="0">
              <a:blip r:embed="rId12"/>
              <a:srcRect/>
              <a:stretch>
                <a:fillRect l="-50000" t="-16000" r="-157000" b="-9400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gency FB" panose="020B0503020202020204"/>
                <a:ea typeface="微软雅黑" panose="020B0503020204020204" pitchFamily="34" charset="-122"/>
                <a:cs typeface="+mn-cs"/>
              </a:endParaRPr>
            </a:p>
          </p:txBody>
        </p:sp>
        <p:sp>
          <p:nvSpPr>
            <p:cNvPr id="10" name="PA-圆角矩形 4">
              <a:extLst>
                <a:ext uri="{FF2B5EF4-FFF2-40B4-BE49-F238E27FC236}">
                  <a16:creationId xmlns:a16="http://schemas.microsoft.com/office/drawing/2014/main" id="{14F2CFE5-B082-A14F-BD22-7AC9D4BD60FF}"/>
                </a:ext>
              </a:extLst>
            </p:cNvPr>
            <p:cNvSpPr/>
            <p:nvPr>
              <p:custDataLst>
                <p:tags r:id="rId5"/>
              </p:custDataLst>
            </p:nvPr>
          </p:nvSpPr>
          <p:spPr>
            <a:xfrm>
              <a:off x="5580773" y="2819510"/>
              <a:ext cx="1319298" cy="1232210"/>
            </a:xfrm>
            <a:custGeom>
              <a:avLst/>
              <a:gdLst>
                <a:gd name="connsiteX0" fmla="*/ 15519 w 1991369"/>
                <a:gd name="connsiteY0" fmla="*/ 0 h 1859916"/>
                <a:gd name="connsiteX1" fmla="*/ 1975850 w 1991369"/>
                <a:gd name="connsiteY1" fmla="*/ 1 h 1859916"/>
                <a:gd name="connsiteX2" fmla="*/ 1991369 w 1991369"/>
                <a:gd name="connsiteY2" fmla="*/ 15512 h 1859916"/>
                <a:gd name="connsiteX3" fmla="*/ 1991363 w 1991369"/>
                <a:gd name="connsiteY3" fmla="*/ 1844408 h 1859916"/>
                <a:gd name="connsiteX4" fmla="*/ 1975849 w 1991369"/>
                <a:gd name="connsiteY4" fmla="*/ 1859916 h 1859916"/>
                <a:gd name="connsiteX5" fmla="*/ 15513 w 1991369"/>
                <a:gd name="connsiteY5" fmla="*/ 1859912 h 1859916"/>
                <a:gd name="connsiteX6" fmla="*/ 0 w 1991369"/>
                <a:gd name="connsiteY6" fmla="*/ 1844405 h 1859916"/>
                <a:gd name="connsiteX7" fmla="*/ 2 w 1991369"/>
                <a:gd name="connsiteY7" fmla="*/ 15514 h 1859916"/>
                <a:gd name="connsiteX8" fmla="*/ 15519 w 1991369"/>
                <a:gd name="connsiteY8" fmla="*/ 0 h 1859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91369" h="1859916">
                  <a:moveTo>
                    <a:pt x="15519" y="0"/>
                  </a:moveTo>
                  <a:lnTo>
                    <a:pt x="1975850" y="1"/>
                  </a:lnTo>
                  <a:cubicBezTo>
                    <a:pt x="1984419" y="2"/>
                    <a:pt x="1991366" y="6947"/>
                    <a:pt x="1991369" y="15512"/>
                  </a:cubicBezTo>
                  <a:lnTo>
                    <a:pt x="1991363" y="1844408"/>
                  </a:lnTo>
                  <a:cubicBezTo>
                    <a:pt x="1991360" y="1852968"/>
                    <a:pt x="1984418" y="1859918"/>
                    <a:pt x="1975849" y="1859916"/>
                  </a:cubicBezTo>
                  <a:lnTo>
                    <a:pt x="15513" y="1859912"/>
                  </a:lnTo>
                  <a:cubicBezTo>
                    <a:pt x="6949" y="1859915"/>
                    <a:pt x="5" y="1852973"/>
                    <a:pt x="0" y="1844405"/>
                  </a:cubicBezTo>
                  <a:lnTo>
                    <a:pt x="2" y="15514"/>
                  </a:lnTo>
                  <a:cubicBezTo>
                    <a:pt x="2" y="6947"/>
                    <a:pt x="6948" y="1"/>
                    <a:pt x="15519" y="0"/>
                  </a:cubicBezTo>
                  <a:close/>
                </a:path>
              </a:pathLst>
            </a:custGeom>
            <a:blipFill dpi="0" rotWithShape="0">
              <a:blip r:embed="rId12"/>
              <a:srcRect/>
              <a:stretch>
                <a:fillRect l="-163000" t="-206000" r="-275000" b="-6000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gency FB" panose="020B0503020202020204"/>
                <a:ea typeface="微软雅黑" panose="020B0503020204020204" pitchFamily="34" charset="-122"/>
                <a:cs typeface="+mn-cs"/>
              </a:endParaRPr>
            </a:p>
          </p:txBody>
        </p:sp>
        <p:sp>
          <p:nvSpPr>
            <p:cNvPr id="11" name="PA-圆角矩形 5">
              <a:extLst>
                <a:ext uri="{FF2B5EF4-FFF2-40B4-BE49-F238E27FC236}">
                  <a16:creationId xmlns:a16="http://schemas.microsoft.com/office/drawing/2014/main" id="{6B789D98-FC9E-5946-888D-21927A9BBC30}"/>
                </a:ext>
              </a:extLst>
            </p:cNvPr>
            <p:cNvSpPr/>
            <p:nvPr>
              <p:custDataLst>
                <p:tags r:id="rId6"/>
              </p:custDataLst>
            </p:nvPr>
          </p:nvSpPr>
          <p:spPr>
            <a:xfrm>
              <a:off x="5016640" y="4110623"/>
              <a:ext cx="1883440" cy="97181"/>
            </a:xfrm>
            <a:custGeom>
              <a:avLst/>
              <a:gdLst>
                <a:gd name="connsiteX0" fmla="*/ 1227 w 2842894"/>
                <a:gd name="connsiteY0" fmla="*/ 0 h 146687"/>
                <a:gd name="connsiteX1" fmla="*/ 2841671 w 2842894"/>
                <a:gd name="connsiteY1" fmla="*/ 2 h 146687"/>
                <a:gd name="connsiteX2" fmla="*/ 2842894 w 2842894"/>
                <a:gd name="connsiteY2" fmla="*/ 1228 h 146687"/>
                <a:gd name="connsiteX3" fmla="*/ 2842893 w 2842894"/>
                <a:gd name="connsiteY3" fmla="*/ 145462 h 146687"/>
                <a:gd name="connsiteX4" fmla="*/ 2841676 w 2842894"/>
                <a:gd name="connsiteY4" fmla="*/ 146685 h 146687"/>
                <a:gd name="connsiteX5" fmla="*/ 1224 w 2842894"/>
                <a:gd name="connsiteY5" fmla="*/ 146687 h 146687"/>
                <a:gd name="connsiteX6" fmla="*/ 1 w 2842894"/>
                <a:gd name="connsiteY6" fmla="*/ 145463 h 146687"/>
                <a:gd name="connsiteX7" fmla="*/ 0 w 2842894"/>
                <a:gd name="connsiteY7" fmla="*/ 1228 h 146687"/>
                <a:gd name="connsiteX8" fmla="*/ 1227 w 2842894"/>
                <a:gd name="connsiteY8" fmla="*/ 0 h 146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42894" h="146687">
                  <a:moveTo>
                    <a:pt x="1227" y="0"/>
                  </a:moveTo>
                  <a:lnTo>
                    <a:pt x="2841671" y="2"/>
                  </a:lnTo>
                  <a:cubicBezTo>
                    <a:pt x="2842347" y="0"/>
                    <a:pt x="2842894" y="547"/>
                    <a:pt x="2842894" y="1228"/>
                  </a:cubicBezTo>
                  <a:lnTo>
                    <a:pt x="2842893" y="145462"/>
                  </a:lnTo>
                  <a:cubicBezTo>
                    <a:pt x="2842898" y="146137"/>
                    <a:pt x="2842347" y="146687"/>
                    <a:pt x="2841676" y="146685"/>
                  </a:cubicBezTo>
                  <a:lnTo>
                    <a:pt x="1224" y="146687"/>
                  </a:lnTo>
                  <a:cubicBezTo>
                    <a:pt x="546" y="146689"/>
                    <a:pt x="-1" y="146139"/>
                    <a:pt x="1" y="145463"/>
                  </a:cubicBezTo>
                  <a:lnTo>
                    <a:pt x="0" y="1228"/>
                  </a:lnTo>
                  <a:cubicBezTo>
                    <a:pt x="1" y="549"/>
                    <a:pt x="549" y="2"/>
                    <a:pt x="1227" y="0"/>
                  </a:cubicBezTo>
                  <a:close/>
                </a:path>
              </a:pathLst>
            </a:custGeom>
            <a:blipFill dpi="0" rotWithShape="0">
              <a:blip r:embed="rId12"/>
              <a:srcRect/>
              <a:stretch>
                <a:fillRect l="-84000" t="-3939000" r="-192000" b="-60000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gency FB" panose="020B0503020202020204"/>
                <a:ea typeface="微软雅黑" panose="020B0503020204020204" pitchFamily="34" charset="-122"/>
                <a:cs typeface="+mn-cs"/>
              </a:endParaRPr>
            </a:p>
          </p:txBody>
        </p:sp>
        <p:sp>
          <p:nvSpPr>
            <p:cNvPr id="12" name="PA-圆角矩形 6">
              <a:extLst>
                <a:ext uri="{FF2B5EF4-FFF2-40B4-BE49-F238E27FC236}">
                  <a16:creationId xmlns:a16="http://schemas.microsoft.com/office/drawing/2014/main" id="{2BF2ED52-61FA-3E4D-B9DA-72AEADA9EF71}"/>
                </a:ext>
              </a:extLst>
            </p:cNvPr>
            <p:cNvSpPr/>
            <p:nvPr>
              <p:custDataLst>
                <p:tags r:id="rId7"/>
              </p:custDataLst>
            </p:nvPr>
          </p:nvSpPr>
          <p:spPr>
            <a:xfrm>
              <a:off x="6950957" y="2301643"/>
              <a:ext cx="2055508" cy="2154787"/>
            </a:xfrm>
            <a:custGeom>
              <a:avLst/>
              <a:gdLst>
                <a:gd name="connsiteX0" fmla="*/ 25880 w 3102615"/>
                <a:gd name="connsiteY0" fmla="*/ 0 h 3252468"/>
                <a:gd name="connsiteX1" fmla="*/ 3076734 w 3102615"/>
                <a:gd name="connsiteY1" fmla="*/ 1 h 3252468"/>
                <a:gd name="connsiteX2" fmla="*/ 3102615 w 3102615"/>
                <a:gd name="connsiteY2" fmla="*/ 25877 h 3252468"/>
                <a:gd name="connsiteX3" fmla="*/ 3102612 w 3102615"/>
                <a:gd name="connsiteY3" fmla="*/ 3226589 h 3252468"/>
                <a:gd name="connsiteX4" fmla="*/ 3076735 w 3102615"/>
                <a:gd name="connsiteY4" fmla="*/ 3252466 h 3252468"/>
                <a:gd name="connsiteX5" fmla="*/ 25877 w 3102615"/>
                <a:gd name="connsiteY5" fmla="*/ 3252468 h 3252468"/>
                <a:gd name="connsiteX6" fmla="*/ 0 w 3102615"/>
                <a:gd name="connsiteY6" fmla="*/ 3226594 h 3252468"/>
                <a:gd name="connsiteX7" fmla="*/ 6 w 3102615"/>
                <a:gd name="connsiteY7" fmla="*/ 25876 h 3252468"/>
                <a:gd name="connsiteX8" fmla="*/ 25880 w 3102615"/>
                <a:gd name="connsiteY8" fmla="*/ 0 h 3252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02615" h="3252468">
                  <a:moveTo>
                    <a:pt x="25880" y="0"/>
                  </a:moveTo>
                  <a:lnTo>
                    <a:pt x="3076734" y="1"/>
                  </a:lnTo>
                  <a:cubicBezTo>
                    <a:pt x="3091027" y="5"/>
                    <a:pt x="3102613" y="11585"/>
                    <a:pt x="3102615" y="25877"/>
                  </a:cubicBezTo>
                  <a:lnTo>
                    <a:pt x="3102612" y="3226589"/>
                  </a:lnTo>
                  <a:cubicBezTo>
                    <a:pt x="3102617" y="3240882"/>
                    <a:pt x="3091027" y="3252464"/>
                    <a:pt x="3076735" y="3252466"/>
                  </a:cubicBezTo>
                  <a:lnTo>
                    <a:pt x="25877" y="3252468"/>
                  </a:lnTo>
                  <a:cubicBezTo>
                    <a:pt x="11588" y="3252465"/>
                    <a:pt x="4" y="3240881"/>
                    <a:pt x="0" y="3226594"/>
                  </a:cubicBezTo>
                  <a:lnTo>
                    <a:pt x="6" y="25876"/>
                  </a:lnTo>
                  <a:cubicBezTo>
                    <a:pt x="6" y="11586"/>
                    <a:pt x="11588" y="0"/>
                    <a:pt x="25880" y="0"/>
                  </a:cubicBezTo>
                  <a:close/>
                </a:path>
              </a:pathLst>
            </a:custGeom>
            <a:blipFill dpi="0" rotWithShape="0">
              <a:blip r:embed="rId12"/>
              <a:srcRect/>
              <a:stretch>
                <a:fillRect l="-171000" t="-94000" r="-74000" b="-1600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gency FB" panose="020B0503020202020204"/>
                <a:ea typeface="微软雅黑" panose="020B0503020204020204" pitchFamily="34" charset="-122"/>
                <a:cs typeface="+mn-cs"/>
              </a:endParaRPr>
            </a:p>
          </p:txBody>
        </p:sp>
        <p:sp>
          <p:nvSpPr>
            <p:cNvPr id="13" name="PA-圆角矩形 10">
              <a:extLst>
                <a:ext uri="{FF2B5EF4-FFF2-40B4-BE49-F238E27FC236}">
                  <a16:creationId xmlns:a16="http://schemas.microsoft.com/office/drawing/2014/main" id="{0CCEEFA0-325D-114E-8FF0-EB1EEFC4C2DB}"/>
                </a:ext>
              </a:extLst>
            </p:cNvPr>
            <p:cNvSpPr/>
            <p:nvPr>
              <p:custDataLst>
                <p:tags r:id="rId8"/>
              </p:custDataLst>
            </p:nvPr>
          </p:nvSpPr>
          <p:spPr>
            <a:xfrm>
              <a:off x="9417062" y="1260028"/>
              <a:ext cx="68997" cy="758090"/>
            </a:xfrm>
            <a:custGeom>
              <a:avLst/>
              <a:gdLst>
                <a:gd name="connsiteX0" fmla="*/ 867 w 104145"/>
                <a:gd name="connsiteY0" fmla="*/ 1 h 1144272"/>
                <a:gd name="connsiteX1" fmla="*/ 103272 w 104145"/>
                <a:gd name="connsiteY1" fmla="*/ 1 h 1144272"/>
                <a:gd name="connsiteX2" fmla="*/ 104142 w 104145"/>
                <a:gd name="connsiteY2" fmla="*/ 867 h 1144272"/>
                <a:gd name="connsiteX3" fmla="*/ 104145 w 104145"/>
                <a:gd name="connsiteY3" fmla="*/ 1143398 h 1144272"/>
                <a:gd name="connsiteX4" fmla="*/ 103271 w 104145"/>
                <a:gd name="connsiteY4" fmla="*/ 1144272 h 1144272"/>
                <a:gd name="connsiteX5" fmla="*/ 874 w 104145"/>
                <a:gd name="connsiteY5" fmla="*/ 1144268 h 1144272"/>
                <a:gd name="connsiteX6" fmla="*/ 0 w 104145"/>
                <a:gd name="connsiteY6" fmla="*/ 1143396 h 1144272"/>
                <a:gd name="connsiteX7" fmla="*/ 3 w 104145"/>
                <a:gd name="connsiteY7" fmla="*/ 863 h 1144272"/>
                <a:gd name="connsiteX8" fmla="*/ 867 w 104145"/>
                <a:gd name="connsiteY8" fmla="*/ 1 h 1144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145" h="1144272">
                  <a:moveTo>
                    <a:pt x="867" y="1"/>
                  </a:moveTo>
                  <a:lnTo>
                    <a:pt x="103272" y="1"/>
                  </a:lnTo>
                  <a:cubicBezTo>
                    <a:pt x="103754" y="-1"/>
                    <a:pt x="104138" y="385"/>
                    <a:pt x="104142" y="867"/>
                  </a:cubicBezTo>
                  <a:lnTo>
                    <a:pt x="104145" y="1143398"/>
                  </a:lnTo>
                  <a:cubicBezTo>
                    <a:pt x="104140" y="1143877"/>
                    <a:pt x="103750" y="1144266"/>
                    <a:pt x="103271" y="1144272"/>
                  </a:cubicBezTo>
                  <a:lnTo>
                    <a:pt x="874" y="1144268"/>
                  </a:lnTo>
                  <a:cubicBezTo>
                    <a:pt x="390" y="1144268"/>
                    <a:pt x="0" y="1143879"/>
                    <a:pt x="0" y="1143396"/>
                  </a:cubicBezTo>
                  <a:lnTo>
                    <a:pt x="3" y="863"/>
                  </a:lnTo>
                  <a:cubicBezTo>
                    <a:pt x="3" y="389"/>
                    <a:pt x="391" y="-6"/>
                    <a:pt x="867" y="1"/>
                  </a:cubicBezTo>
                  <a:close/>
                </a:path>
              </a:pathLst>
            </a:custGeom>
            <a:blipFill dpi="0" rotWithShape="0">
              <a:blip r:embed="rId12"/>
              <a:srcRect/>
              <a:stretch>
                <a:fillRect l="-8680000" t="-129000" r="-1502000" b="-36600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gency FB" panose="020B0503020202020204"/>
                <a:ea typeface="微软雅黑" panose="020B0503020204020204" pitchFamily="34" charset="-122"/>
                <a:cs typeface="+mn-cs"/>
              </a:endParaRPr>
            </a:p>
          </p:txBody>
        </p:sp>
        <p:sp>
          <p:nvSpPr>
            <p:cNvPr id="14" name="PA-圆角矩形 11">
              <a:extLst>
                <a:ext uri="{FF2B5EF4-FFF2-40B4-BE49-F238E27FC236}">
                  <a16:creationId xmlns:a16="http://schemas.microsoft.com/office/drawing/2014/main" id="{3C6985B4-2D58-9441-BD42-04A14C089A20}"/>
                </a:ext>
              </a:extLst>
            </p:cNvPr>
            <p:cNvSpPr/>
            <p:nvPr>
              <p:custDataLst>
                <p:tags r:id="rId9"/>
              </p:custDataLst>
            </p:nvPr>
          </p:nvSpPr>
          <p:spPr>
            <a:xfrm>
              <a:off x="9057363" y="2817848"/>
              <a:ext cx="90036" cy="1275541"/>
            </a:xfrm>
            <a:custGeom>
              <a:avLst/>
              <a:gdLst>
                <a:gd name="connsiteX0" fmla="*/ 1136 w 135901"/>
                <a:gd name="connsiteY0" fmla="*/ 0 h 1925321"/>
                <a:gd name="connsiteX1" fmla="*/ 134759 w 135901"/>
                <a:gd name="connsiteY1" fmla="*/ 5 h 1925321"/>
                <a:gd name="connsiteX2" fmla="*/ 135895 w 135901"/>
                <a:gd name="connsiteY2" fmla="*/ 1135 h 1925321"/>
                <a:gd name="connsiteX3" fmla="*/ 135901 w 135901"/>
                <a:gd name="connsiteY3" fmla="*/ 1924188 h 1925321"/>
                <a:gd name="connsiteX4" fmla="*/ 134763 w 135901"/>
                <a:gd name="connsiteY4" fmla="*/ 1925321 h 1925321"/>
                <a:gd name="connsiteX5" fmla="*/ 1139 w 135901"/>
                <a:gd name="connsiteY5" fmla="*/ 1925321 h 1925321"/>
                <a:gd name="connsiteX6" fmla="*/ 0 w 135901"/>
                <a:gd name="connsiteY6" fmla="*/ 1924190 h 1925321"/>
                <a:gd name="connsiteX7" fmla="*/ 3 w 135901"/>
                <a:gd name="connsiteY7" fmla="*/ 1135 h 1925321"/>
                <a:gd name="connsiteX8" fmla="*/ 1136 w 135901"/>
                <a:gd name="connsiteY8" fmla="*/ 0 h 1925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5901" h="1925321">
                  <a:moveTo>
                    <a:pt x="1136" y="0"/>
                  </a:moveTo>
                  <a:lnTo>
                    <a:pt x="134759" y="5"/>
                  </a:lnTo>
                  <a:cubicBezTo>
                    <a:pt x="135388" y="-1"/>
                    <a:pt x="135894" y="512"/>
                    <a:pt x="135895" y="1135"/>
                  </a:cubicBezTo>
                  <a:lnTo>
                    <a:pt x="135901" y="1924188"/>
                  </a:lnTo>
                  <a:cubicBezTo>
                    <a:pt x="135893" y="1924813"/>
                    <a:pt x="135388" y="1925322"/>
                    <a:pt x="134763" y="1925321"/>
                  </a:cubicBezTo>
                  <a:lnTo>
                    <a:pt x="1139" y="1925321"/>
                  </a:lnTo>
                  <a:cubicBezTo>
                    <a:pt x="507" y="1925327"/>
                    <a:pt x="15" y="1924815"/>
                    <a:pt x="0" y="1924190"/>
                  </a:cubicBezTo>
                  <a:lnTo>
                    <a:pt x="3" y="1135"/>
                  </a:lnTo>
                  <a:cubicBezTo>
                    <a:pt x="1" y="506"/>
                    <a:pt x="512" y="2"/>
                    <a:pt x="1136" y="0"/>
                  </a:cubicBezTo>
                  <a:close/>
                </a:path>
              </a:pathLst>
            </a:custGeom>
            <a:blipFill dpi="0" rotWithShape="0">
              <a:blip r:embed="rId12"/>
              <a:srcRect/>
              <a:stretch>
                <a:fillRect l="-6252000" t="-199000" r="-1527000" b="-5500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gency FB" panose="020B0503020202020204"/>
                <a:ea typeface="微软雅黑" panose="020B0503020204020204" pitchFamily="34" charset="-122"/>
                <a:cs typeface="+mn-cs"/>
              </a:endParaRPr>
            </a:p>
          </p:txBody>
        </p:sp>
        <p:sp>
          <p:nvSpPr>
            <p:cNvPr id="15" name="PA-圆角矩形 12">
              <a:extLst>
                <a:ext uri="{FF2B5EF4-FFF2-40B4-BE49-F238E27FC236}">
                  <a16:creationId xmlns:a16="http://schemas.microsoft.com/office/drawing/2014/main" id="{8DB88DD0-E08F-F649-B986-7FB0F2B6CD70}"/>
                </a:ext>
              </a:extLst>
            </p:cNvPr>
            <p:cNvSpPr/>
            <p:nvPr>
              <p:custDataLst>
                <p:tags r:id="rId10"/>
              </p:custDataLst>
            </p:nvPr>
          </p:nvSpPr>
          <p:spPr>
            <a:xfrm>
              <a:off x="4464256" y="1148120"/>
              <a:ext cx="77407" cy="1623874"/>
            </a:xfrm>
            <a:custGeom>
              <a:avLst/>
              <a:gdLst>
                <a:gd name="connsiteX0" fmla="*/ 974 w 116840"/>
                <a:gd name="connsiteY0" fmla="*/ 0 h 2451101"/>
                <a:gd name="connsiteX1" fmla="*/ 115870 w 116840"/>
                <a:gd name="connsiteY1" fmla="*/ 4 h 2451101"/>
                <a:gd name="connsiteX2" fmla="*/ 116840 w 116840"/>
                <a:gd name="connsiteY2" fmla="*/ 980 h 2451101"/>
                <a:gd name="connsiteX3" fmla="*/ 116838 w 116840"/>
                <a:gd name="connsiteY3" fmla="*/ 2450124 h 2451101"/>
                <a:gd name="connsiteX4" fmla="*/ 115867 w 116840"/>
                <a:gd name="connsiteY4" fmla="*/ 2451101 h 2451101"/>
                <a:gd name="connsiteX5" fmla="*/ 972 w 116840"/>
                <a:gd name="connsiteY5" fmla="*/ 2451101 h 2451101"/>
                <a:gd name="connsiteX6" fmla="*/ 4 w 116840"/>
                <a:gd name="connsiteY6" fmla="*/ 2450130 h 2451101"/>
                <a:gd name="connsiteX7" fmla="*/ 1 w 116840"/>
                <a:gd name="connsiteY7" fmla="*/ 977 h 2451101"/>
                <a:gd name="connsiteX8" fmla="*/ 974 w 116840"/>
                <a:gd name="connsiteY8" fmla="*/ 0 h 2451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840" h="2451101">
                  <a:moveTo>
                    <a:pt x="974" y="0"/>
                  </a:moveTo>
                  <a:lnTo>
                    <a:pt x="115870" y="4"/>
                  </a:lnTo>
                  <a:cubicBezTo>
                    <a:pt x="116402" y="1"/>
                    <a:pt x="116842" y="440"/>
                    <a:pt x="116840" y="980"/>
                  </a:cubicBezTo>
                  <a:lnTo>
                    <a:pt x="116838" y="2450124"/>
                  </a:lnTo>
                  <a:cubicBezTo>
                    <a:pt x="116841" y="2450663"/>
                    <a:pt x="116402" y="2451106"/>
                    <a:pt x="115867" y="2451101"/>
                  </a:cubicBezTo>
                  <a:lnTo>
                    <a:pt x="972" y="2451101"/>
                  </a:lnTo>
                  <a:cubicBezTo>
                    <a:pt x="433" y="2451105"/>
                    <a:pt x="-4" y="2450666"/>
                    <a:pt x="4" y="2450130"/>
                  </a:cubicBezTo>
                  <a:lnTo>
                    <a:pt x="1" y="977"/>
                  </a:lnTo>
                  <a:cubicBezTo>
                    <a:pt x="-2" y="440"/>
                    <a:pt x="434" y="2"/>
                    <a:pt x="974" y="0"/>
                  </a:cubicBezTo>
                  <a:close/>
                </a:path>
              </a:pathLst>
            </a:custGeom>
            <a:blipFill dpi="0" rotWithShape="0">
              <a:blip r:embed="rId12"/>
              <a:srcRect/>
              <a:stretch>
                <a:fillRect l="-1339000" t="-53000" r="-7726000" b="-12400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gency FB" panose="020B0503020202020204"/>
                <a:ea typeface="微软雅黑" panose="020B0503020204020204" pitchFamily="34" charset="-122"/>
                <a:cs typeface="+mn-cs"/>
              </a:endParaRPr>
            </a:p>
          </p:txBody>
        </p:sp>
      </p:grpSp>
      <p:sp>
        <p:nvSpPr>
          <p:cNvPr id="16" name="文本框 15">
            <a:extLst>
              <a:ext uri="{FF2B5EF4-FFF2-40B4-BE49-F238E27FC236}">
                <a16:creationId xmlns:a16="http://schemas.microsoft.com/office/drawing/2014/main" id="{016137FF-2BF3-0042-AB48-9F5EE6EFADBD}"/>
              </a:ext>
            </a:extLst>
          </p:cNvPr>
          <p:cNvSpPr txBox="1"/>
          <p:nvPr/>
        </p:nvSpPr>
        <p:spPr>
          <a:xfrm>
            <a:off x="128737" y="3790513"/>
            <a:ext cx="6065089" cy="787460"/>
          </a:xfrm>
          <a:prstGeom prst="rect">
            <a:avLst/>
          </a:prstGeom>
          <a:noFill/>
        </p:spPr>
        <p:txBody>
          <a:bodyPr wrap="square">
            <a:spAutoFit/>
          </a:bodyPr>
          <a:lstStyle/>
          <a:p>
            <a:pPr algn="ctr">
              <a:lnSpc>
                <a:spcPct val="150000"/>
              </a:lnSpc>
              <a:defRPr/>
            </a:pPr>
            <a:r>
              <a:rPr kumimoji="1" lang="zh-CN" altLang="en-US" sz="1600" dirty="0">
                <a:solidFill>
                  <a:schemeClr val="bg1"/>
                </a:solidFill>
                <a:latin typeface="微软雅黑" panose="020B0503020204020204" charset="-122"/>
                <a:ea typeface="微软雅黑" panose="020B0503020204020204" charset="-122"/>
                <a:cs typeface="Times New Roman" panose="02020603050405020304" charset="0"/>
              </a:rPr>
              <a:t>朱霖潮</a:t>
            </a:r>
            <a:endParaRPr kumimoji="1" lang="en-US" altLang="zh-CN" sz="1600" dirty="0">
              <a:solidFill>
                <a:schemeClr val="bg1"/>
              </a:solidFill>
              <a:latin typeface="微软雅黑" panose="020B0503020204020204" charset="-122"/>
              <a:ea typeface="微软雅黑" panose="020B0503020204020204" charset="-122"/>
              <a:cs typeface="Times New Roman" panose="02020603050405020304" charset="0"/>
            </a:endParaRPr>
          </a:p>
          <a:p>
            <a:pPr algn="ctr">
              <a:lnSpc>
                <a:spcPct val="150000"/>
              </a:lnSpc>
              <a:defRPr/>
            </a:pPr>
            <a:r>
              <a:rPr kumimoji="1" lang="zh-CN" altLang="zh-CN" sz="1600" dirty="0">
                <a:solidFill>
                  <a:schemeClr val="bg1"/>
                </a:solidFill>
                <a:latin typeface="微软雅黑" panose="020B0503020204020204" charset="-122"/>
                <a:ea typeface="微软雅黑" panose="020B0503020204020204" charset="-122"/>
                <a:cs typeface="Times New Roman" panose="02020603050405020304" charset="0"/>
              </a:rPr>
              <a:t>计算机</a:t>
            </a:r>
            <a:r>
              <a:rPr kumimoji="1" lang="zh-CN" altLang="en-US" sz="1600" dirty="0">
                <a:solidFill>
                  <a:schemeClr val="bg1"/>
                </a:solidFill>
                <a:latin typeface="微软雅黑" panose="020B0503020204020204" charset="-122"/>
                <a:ea typeface="微软雅黑" panose="020B0503020204020204" charset="-122"/>
                <a:cs typeface="Times New Roman" panose="02020603050405020304" charset="0"/>
              </a:rPr>
              <a:t>科学与技术</a:t>
            </a:r>
            <a:r>
              <a:rPr kumimoji="1" lang="zh-CN" altLang="zh-CN" sz="1600" dirty="0">
                <a:solidFill>
                  <a:schemeClr val="bg1"/>
                </a:solidFill>
                <a:latin typeface="微软雅黑" panose="020B0503020204020204" charset="-122"/>
                <a:ea typeface="微软雅黑" panose="020B0503020204020204" charset="-122"/>
                <a:cs typeface="Times New Roman" panose="02020603050405020304" charset="0"/>
              </a:rPr>
              <a:t>学院</a:t>
            </a:r>
            <a:endParaRPr kumimoji="1" lang="en-US" altLang="zh-CN" sz="1600" dirty="0">
              <a:solidFill>
                <a:schemeClr val="bg1"/>
              </a:solidFill>
              <a:latin typeface="微软雅黑" panose="020B0503020204020204" charset="-122"/>
              <a:ea typeface="微软雅黑" panose="020B0503020204020204" charset="-122"/>
              <a:cs typeface="Times New Roman" panose="02020603050405020304" charset="0"/>
            </a:endParaRPr>
          </a:p>
        </p:txBody>
      </p:sp>
    </p:spTree>
    <p:extLst>
      <p:ext uri="{BB962C8B-B14F-4D97-AF65-F5344CB8AC3E}">
        <p14:creationId xmlns:p14="http://schemas.microsoft.com/office/powerpoint/2010/main" val="2665483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C02C7AE-B473-BC1B-B982-ECAF6CC4C4D4}"/>
              </a:ext>
            </a:extLst>
          </p:cNvPr>
          <p:cNvPicPr>
            <a:picLocks noChangeAspect="1"/>
          </p:cNvPicPr>
          <p:nvPr/>
        </p:nvPicPr>
        <p:blipFill>
          <a:blip r:embed="rId2"/>
          <a:stretch>
            <a:fillRect/>
          </a:stretch>
        </p:blipFill>
        <p:spPr>
          <a:xfrm>
            <a:off x="4800157" y="1734743"/>
            <a:ext cx="6725427" cy="3388514"/>
          </a:xfrm>
          <a:prstGeom prst="rect">
            <a:avLst/>
          </a:prstGeom>
        </p:spPr>
      </p:pic>
      <p:sp>
        <p:nvSpPr>
          <p:cNvPr id="2" name="标题 1">
            <a:extLst>
              <a:ext uri="{FF2B5EF4-FFF2-40B4-BE49-F238E27FC236}">
                <a16:creationId xmlns:a16="http://schemas.microsoft.com/office/drawing/2014/main" id="{8166BD27-BEF1-DF42-8647-5D0C3EA955D6}"/>
              </a:ext>
            </a:extLst>
          </p:cNvPr>
          <p:cNvSpPr>
            <a:spLocks noGrp="1"/>
          </p:cNvSpPr>
          <p:nvPr>
            <p:ph type="title"/>
          </p:nvPr>
        </p:nvSpPr>
        <p:spPr/>
        <p:txBody>
          <a:bodyPr/>
          <a:lstStyle/>
          <a:p>
            <a:r>
              <a:rPr kumimoji="1" lang="zh-CN" altLang="en-US" dirty="0"/>
              <a:t>提纲</a:t>
            </a:r>
          </a:p>
        </p:txBody>
      </p:sp>
      <p:sp>
        <p:nvSpPr>
          <p:cNvPr id="3" name="内容占位符 2">
            <a:extLst>
              <a:ext uri="{FF2B5EF4-FFF2-40B4-BE49-F238E27FC236}">
                <a16:creationId xmlns:a16="http://schemas.microsoft.com/office/drawing/2014/main" id="{A2D0DB05-8797-7647-B132-FFE2E7510516}"/>
              </a:ext>
            </a:extLst>
          </p:cNvPr>
          <p:cNvSpPr>
            <a:spLocks noGrp="1"/>
          </p:cNvSpPr>
          <p:nvPr>
            <p:ph idx="1"/>
          </p:nvPr>
        </p:nvSpPr>
        <p:spPr/>
        <p:txBody>
          <a:bodyPr/>
          <a:lstStyle/>
          <a:p>
            <a:r>
              <a:rPr kumimoji="1" lang="en-US" altLang="zh-CN" sz="2400" dirty="0"/>
              <a:t>3.1</a:t>
            </a:r>
            <a:r>
              <a:rPr kumimoji="1" lang="zh-CN" altLang="en-US" sz="2400" dirty="0"/>
              <a:t> 从手写数字识别说起</a:t>
            </a:r>
            <a:endParaRPr kumimoji="1" lang="en-US" altLang="zh-CN" sz="2400" dirty="0"/>
          </a:p>
          <a:p>
            <a:r>
              <a:rPr kumimoji="1" lang="en-US" altLang="zh-CN" sz="2400" dirty="0"/>
              <a:t>3.2 </a:t>
            </a:r>
            <a:r>
              <a:rPr kumimoji="1" lang="zh-CN" altLang="en-US" sz="2400" dirty="0"/>
              <a:t>基本环境搭建与配置</a:t>
            </a:r>
          </a:p>
          <a:p>
            <a:r>
              <a:rPr kumimoji="1" lang="en-US" altLang="zh-CN" sz="2400" dirty="0"/>
              <a:t>3.3 PYTHON</a:t>
            </a:r>
            <a:r>
              <a:rPr kumimoji="1" lang="zh-CN" altLang="en-US" sz="2400" dirty="0"/>
              <a:t>入门</a:t>
            </a:r>
          </a:p>
          <a:p>
            <a:r>
              <a:rPr kumimoji="1" lang="en-US" altLang="zh-CN" sz="2400" dirty="0"/>
              <a:t>3.4 AI</a:t>
            </a:r>
            <a:r>
              <a:rPr kumimoji="1" lang="zh-CN" altLang="en-US" sz="2400" dirty="0"/>
              <a:t>算法库和开发工具包</a:t>
            </a:r>
          </a:p>
          <a:p>
            <a:r>
              <a:rPr kumimoji="1" lang="en-US" altLang="zh-CN" sz="2400" dirty="0"/>
              <a:t>3.5</a:t>
            </a:r>
            <a:r>
              <a:rPr kumimoji="1" lang="zh-CN" altLang="en-US" sz="2400" dirty="0"/>
              <a:t>深度学习框架</a:t>
            </a:r>
          </a:p>
          <a:p>
            <a:endParaRPr kumimoji="1" lang="zh-CN" altLang="en-US" sz="2400" dirty="0"/>
          </a:p>
        </p:txBody>
      </p:sp>
      <p:sp>
        <p:nvSpPr>
          <p:cNvPr id="5" name="文本框 4">
            <a:extLst>
              <a:ext uri="{FF2B5EF4-FFF2-40B4-BE49-F238E27FC236}">
                <a16:creationId xmlns:a16="http://schemas.microsoft.com/office/drawing/2014/main" id="{0211E28A-4EA5-F641-BA32-4A365C3B657D}"/>
              </a:ext>
            </a:extLst>
          </p:cNvPr>
          <p:cNvSpPr txBox="1"/>
          <p:nvPr/>
        </p:nvSpPr>
        <p:spPr>
          <a:xfrm>
            <a:off x="4800157" y="2529989"/>
            <a:ext cx="1107996" cy="369332"/>
          </a:xfrm>
          <a:prstGeom prst="rect">
            <a:avLst/>
          </a:prstGeom>
          <a:solidFill>
            <a:srgbClr val="234C9F"/>
          </a:solidFill>
        </p:spPr>
        <p:txBody>
          <a:bodyPr wrap="none" rtlCol="0">
            <a:sp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知识图谱</a:t>
            </a:r>
          </a:p>
        </p:txBody>
      </p:sp>
    </p:spTree>
    <p:extLst>
      <p:ext uri="{BB962C8B-B14F-4D97-AF65-F5344CB8AC3E}">
        <p14:creationId xmlns:p14="http://schemas.microsoft.com/office/powerpoint/2010/main" val="32965332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FDA923-F3DF-B647-8815-3627BE1F7E90}"/>
              </a:ext>
            </a:extLst>
          </p:cNvPr>
          <p:cNvSpPr>
            <a:spLocks noGrp="1"/>
          </p:cNvSpPr>
          <p:nvPr>
            <p:ph type="title"/>
          </p:nvPr>
        </p:nvSpPr>
        <p:spPr/>
        <p:txBody>
          <a:bodyPr/>
          <a:lstStyle/>
          <a:p>
            <a:r>
              <a:rPr kumimoji="1" lang="zh-CN" altLang="en-US" dirty="0"/>
              <a:t>本章学习要点</a:t>
            </a:r>
          </a:p>
        </p:txBody>
      </p:sp>
      <p:sp>
        <p:nvSpPr>
          <p:cNvPr id="3" name="内容占位符 2">
            <a:extLst>
              <a:ext uri="{FF2B5EF4-FFF2-40B4-BE49-F238E27FC236}">
                <a16:creationId xmlns:a16="http://schemas.microsoft.com/office/drawing/2014/main" id="{24174231-E775-4C45-B76D-FE8EEB21C74C}"/>
              </a:ext>
            </a:extLst>
          </p:cNvPr>
          <p:cNvSpPr>
            <a:spLocks noGrp="1"/>
          </p:cNvSpPr>
          <p:nvPr>
            <p:ph idx="1"/>
          </p:nvPr>
        </p:nvSpPr>
        <p:spPr/>
        <p:txBody>
          <a:bodyPr/>
          <a:lstStyle/>
          <a:p>
            <a:r>
              <a:rPr kumimoji="1" lang="zh-CN" altLang="en-US" b="0" dirty="0"/>
              <a:t>能够熟练操作搭建</a:t>
            </a:r>
            <a:r>
              <a:rPr kumimoji="1" lang="en-US" altLang="zh-CN" b="0" dirty="0"/>
              <a:t>AI</a:t>
            </a:r>
            <a:r>
              <a:rPr kumimoji="1" lang="zh-CN" altLang="en-US" b="0" dirty="0"/>
              <a:t>开发环境</a:t>
            </a:r>
          </a:p>
          <a:p>
            <a:r>
              <a:rPr kumimoji="1" lang="zh-CN" altLang="en-US" b="0" dirty="0"/>
              <a:t>能够熟练使用</a:t>
            </a:r>
            <a:r>
              <a:rPr kumimoji="1" lang="en-US" altLang="zh-CN" b="0" dirty="0"/>
              <a:t>Python</a:t>
            </a:r>
            <a:r>
              <a:rPr kumimoji="1" lang="zh-CN" altLang="en-US" b="0" dirty="0"/>
              <a:t>语言编程</a:t>
            </a:r>
          </a:p>
          <a:p>
            <a:r>
              <a:rPr kumimoji="1" lang="zh-CN" altLang="en-US" b="0" dirty="0"/>
              <a:t>能够列举和使用常用人工智能算法库和包</a:t>
            </a:r>
          </a:p>
          <a:p>
            <a:r>
              <a:rPr kumimoji="1" lang="zh-CN" altLang="en-US" b="0" dirty="0"/>
              <a:t>能够列举和使用常用深度学习框架</a:t>
            </a:r>
          </a:p>
          <a:p>
            <a:endParaRPr kumimoji="1" lang="zh-CN" altLang="en-US" b="0" dirty="0"/>
          </a:p>
        </p:txBody>
      </p:sp>
    </p:spTree>
    <p:extLst>
      <p:ext uri="{BB962C8B-B14F-4D97-AF65-F5344CB8AC3E}">
        <p14:creationId xmlns:p14="http://schemas.microsoft.com/office/powerpoint/2010/main" val="409383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C02C7AE-B473-BC1B-B982-ECAF6CC4C4D4}"/>
              </a:ext>
            </a:extLst>
          </p:cNvPr>
          <p:cNvPicPr>
            <a:picLocks noChangeAspect="1"/>
          </p:cNvPicPr>
          <p:nvPr/>
        </p:nvPicPr>
        <p:blipFill>
          <a:blip r:embed="rId2"/>
          <a:stretch>
            <a:fillRect/>
          </a:stretch>
        </p:blipFill>
        <p:spPr>
          <a:xfrm>
            <a:off x="4800157" y="1734743"/>
            <a:ext cx="6725427" cy="3388514"/>
          </a:xfrm>
          <a:prstGeom prst="rect">
            <a:avLst/>
          </a:prstGeom>
        </p:spPr>
      </p:pic>
      <p:sp>
        <p:nvSpPr>
          <p:cNvPr id="2" name="标题 1">
            <a:extLst>
              <a:ext uri="{FF2B5EF4-FFF2-40B4-BE49-F238E27FC236}">
                <a16:creationId xmlns:a16="http://schemas.microsoft.com/office/drawing/2014/main" id="{8166BD27-BEF1-DF42-8647-5D0C3EA955D6}"/>
              </a:ext>
            </a:extLst>
          </p:cNvPr>
          <p:cNvSpPr>
            <a:spLocks noGrp="1"/>
          </p:cNvSpPr>
          <p:nvPr>
            <p:ph type="title"/>
          </p:nvPr>
        </p:nvSpPr>
        <p:spPr/>
        <p:txBody>
          <a:bodyPr/>
          <a:lstStyle/>
          <a:p>
            <a:r>
              <a:rPr kumimoji="1" lang="zh-CN" altLang="en-US" dirty="0"/>
              <a:t>提纲</a:t>
            </a:r>
          </a:p>
        </p:txBody>
      </p:sp>
      <p:sp>
        <p:nvSpPr>
          <p:cNvPr id="3" name="内容占位符 2">
            <a:extLst>
              <a:ext uri="{FF2B5EF4-FFF2-40B4-BE49-F238E27FC236}">
                <a16:creationId xmlns:a16="http://schemas.microsoft.com/office/drawing/2014/main" id="{A2D0DB05-8797-7647-B132-FFE2E7510516}"/>
              </a:ext>
            </a:extLst>
          </p:cNvPr>
          <p:cNvSpPr>
            <a:spLocks noGrp="1"/>
          </p:cNvSpPr>
          <p:nvPr>
            <p:ph idx="1"/>
          </p:nvPr>
        </p:nvSpPr>
        <p:spPr/>
        <p:txBody>
          <a:bodyPr/>
          <a:lstStyle/>
          <a:p>
            <a:r>
              <a:rPr kumimoji="1" lang="en-US" altLang="zh-CN" sz="2400" dirty="0"/>
              <a:t>3.1</a:t>
            </a:r>
            <a:r>
              <a:rPr kumimoji="1" lang="zh-CN" altLang="en-US" sz="2400" dirty="0"/>
              <a:t> 从手写数字识别说起</a:t>
            </a:r>
            <a:endParaRPr kumimoji="1" lang="en-US" altLang="zh-CN" sz="2400" dirty="0"/>
          </a:p>
          <a:p>
            <a:r>
              <a:rPr kumimoji="1" lang="en-US" altLang="zh-CN" sz="2400" dirty="0">
                <a:solidFill>
                  <a:schemeClr val="bg1">
                    <a:lumMod val="50000"/>
                  </a:schemeClr>
                </a:solidFill>
              </a:rPr>
              <a:t>3.2 </a:t>
            </a:r>
            <a:r>
              <a:rPr kumimoji="1" lang="zh-CN" altLang="en-US" sz="2400" dirty="0">
                <a:solidFill>
                  <a:schemeClr val="bg1">
                    <a:lumMod val="50000"/>
                  </a:schemeClr>
                </a:solidFill>
              </a:rPr>
              <a:t>基本环境搭建与配置</a:t>
            </a:r>
          </a:p>
          <a:p>
            <a:r>
              <a:rPr kumimoji="1" lang="en-US" altLang="zh-CN" sz="2400" dirty="0">
                <a:solidFill>
                  <a:schemeClr val="bg1">
                    <a:lumMod val="50000"/>
                  </a:schemeClr>
                </a:solidFill>
              </a:rPr>
              <a:t>3.3 PYTHON</a:t>
            </a:r>
            <a:r>
              <a:rPr kumimoji="1" lang="zh-CN" altLang="en-US" sz="2400" dirty="0">
                <a:solidFill>
                  <a:schemeClr val="bg1">
                    <a:lumMod val="50000"/>
                  </a:schemeClr>
                </a:solidFill>
              </a:rPr>
              <a:t>入门</a:t>
            </a:r>
          </a:p>
          <a:p>
            <a:r>
              <a:rPr kumimoji="1" lang="en-US" altLang="zh-CN" sz="2400" dirty="0">
                <a:solidFill>
                  <a:schemeClr val="bg1">
                    <a:lumMod val="50000"/>
                  </a:schemeClr>
                </a:solidFill>
              </a:rPr>
              <a:t>3.4 AI</a:t>
            </a:r>
            <a:r>
              <a:rPr kumimoji="1" lang="zh-CN" altLang="en-US" sz="2400" dirty="0">
                <a:solidFill>
                  <a:schemeClr val="bg1">
                    <a:lumMod val="50000"/>
                  </a:schemeClr>
                </a:solidFill>
              </a:rPr>
              <a:t>算法库和开发工具包</a:t>
            </a:r>
          </a:p>
          <a:p>
            <a:r>
              <a:rPr kumimoji="1" lang="en-US" altLang="zh-CN" sz="2400" dirty="0">
                <a:solidFill>
                  <a:schemeClr val="bg1">
                    <a:lumMod val="50000"/>
                  </a:schemeClr>
                </a:solidFill>
              </a:rPr>
              <a:t>3.5</a:t>
            </a:r>
            <a:r>
              <a:rPr kumimoji="1" lang="zh-CN" altLang="en-US" sz="2400" dirty="0">
                <a:solidFill>
                  <a:schemeClr val="bg1">
                    <a:lumMod val="50000"/>
                  </a:schemeClr>
                </a:solidFill>
              </a:rPr>
              <a:t>深度学习框架</a:t>
            </a:r>
          </a:p>
          <a:p>
            <a:endParaRPr kumimoji="1" lang="zh-CN" altLang="en-US" sz="2400" dirty="0"/>
          </a:p>
        </p:txBody>
      </p:sp>
      <p:sp>
        <p:nvSpPr>
          <p:cNvPr id="5" name="文本框 4">
            <a:extLst>
              <a:ext uri="{FF2B5EF4-FFF2-40B4-BE49-F238E27FC236}">
                <a16:creationId xmlns:a16="http://schemas.microsoft.com/office/drawing/2014/main" id="{0211E28A-4EA5-F641-BA32-4A365C3B657D}"/>
              </a:ext>
            </a:extLst>
          </p:cNvPr>
          <p:cNvSpPr txBox="1"/>
          <p:nvPr/>
        </p:nvSpPr>
        <p:spPr>
          <a:xfrm>
            <a:off x="4800157" y="2529989"/>
            <a:ext cx="1107996" cy="369332"/>
          </a:xfrm>
          <a:prstGeom prst="rect">
            <a:avLst/>
          </a:prstGeom>
          <a:solidFill>
            <a:srgbClr val="234C9F"/>
          </a:solidFill>
        </p:spPr>
        <p:txBody>
          <a:bodyPr wrap="none" rtlCol="0">
            <a:sp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知识图谱</a:t>
            </a:r>
          </a:p>
        </p:txBody>
      </p:sp>
    </p:spTree>
    <p:extLst>
      <p:ext uri="{BB962C8B-B14F-4D97-AF65-F5344CB8AC3E}">
        <p14:creationId xmlns:p14="http://schemas.microsoft.com/office/powerpoint/2010/main" val="2778274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a:t>
            </a:r>
            <a:r>
              <a:rPr lang="zh-CN" altLang="en-US" dirty="0"/>
              <a:t> </a:t>
            </a:r>
            <a:r>
              <a:rPr lang="en-US" altLang="zh-CN" dirty="0"/>
              <a:t>AI</a:t>
            </a:r>
            <a:r>
              <a:rPr lang="zh-CN" altLang="en-US" dirty="0"/>
              <a:t>基础回顾</a:t>
            </a:r>
            <a:r>
              <a:rPr lang="en-US" altLang="zh-CN" dirty="0"/>
              <a:t>——</a:t>
            </a:r>
            <a:r>
              <a:rPr lang="zh-CN" altLang="en-US" dirty="0"/>
              <a:t>什么是</a:t>
            </a:r>
            <a:r>
              <a:rPr lang="en-US" altLang="zh-CN" dirty="0"/>
              <a:t>AI</a:t>
            </a:r>
            <a:endParaRPr lang="zh-CN" altLang="en-US" dirty="0"/>
          </a:p>
        </p:txBody>
      </p:sp>
      <p:sp>
        <p:nvSpPr>
          <p:cNvPr id="7" name="内容占位符 6">
            <a:extLst>
              <a:ext uri="{FF2B5EF4-FFF2-40B4-BE49-F238E27FC236}">
                <a16:creationId xmlns:a16="http://schemas.microsoft.com/office/drawing/2014/main" id="{9B813A74-0AB7-F41A-287B-9660D7FBE24B}"/>
              </a:ext>
            </a:extLst>
          </p:cNvPr>
          <p:cNvSpPr>
            <a:spLocks noGrp="1"/>
          </p:cNvSpPr>
          <p:nvPr>
            <p:ph idx="1"/>
          </p:nvPr>
        </p:nvSpPr>
        <p:spPr>
          <a:xfrm>
            <a:off x="328613" y="1276544"/>
            <a:ext cx="5695102" cy="5654216"/>
          </a:xfrm>
        </p:spPr>
        <p:txBody>
          <a:bodyPr>
            <a:normAutofit/>
          </a:bodyPr>
          <a:lstStyle/>
          <a:p>
            <a:pPr marL="342900" marR="0" lvl="0" indent="-342900" algn="l" defTabSz="914400" rtl="0" eaLnBrk="1" fontAlgn="auto" latinLnBrk="0" hangingPunct="1">
              <a:lnSpc>
                <a:spcPct val="100000"/>
              </a:lnSpc>
              <a:spcBef>
                <a:spcPts val="0"/>
              </a:spcBef>
              <a:spcAft>
                <a:spcPts val="0"/>
              </a:spcAft>
              <a:buClrTx/>
              <a:buSzTx/>
              <a:buFont typeface="Wingdings" pitchFamily="2" charset="2"/>
              <a:buChar char="p"/>
              <a:tabLst/>
              <a:defRPr/>
            </a:pPr>
            <a:r>
              <a:rPr kumimoji="0" lang="zh-CN" altLang="en-US"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人工智能</a:t>
            </a:r>
            <a:r>
              <a:rPr kumimoji="0" lang="en-US" altLang="zh-CN"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a:t>
            </a:r>
            <a:r>
              <a:rPr kumimoji="0" lang="en" altLang="zh-CN"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Artificial Intelligence), </a:t>
            </a:r>
            <a:r>
              <a:rPr kumimoji="0" lang="zh-CN" altLang="en-US"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英文缩写为</a:t>
            </a:r>
            <a:r>
              <a:rPr kumimoji="0" lang="en" altLang="zh-CN"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Al</a:t>
            </a:r>
            <a:r>
              <a:rPr kumimoji="0" lang="en" altLang="zh-CN"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 </a:t>
            </a:r>
            <a:r>
              <a:rPr kumimoji="0" lang="zh-CN" altLang="en"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a:t>
            </a:r>
            <a:endParaRPr kumimoji="0" lang="en-US" altLang="zh-CN"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endParaRPr>
          </a:p>
          <a:p>
            <a:pPr marL="800100" lvl="1" indent="-342900">
              <a:lnSpc>
                <a:spcPct val="100000"/>
              </a:lnSpc>
              <a:spcBef>
                <a:spcPts val="0"/>
              </a:spcBef>
              <a:buFont typeface="Wingdings" pitchFamily="2" charset="2"/>
              <a:buChar char="p"/>
              <a:defRPr/>
            </a:pPr>
            <a:r>
              <a:rPr kumimoji="0" lang="zh-CN" altLang="en-US" sz="20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研究、开发用于</a:t>
            </a:r>
            <a:r>
              <a:rPr kumimoji="0" lang="zh-CN" altLang="en-US" sz="2000" b="1" i="0" u="none" strike="noStrike" kern="1200" cap="none" spc="0" normalizeH="0" baseline="0" noProof="0" dirty="0">
                <a:ln>
                  <a:noFill/>
                </a:ln>
                <a:solidFill>
                  <a:srgbClr val="292FFF"/>
                </a:solidFill>
                <a:effectLst/>
                <a:uLnTx/>
                <a:uFillTx/>
                <a:latin typeface="Microsoft YaHei" panose="020B0503020204020204" pitchFamily="34" charset="-122"/>
                <a:ea typeface="Microsoft YaHei" panose="020B0503020204020204" pitchFamily="34" charset="-122"/>
                <a:cs typeface="+mn-cs"/>
              </a:rPr>
              <a:t>模拟、延伸和扩展</a:t>
            </a:r>
            <a:r>
              <a:rPr kumimoji="0" lang="zh-CN" altLang="en-US" sz="20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人的智能的理论、方法、技术</a:t>
            </a:r>
            <a:r>
              <a:rPr kumimoji="0" lang="zh-CN" altLang="en-US"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及</a:t>
            </a:r>
            <a:r>
              <a:rPr kumimoji="0" lang="zh-CN" altLang="en-US" sz="20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应用系统</a:t>
            </a:r>
            <a:r>
              <a:rPr kumimoji="0" lang="zh-CN" altLang="en-US"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的一门新的</a:t>
            </a:r>
            <a:r>
              <a:rPr kumimoji="0" lang="zh-CN" altLang="en-US" sz="20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技术科学</a:t>
            </a:r>
            <a:r>
              <a:rPr kumimoji="0" lang="zh-CN" altLang="en-US"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a:t>
            </a:r>
          </a:p>
          <a:p>
            <a:pPr marL="800100" lvl="1" indent="-342900">
              <a:lnSpc>
                <a:spcPct val="100000"/>
              </a:lnSpc>
              <a:spcBef>
                <a:spcPts val="0"/>
              </a:spcBef>
              <a:buFont typeface="Wingdings" pitchFamily="2" charset="2"/>
              <a:buChar char="p"/>
              <a:defRPr/>
            </a:pPr>
            <a:r>
              <a:rPr kumimoji="0" lang="zh-CN" altLang="en-US"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企图了解</a:t>
            </a:r>
            <a:r>
              <a:rPr kumimoji="0" lang="zh-CN" altLang="en-US" sz="20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智能</a:t>
            </a:r>
            <a:r>
              <a:rPr kumimoji="0" lang="zh-CN" altLang="en-US"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的</a:t>
            </a:r>
            <a:r>
              <a:rPr lang="zh-CN" altLang="en-US" sz="2000" dirty="0">
                <a:solidFill>
                  <a:prstClr val="black"/>
                </a:solidFill>
                <a:latin typeface="Microsoft YaHei" panose="020B0503020204020204" pitchFamily="34" charset="-122"/>
                <a:ea typeface="Microsoft YaHei" panose="020B0503020204020204" pitchFamily="34" charset="-122"/>
              </a:rPr>
              <a:t>本</a:t>
            </a:r>
            <a:r>
              <a:rPr kumimoji="0" lang="zh-CN" altLang="en-US"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质，并</a:t>
            </a:r>
            <a:r>
              <a:rPr kumimoji="0" lang="zh-CN" altLang="en-US" sz="20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生产</a:t>
            </a:r>
            <a:r>
              <a:rPr kumimoji="0" lang="zh-CN" altLang="en-US"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出一种新的能</a:t>
            </a:r>
            <a:r>
              <a:rPr kumimoji="0" lang="zh-CN" altLang="en-US" sz="20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以人类智能相似的方式</a:t>
            </a:r>
            <a:r>
              <a:rPr kumimoji="0" lang="zh-CN" altLang="en-US"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做出反应的</a:t>
            </a:r>
            <a:r>
              <a:rPr kumimoji="0" lang="zh-CN" altLang="en-US" sz="20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智能机器</a:t>
            </a:r>
            <a:endParaRPr lang="en-US" altLang="zh-CN" sz="2000" dirty="0">
              <a:solidFill>
                <a:prstClr val="black"/>
              </a:solidFill>
              <a:latin typeface="Microsoft YaHei" panose="020B0503020204020204" pitchFamily="34" charset="-122"/>
              <a:ea typeface="Microsoft YaHei" panose="020B0503020204020204" pitchFamily="34" charset="-122"/>
            </a:endParaRPr>
          </a:p>
          <a:p>
            <a:pPr marL="800100" lvl="1" indent="-342900">
              <a:lnSpc>
                <a:spcPct val="100000"/>
              </a:lnSpc>
              <a:spcBef>
                <a:spcPts val="0"/>
              </a:spcBef>
              <a:buFont typeface="Wingdings" pitchFamily="2" charset="2"/>
              <a:buChar char="p"/>
              <a:defRPr/>
            </a:pPr>
            <a:r>
              <a:rPr kumimoji="0" lang="zh-CN" altLang="en-US"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研究包括</a:t>
            </a:r>
            <a:r>
              <a:rPr kumimoji="0" lang="zh-CN" altLang="en-US" sz="20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机器人、语音识别、图像识别、自然语言处理和专家系统</a:t>
            </a:r>
            <a:r>
              <a:rPr kumimoji="0" lang="zh-CN" altLang="en-US"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等。</a:t>
            </a:r>
          </a:p>
          <a:p>
            <a:pPr marL="800100" lvl="1" indent="-342900">
              <a:lnSpc>
                <a:spcPct val="100000"/>
              </a:lnSpc>
              <a:spcBef>
                <a:spcPts val="0"/>
              </a:spcBef>
              <a:buFont typeface="Wingdings" pitchFamily="2" charset="2"/>
              <a:buChar char="p"/>
              <a:defRPr/>
            </a:pPr>
            <a:r>
              <a:rPr kumimoji="0" lang="en-US" altLang="zh-CN" sz="20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AI</a:t>
            </a:r>
            <a:r>
              <a:rPr kumimoji="0" lang="zh-CN" altLang="en-US"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是对人的</a:t>
            </a:r>
            <a:r>
              <a:rPr kumimoji="0" lang="zh-CN" altLang="en-US" sz="20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意识、思维的信息过程的模拟</a:t>
            </a:r>
            <a:r>
              <a:rPr lang="zh-CN" altLang="en-US" sz="2000" dirty="0">
                <a:solidFill>
                  <a:prstClr val="black"/>
                </a:solidFill>
                <a:latin typeface="Microsoft YaHei" panose="020B0503020204020204" pitchFamily="34" charset="-122"/>
                <a:ea typeface="Microsoft YaHei" panose="020B0503020204020204" pitchFamily="34" charset="-122"/>
              </a:rPr>
              <a:t>，</a:t>
            </a:r>
            <a:r>
              <a:rPr kumimoji="0" lang="zh-CN" altLang="en-US"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不是</a:t>
            </a:r>
            <a:r>
              <a:rPr kumimoji="0" lang="zh-CN" altLang="en-US" sz="20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人的智能</a:t>
            </a:r>
            <a:r>
              <a:rPr kumimoji="0" lang="zh-CN" altLang="en-US"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，但</a:t>
            </a:r>
            <a:r>
              <a:rPr kumimoji="0" lang="zh-CN" altLang="en-US" sz="20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能像人那样思考</a:t>
            </a:r>
            <a:r>
              <a:rPr kumimoji="0" lang="zh-CN" altLang="en-US"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a:t>
            </a:r>
            <a:r>
              <a:rPr kumimoji="0" lang="zh-CN" altLang="en-US" sz="20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也可能超过人的智能</a:t>
            </a:r>
            <a:r>
              <a:rPr kumimoji="0" lang="zh-CN" altLang="en-US"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a:t>
            </a:r>
            <a:endParaRPr lang="zh-CN" altLang="en-US" sz="2000" dirty="0"/>
          </a:p>
        </p:txBody>
      </p:sp>
      <p:grpSp>
        <p:nvGrpSpPr>
          <p:cNvPr id="8" name="组合 7">
            <a:extLst>
              <a:ext uri="{FF2B5EF4-FFF2-40B4-BE49-F238E27FC236}">
                <a16:creationId xmlns:a16="http://schemas.microsoft.com/office/drawing/2014/main" id="{B4BE7081-1663-5DCB-A0DA-2F8286493770}"/>
              </a:ext>
            </a:extLst>
          </p:cNvPr>
          <p:cNvGrpSpPr/>
          <p:nvPr/>
        </p:nvGrpSpPr>
        <p:grpSpPr>
          <a:xfrm>
            <a:off x="6129984" y="764293"/>
            <a:ext cx="5607747" cy="2858626"/>
            <a:chOff x="6584252" y="832862"/>
            <a:chExt cx="5607747" cy="3053338"/>
          </a:xfrm>
        </p:grpSpPr>
        <p:pic>
          <p:nvPicPr>
            <p:cNvPr id="9" name="Picture 2">
              <a:extLst>
                <a:ext uri="{FF2B5EF4-FFF2-40B4-BE49-F238E27FC236}">
                  <a16:creationId xmlns:a16="http://schemas.microsoft.com/office/drawing/2014/main" id="{A5D841A3-1572-F7E9-426A-C9062307E0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4252" y="834642"/>
              <a:ext cx="2767105" cy="3051558"/>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a:extLst>
                <a:ext uri="{FF2B5EF4-FFF2-40B4-BE49-F238E27FC236}">
                  <a16:creationId xmlns:a16="http://schemas.microsoft.com/office/drawing/2014/main" id="{F8CD7A97-EFF3-846D-99CD-A0E0EE3EDDC5}"/>
                </a:ext>
              </a:extLst>
            </p:cNvPr>
            <p:cNvSpPr/>
            <p:nvPr/>
          </p:nvSpPr>
          <p:spPr>
            <a:xfrm>
              <a:off x="9345704" y="834642"/>
              <a:ext cx="2846295" cy="3051558"/>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11" name="文本框 10">
              <a:extLst>
                <a:ext uri="{FF2B5EF4-FFF2-40B4-BE49-F238E27FC236}">
                  <a16:creationId xmlns:a16="http://schemas.microsoft.com/office/drawing/2014/main" id="{A6C3F20A-9B7D-A554-BB4F-466056E3539E}"/>
                </a:ext>
              </a:extLst>
            </p:cNvPr>
            <p:cNvSpPr txBox="1"/>
            <p:nvPr/>
          </p:nvSpPr>
          <p:spPr>
            <a:xfrm>
              <a:off x="8780928" y="832862"/>
              <a:ext cx="255954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让机器人和人一样</a:t>
              </a:r>
              <a:r>
                <a:rPr kumimoji="1" lang="zh-CN" altLang="en-US" sz="1800" b="1"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思考</a:t>
              </a:r>
            </a:p>
          </p:txBody>
        </p:sp>
        <p:sp>
          <p:nvSpPr>
            <p:cNvPr id="12" name="文本框 11">
              <a:extLst>
                <a:ext uri="{FF2B5EF4-FFF2-40B4-BE49-F238E27FC236}">
                  <a16:creationId xmlns:a16="http://schemas.microsoft.com/office/drawing/2014/main" id="{90B0C3DB-C384-528B-3AEF-E37BEF48B155}"/>
                </a:ext>
              </a:extLst>
            </p:cNvPr>
            <p:cNvSpPr txBox="1"/>
            <p:nvPr/>
          </p:nvSpPr>
          <p:spPr>
            <a:xfrm>
              <a:off x="8980141" y="1160092"/>
              <a:ext cx="1107996" cy="12003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solidFill>
                    <a:srgbClr val="FFFF00"/>
                  </a:solidFill>
                  <a:effectLst/>
                  <a:uLnTx/>
                  <a:uFillTx/>
                  <a:latin typeface="Calibri" panose="020F0502020204030204"/>
                  <a:ea typeface="等线" panose="02010600030101010101" pitchFamily="2" charset="-122"/>
                  <a:cs typeface="+mn-cs"/>
                </a:rPr>
                <a:t>机器学习</a:t>
              </a:r>
              <a:endParaRPr kumimoji="1" lang="en-US" altLang="zh-CN" sz="1800" b="0" i="0" u="none" strike="noStrike" kern="1200" cap="none" spc="0" normalizeH="0" baseline="0" noProof="0" dirty="0">
                <a:ln>
                  <a:noFill/>
                </a:ln>
                <a:solidFill>
                  <a:srgbClr val="FFFF00"/>
                </a:solidFill>
                <a:effectLst/>
                <a:uLnTx/>
                <a:uFillTx/>
                <a:latin typeface="Calibri"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solidFill>
                    <a:srgbClr val="FFFF00"/>
                  </a:solidFill>
                  <a:effectLst/>
                  <a:uLnTx/>
                  <a:uFillTx/>
                  <a:latin typeface="Calibri" panose="020F0502020204030204"/>
                  <a:ea typeface="等线" panose="02010600030101010101" pitchFamily="2" charset="-122"/>
                  <a:cs typeface="+mn-cs"/>
                </a:rPr>
                <a:t>自动推理</a:t>
              </a:r>
              <a:endParaRPr kumimoji="1" lang="en-US" altLang="zh-CN" sz="1800" b="0" i="0" u="none" strike="noStrike" kern="1200" cap="none" spc="0" normalizeH="0" baseline="0" noProof="0" dirty="0">
                <a:ln>
                  <a:noFill/>
                </a:ln>
                <a:solidFill>
                  <a:srgbClr val="FFFF00"/>
                </a:solidFill>
                <a:effectLst/>
                <a:uLnTx/>
                <a:uFillTx/>
                <a:latin typeface="Calibri"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solidFill>
                    <a:srgbClr val="FFFF00"/>
                  </a:solidFill>
                  <a:effectLst/>
                  <a:uLnTx/>
                  <a:uFillTx/>
                  <a:latin typeface="Calibri" panose="020F0502020204030204"/>
                  <a:ea typeface="等线" panose="02010600030101010101" pitchFamily="2" charset="-122"/>
                  <a:cs typeface="+mn-cs"/>
                </a:rPr>
                <a:t>人工意识</a:t>
              </a:r>
              <a:endParaRPr kumimoji="1" lang="en-US" altLang="zh-CN" sz="1800" b="0" i="0" u="none" strike="noStrike" kern="1200" cap="none" spc="0" normalizeH="0" baseline="0" noProof="0" dirty="0">
                <a:ln>
                  <a:noFill/>
                </a:ln>
                <a:solidFill>
                  <a:srgbClr val="FFFF00"/>
                </a:solidFill>
                <a:effectLst/>
                <a:uLnTx/>
                <a:uFillTx/>
                <a:latin typeface="Calibri"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solidFill>
                    <a:srgbClr val="FFFF00"/>
                  </a:solidFill>
                  <a:effectLst/>
                  <a:uLnTx/>
                  <a:uFillTx/>
                  <a:latin typeface="Calibri" panose="020F0502020204030204"/>
                  <a:ea typeface="等线" panose="02010600030101010101" pitchFamily="2" charset="-122"/>
                  <a:cs typeface="+mn-cs"/>
                </a:rPr>
                <a:t>知识表示</a:t>
              </a:r>
            </a:p>
          </p:txBody>
        </p:sp>
        <p:sp>
          <p:nvSpPr>
            <p:cNvPr id="13" name="文本框 12">
              <a:extLst>
                <a:ext uri="{FF2B5EF4-FFF2-40B4-BE49-F238E27FC236}">
                  <a16:creationId xmlns:a16="http://schemas.microsoft.com/office/drawing/2014/main" id="{8AED13C9-7ECE-2A5E-1609-1C5E6ACA3E29}"/>
                </a:ext>
              </a:extLst>
            </p:cNvPr>
            <p:cNvSpPr txBox="1"/>
            <p:nvPr/>
          </p:nvSpPr>
          <p:spPr>
            <a:xfrm>
              <a:off x="8780928" y="2303524"/>
              <a:ext cx="249299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让机器人和人一样</a:t>
              </a:r>
              <a:r>
                <a:rPr kumimoji="1" lang="zh-CN" altLang="en-US" sz="1800" b="1"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听懂</a:t>
              </a:r>
            </a:p>
          </p:txBody>
        </p:sp>
        <p:sp>
          <p:nvSpPr>
            <p:cNvPr id="14" name="文本框 13">
              <a:extLst>
                <a:ext uri="{FF2B5EF4-FFF2-40B4-BE49-F238E27FC236}">
                  <a16:creationId xmlns:a16="http://schemas.microsoft.com/office/drawing/2014/main" id="{826C5882-69A5-6C4E-6BA7-4908BE270112}"/>
                </a:ext>
              </a:extLst>
            </p:cNvPr>
            <p:cNvSpPr txBox="1"/>
            <p:nvPr/>
          </p:nvSpPr>
          <p:spPr>
            <a:xfrm>
              <a:off x="8525436" y="2910196"/>
              <a:ext cx="249299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让机器人和人一样</a:t>
              </a:r>
              <a:r>
                <a:rPr kumimoji="1" lang="zh-CN" altLang="en-US" sz="1800" b="1"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看懂</a:t>
              </a:r>
            </a:p>
          </p:txBody>
        </p:sp>
        <p:sp>
          <p:nvSpPr>
            <p:cNvPr id="15" name="文本框 14">
              <a:extLst>
                <a:ext uri="{FF2B5EF4-FFF2-40B4-BE49-F238E27FC236}">
                  <a16:creationId xmlns:a16="http://schemas.microsoft.com/office/drawing/2014/main" id="{98453CF2-B0AC-DE44-F1E4-022DBC905D15}"/>
                </a:ext>
              </a:extLst>
            </p:cNvPr>
            <p:cNvSpPr txBox="1"/>
            <p:nvPr/>
          </p:nvSpPr>
          <p:spPr>
            <a:xfrm>
              <a:off x="9534139" y="3277748"/>
              <a:ext cx="249299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让机器人和人一样</a:t>
              </a:r>
              <a:r>
                <a:rPr kumimoji="1" lang="zh-CN" altLang="en-US" sz="1800" b="1"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运动</a:t>
              </a:r>
            </a:p>
          </p:txBody>
        </p:sp>
        <p:sp>
          <p:nvSpPr>
            <p:cNvPr id="16" name="文本框 15">
              <a:extLst>
                <a:ext uri="{FF2B5EF4-FFF2-40B4-BE49-F238E27FC236}">
                  <a16:creationId xmlns:a16="http://schemas.microsoft.com/office/drawing/2014/main" id="{684BC382-A909-94D1-17D3-3DDD49569945}"/>
                </a:ext>
              </a:extLst>
            </p:cNvPr>
            <p:cNvSpPr txBox="1"/>
            <p:nvPr/>
          </p:nvSpPr>
          <p:spPr>
            <a:xfrm>
              <a:off x="9045038" y="2572925"/>
              <a:ext cx="110799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solidFill>
                    <a:srgbClr val="FFFF00"/>
                  </a:solidFill>
                  <a:effectLst/>
                  <a:uLnTx/>
                  <a:uFillTx/>
                  <a:latin typeface="Calibri" panose="020F0502020204030204"/>
                  <a:ea typeface="等线" panose="02010600030101010101" pitchFamily="2" charset="-122"/>
                  <a:cs typeface="+mn-cs"/>
                </a:rPr>
                <a:t>语音识别</a:t>
              </a:r>
            </a:p>
          </p:txBody>
        </p:sp>
        <p:sp>
          <p:nvSpPr>
            <p:cNvPr id="17" name="文本框 16">
              <a:extLst>
                <a:ext uri="{FF2B5EF4-FFF2-40B4-BE49-F238E27FC236}">
                  <a16:creationId xmlns:a16="http://schemas.microsoft.com/office/drawing/2014/main" id="{74880BD5-D51E-EFA0-F3EC-D878FCB73697}"/>
                </a:ext>
              </a:extLst>
            </p:cNvPr>
            <p:cNvSpPr txBox="1"/>
            <p:nvPr/>
          </p:nvSpPr>
          <p:spPr>
            <a:xfrm>
              <a:off x="10929912" y="2903933"/>
              <a:ext cx="110799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solidFill>
                    <a:srgbClr val="FFFF00"/>
                  </a:solidFill>
                  <a:effectLst/>
                  <a:uLnTx/>
                  <a:uFillTx/>
                  <a:latin typeface="Calibri" panose="020F0502020204030204"/>
                  <a:ea typeface="等线" panose="02010600030101010101" pitchFamily="2" charset="-122"/>
                  <a:cs typeface="+mn-cs"/>
                </a:rPr>
                <a:t>视觉识别</a:t>
              </a:r>
            </a:p>
          </p:txBody>
        </p:sp>
        <p:sp>
          <p:nvSpPr>
            <p:cNvPr id="18" name="文本框 17">
              <a:extLst>
                <a:ext uri="{FF2B5EF4-FFF2-40B4-BE49-F238E27FC236}">
                  <a16:creationId xmlns:a16="http://schemas.microsoft.com/office/drawing/2014/main" id="{9E6FF575-B7EC-92F8-C5AE-73ACD3E7566A}"/>
                </a:ext>
              </a:extLst>
            </p:cNvPr>
            <p:cNvSpPr txBox="1"/>
            <p:nvPr/>
          </p:nvSpPr>
          <p:spPr>
            <a:xfrm>
              <a:off x="10535900" y="3491862"/>
              <a:ext cx="110799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solidFill>
                    <a:srgbClr val="FFFF00"/>
                  </a:solidFill>
                  <a:effectLst/>
                  <a:uLnTx/>
                  <a:uFillTx/>
                  <a:latin typeface="Calibri" panose="020F0502020204030204"/>
                  <a:ea typeface="等线" panose="02010600030101010101" pitchFamily="2" charset="-122"/>
                  <a:cs typeface="+mn-cs"/>
                </a:rPr>
                <a:t>运动识别</a:t>
              </a:r>
            </a:p>
          </p:txBody>
        </p:sp>
      </p:grpSp>
      <p:pic>
        <p:nvPicPr>
          <p:cNvPr id="19" name="Picture 2" descr="Venn Diagram relationship between artificial intelligence, machine... |  Download Scientific Diagram">
            <a:extLst>
              <a:ext uri="{FF2B5EF4-FFF2-40B4-BE49-F238E27FC236}">
                <a16:creationId xmlns:a16="http://schemas.microsoft.com/office/drawing/2014/main" id="{6C2B1F49-2250-7AEF-7243-F6F9F66D2A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19982" y="3822052"/>
            <a:ext cx="4886778" cy="25296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17581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a:t>
            </a:r>
            <a:r>
              <a:rPr lang="zh-CN" altLang="en-US" dirty="0"/>
              <a:t> </a:t>
            </a:r>
            <a:r>
              <a:rPr lang="en-US" altLang="zh-CN" dirty="0"/>
              <a:t>AI</a:t>
            </a:r>
            <a:r>
              <a:rPr lang="zh-CN" altLang="en-US" dirty="0"/>
              <a:t>基础回顾</a:t>
            </a:r>
          </a:p>
        </p:txBody>
      </p:sp>
      <p:sp>
        <p:nvSpPr>
          <p:cNvPr id="5" name="内容占位符 6">
            <a:extLst>
              <a:ext uri="{FF2B5EF4-FFF2-40B4-BE49-F238E27FC236}">
                <a16:creationId xmlns:a16="http://schemas.microsoft.com/office/drawing/2014/main" id="{F8E0AF32-B6DD-CBD8-760A-2ED31AB711E1}"/>
              </a:ext>
            </a:extLst>
          </p:cNvPr>
          <p:cNvSpPr>
            <a:spLocks noGrp="1"/>
          </p:cNvSpPr>
          <p:nvPr>
            <p:ph idx="1"/>
          </p:nvPr>
        </p:nvSpPr>
        <p:spPr>
          <a:xfrm>
            <a:off x="256866" y="992393"/>
            <a:ext cx="7662462" cy="5379860"/>
          </a:xfrm>
        </p:spPr>
        <p:txBody>
          <a:bodyPr>
            <a:normAutofit/>
          </a:bodyPr>
          <a:lstStyle/>
          <a:p>
            <a:pPr marL="342900" marR="0" lvl="0" indent="-342900" algn="l" defTabSz="914400" rtl="0" eaLnBrk="1" fontAlgn="auto" latinLnBrk="0" hangingPunct="1">
              <a:lnSpc>
                <a:spcPct val="100000"/>
              </a:lnSpc>
              <a:spcBef>
                <a:spcPts val="0"/>
              </a:spcBef>
              <a:spcAft>
                <a:spcPts val="0"/>
              </a:spcAft>
              <a:buClrTx/>
              <a:buSzTx/>
              <a:buFont typeface="Wingdings" pitchFamily="2" charset="2"/>
              <a:buChar char="p"/>
              <a:tabLst/>
              <a:defRPr/>
            </a:pPr>
            <a:r>
              <a:rPr lang="zh-CN" altLang="en-US" b="0" i="0" dirty="0">
                <a:solidFill>
                  <a:srgbClr val="191B1F"/>
                </a:solidFill>
                <a:effectLst/>
                <a:latin typeface="Microsoft YaHei" panose="020B0503020204020204" pitchFamily="34" charset="-122"/>
                <a:ea typeface="Microsoft YaHei" panose="020B0503020204020204" pitchFamily="34" charset="-122"/>
              </a:rPr>
              <a:t>机器学习是</a:t>
            </a:r>
            <a:r>
              <a:rPr lang="en-US" altLang="zh-CN" b="0" i="0" dirty="0">
                <a:solidFill>
                  <a:srgbClr val="191B1F"/>
                </a:solidFill>
                <a:effectLst/>
                <a:latin typeface="Microsoft YaHei" panose="020B0503020204020204" pitchFamily="34" charset="-122"/>
                <a:ea typeface="Microsoft YaHei" panose="020B0503020204020204" pitchFamily="34" charset="-122"/>
              </a:rPr>
              <a:t>AI</a:t>
            </a:r>
            <a:r>
              <a:rPr lang="zh-CN" altLang="en-US" b="0" i="0" dirty="0">
                <a:solidFill>
                  <a:srgbClr val="191B1F"/>
                </a:solidFill>
                <a:effectLst/>
                <a:latin typeface="Microsoft YaHei" panose="020B0503020204020204" pitchFamily="34" charset="-122"/>
                <a:ea typeface="Microsoft YaHei" panose="020B0503020204020204" pitchFamily="34" charset="-122"/>
              </a:rPr>
              <a:t>的核心</a:t>
            </a:r>
            <a:endParaRPr lang="en-US" altLang="zh-CN" b="0" i="0" dirty="0">
              <a:solidFill>
                <a:srgbClr val="191B1F"/>
              </a:solidFill>
              <a:effectLst/>
              <a:latin typeface="Microsoft YaHei" panose="020B0503020204020204" pitchFamily="34" charset="-122"/>
              <a:ea typeface="Microsoft YaHei" panose="020B0503020204020204" pitchFamily="34" charset="-122"/>
            </a:endParaRPr>
          </a:p>
          <a:p>
            <a:pPr marL="342900" marR="0" lvl="0" indent="-342900" algn="l" defTabSz="914400" rtl="0" eaLnBrk="1" fontAlgn="auto" latinLnBrk="0" hangingPunct="1">
              <a:lnSpc>
                <a:spcPct val="100000"/>
              </a:lnSpc>
              <a:spcBef>
                <a:spcPts val="0"/>
              </a:spcBef>
              <a:spcAft>
                <a:spcPts val="0"/>
              </a:spcAft>
              <a:buClrTx/>
              <a:buSzTx/>
              <a:buFont typeface="Wingdings" pitchFamily="2" charset="2"/>
              <a:buChar char="p"/>
              <a:tabLst/>
              <a:defRPr/>
            </a:pPr>
            <a:r>
              <a:rPr lang="zh-CN" altLang="en-US" b="0" i="0" dirty="0">
                <a:solidFill>
                  <a:srgbClr val="191B1F"/>
                </a:solidFill>
                <a:effectLst/>
                <a:latin typeface="Microsoft YaHei" panose="020B0503020204020204" pitchFamily="34" charset="-122"/>
                <a:ea typeface="Microsoft YaHei" panose="020B0503020204020204" pitchFamily="34" charset="-122"/>
              </a:rPr>
              <a:t>采用</a:t>
            </a:r>
            <a:r>
              <a:rPr lang="en" altLang="zh-CN" b="0" i="0" dirty="0">
                <a:solidFill>
                  <a:srgbClr val="191B1F"/>
                </a:solidFill>
                <a:effectLst/>
                <a:latin typeface="Microsoft YaHei" panose="020B0503020204020204" pitchFamily="34" charset="-122"/>
                <a:ea typeface="Microsoft YaHei" panose="020B0503020204020204" pitchFamily="34" charset="-122"/>
              </a:rPr>
              <a:t>AI</a:t>
            </a:r>
            <a:r>
              <a:rPr lang="zh-CN" altLang="en-US" b="0" i="0" dirty="0">
                <a:solidFill>
                  <a:srgbClr val="191B1F"/>
                </a:solidFill>
                <a:effectLst/>
                <a:latin typeface="Microsoft YaHei" panose="020B0503020204020204" pitchFamily="34" charset="-122"/>
                <a:ea typeface="Microsoft YaHei" panose="020B0503020204020204" pitchFamily="34" charset="-122"/>
              </a:rPr>
              <a:t>解决任何一个任务往往都需要的步骤：</a:t>
            </a:r>
            <a:endParaRPr lang="en-US" altLang="zh-CN" b="0" i="0" dirty="0">
              <a:solidFill>
                <a:srgbClr val="191B1F"/>
              </a:solidFill>
              <a:effectLst/>
              <a:latin typeface="Microsoft YaHei" panose="020B0503020204020204" pitchFamily="34" charset="-122"/>
              <a:ea typeface="Microsoft YaHei" panose="020B0503020204020204" pitchFamily="34" charset="-122"/>
            </a:endParaRPr>
          </a:p>
          <a:p>
            <a:pPr marL="800100" lvl="1" indent="-342900">
              <a:lnSpc>
                <a:spcPct val="100000"/>
              </a:lnSpc>
              <a:spcBef>
                <a:spcPts val="0"/>
              </a:spcBef>
              <a:buFont typeface="Wingdings" pitchFamily="2" charset="2"/>
              <a:buChar char="p"/>
              <a:defRPr/>
            </a:pPr>
            <a:r>
              <a:rPr lang="zh-CN" altLang="en-US" b="0" i="0" dirty="0">
                <a:solidFill>
                  <a:srgbClr val="191B1F"/>
                </a:solidFill>
                <a:effectLst/>
                <a:latin typeface="Microsoft YaHei" panose="020B0503020204020204" pitchFamily="34" charset="-122"/>
                <a:ea typeface="Microsoft YaHei" panose="020B0503020204020204" pitchFamily="34" charset="-122"/>
              </a:rPr>
              <a:t>定义模型</a:t>
            </a:r>
            <a:endParaRPr lang="en-US" altLang="zh-CN" b="0" i="0" dirty="0">
              <a:solidFill>
                <a:srgbClr val="191B1F"/>
              </a:solidFill>
              <a:effectLst/>
              <a:latin typeface="Microsoft YaHei" panose="020B0503020204020204" pitchFamily="34" charset="-122"/>
              <a:ea typeface="Microsoft YaHei" panose="020B0503020204020204" pitchFamily="34" charset="-122"/>
            </a:endParaRPr>
          </a:p>
          <a:p>
            <a:pPr marL="800100" lvl="1" indent="-342900">
              <a:lnSpc>
                <a:spcPct val="100000"/>
              </a:lnSpc>
              <a:spcBef>
                <a:spcPts val="0"/>
              </a:spcBef>
              <a:buFont typeface="Wingdings" pitchFamily="2" charset="2"/>
              <a:buChar char="p"/>
              <a:defRPr/>
            </a:pPr>
            <a:r>
              <a:rPr lang="zh-CN" altLang="en-US" b="0" i="0" dirty="0">
                <a:solidFill>
                  <a:srgbClr val="191B1F"/>
                </a:solidFill>
                <a:effectLst/>
                <a:latin typeface="Microsoft YaHei" panose="020B0503020204020204" pitchFamily="34" charset="-122"/>
                <a:ea typeface="Microsoft YaHei" panose="020B0503020204020204" pitchFamily="34" charset="-122"/>
              </a:rPr>
              <a:t>训练模型</a:t>
            </a:r>
            <a:endParaRPr lang="en-US" altLang="zh-CN" b="0" i="0" dirty="0">
              <a:solidFill>
                <a:srgbClr val="191B1F"/>
              </a:solidFill>
              <a:effectLst/>
              <a:latin typeface="Microsoft YaHei" panose="020B0503020204020204" pitchFamily="34" charset="-122"/>
              <a:ea typeface="Microsoft YaHei" panose="020B0503020204020204" pitchFamily="34" charset="-122"/>
            </a:endParaRPr>
          </a:p>
          <a:p>
            <a:pPr marL="800100" lvl="1" indent="-342900">
              <a:lnSpc>
                <a:spcPct val="100000"/>
              </a:lnSpc>
              <a:spcBef>
                <a:spcPts val="0"/>
              </a:spcBef>
              <a:buFont typeface="Wingdings" pitchFamily="2" charset="2"/>
              <a:buChar char="p"/>
              <a:defRPr/>
            </a:pPr>
            <a:r>
              <a:rPr lang="zh-CN" altLang="en-US" b="0" i="0" dirty="0">
                <a:solidFill>
                  <a:srgbClr val="191B1F"/>
                </a:solidFill>
                <a:effectLst/>
                <a:latin typeface="Microsoft YaHei" panose="020B0503020204020204" pitchFamily="34" charset="-122"/>
                <a:ea typeface="Microsoft YaHei" panose="020B0503020204020204" pitchFamily="34" charset="-122"/>
              </a:rPr>
              <a:t>测试模型</a:t>
            </a:r>
            <a:endParaRPr lang="zh-CN" altLang="en-US" dirty="0">
              <a:latin typeface="Microsoft YaHei" panose="020B0503020204020204" pitchFamily="34" charset="-122"/>
              <a:ea typeface="Microsoft YaHei" panose="020B0503020204020204" pitchFamily="34" charset="-122"/>
            </a:endParaRPr>
          </a:p>
        </p:txBody>
      </p:sp>
      <p:grpSp>
        <p:nvGrpSpPr>
          <p:cNvPr id="7" name="组合 5">
            <a:extLst>
              <a:ext uri="{FF2B5EF4-FFF2-40B4-BE49-F238E27FC236}">
                <a16:creationId xmlns:a16="http://schemas.microsoft.com/office/drawing/2014/main" id="{A90D072E-AFD2-852C-F263-27B1A964052B}"/>
              </a:ext>
            </a:extLst>
          </p:cNvPr>
          <p:cNvGrpSpPr/>
          <p:nvPr/>
        </p:nvGrpSpPr>
        <p:grpSpPr>
          <a:xfrm>
            <a:off x="2505234" y="2205879"/>
            <a:ext cx="5002092" cy="4168977"/>
            <a:chOff x="7096377" y="1303382"/>
            <a:chExt cx="5002092" cy="4168977"/>
          </a:xfrm>
        </p:grpSpPr>
        <p:pic>
          <p:nvPicPr>
            <p:cNvPr id="8" name="Picture 2">
              <a:extLst>
                <a:ext uri="{FF2B5EF4-FFF2-40B4-BE49-F238E27FC236}">
                  <a16:creationId xmlns:a16="http://schemas.microsoft.com/office/drawing/2014/main" id="{8DD8EF72-54A4-D072-FFAF-01DE730A13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96377" y="1303382"/>
              <a:ext cx="4712931" cy="3968010"/>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2">
              <a:extLst>
                <a:ext uri="{FF2B5EF4-FFF2-40B4-BE49-F238E27FC236}">
                  <a16:creationId xmlns:a16="http://schemas.microsoft.com/office/drawing/2014/main" id="{2112FCEE-C0E8-F5A4-97F9-6A2F0CDE14F9}"/>
                </a:ext>
              </a:extLst>
            </p:cNvPr>
            <p:cNvSpPr/>
            <p:nvPr/>
          </p:nvSpPr>
          <p:spPr>
            <a:xfrm>
              <a:off x="10490732" y="4849361"/>
              <a:ext cx="1607737" cy="6229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0" name="组合 21">
            <a:extLst>
              <a:ext uri="{FF2B5EF4-FFF2-40B4-BE49-F238E27FC236}">
                <a16:creationId xmlns:a16="http://schemas.microsoft.com/office/drawing/2014/main" id="{5566E3D3-5FBB-359A-F4D4-E13AC2A239E5}"/>
              </a:ext>
            </a:extLst>
          </p:cNvPr>
          <p:cNvGrpSpPr/>
          <p:nvPr/>
        </p:nvGrpSpPr>
        <p:grpSpPr>
          <a:xfrm>
            <a:off x="7744448" y="2253903"/>
            <a:ext cx="3884636" cy="3442310"/>
            <a:chOff x="7361944" y="2322552"/>
            <a:chExt cx="3884636" cy="3442310"/>
          </a:xfrm>
        </p:grpSpPr>
        <p:sp>
          <p:nvSpPr>
            <p:cNvPr id="11" name="矩形 4">
              <a:extLst>
                <a:ext uri="{FF2B5EF4-FFF2-40B4-BE49-F238E27FC236}">
                  <a16:creationId xmlns:a16="http://schemas.microsoft.com/office/drawing/2014/main" id="{8B651BE5-6F8D-10D4-F59B-2EA580C97A38}"/>
                </a:ext>
              </a:extLst>
            </p:cNvPr>
            <p:cNvSpPr/>
            <p:nvPr/>
          </p:nvSpPr>
          <p:spPr>
            <a:xfrm>
              <a:off x="8596805" y="5050159"/>
              <a:ext cx="1378456" cy="714703"/>
            </a:xfrm>
            <a:prstGeom prst="rect">
              <a:avLst/>
            </a:prstGeom>
            <a:solidFill>
              <a:srgbClr val="1635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solidFill>
                    <a:prstClr val="white"/>
                  </a:solidFill>
                  <a:effectLst/>
                  <a:uLnTx/>
                  <a:uFillTx/>
                  <a:latin typeface="Microsoft YaHei" panose="020B0503020204020204" pitchFamily="34" charset="-122"/>
                  <a:ea typeface="Microsoft YaHei" panose="020B0503020204020204" pitchFamily="34" charset="-122"/>
                  <a:cs typeface="+mn-cs"/>
                </a:rPr>
                <a:t>模型</a:t>
              </a:r>
            </a:p>
          </p:txBody>
        </p:sp>
        <p:sp>
          <p:nvSpPr>
            <p:cNvPr id="12" name="文本框 7">
              <a:extLst>
                <a:ext uri="{FF2B5EF4-FFF2-40B4-BE49-F238E27FC236}">
                  <a16:creationId xmlns:a16="http://schemas.microsoft.com/office/drawing/2014/main" id="{3FDE5EC7-B532-BE8F-DFAC-127C022BEFD3}"/>
                </a:ext>
              </a:extLst>
            </p:cNvPr>
            <p:cNvSpPr txBox="1"/>
            <p:nvPr/>
          </p:nvSpPr>
          <p:spPr>
            <a:xfrm>
              <a:off x="7361944" y="5063441"/>
              <a:ext cx="647083"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新的</a:t>
              </a:r>
              <a:endParaRPr kumimoji="1" lang="en-US" altLang="zh-CN" sz="18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数据</a:t>
              </a:r>
            </a:p>
          </p:txBody>
        </p:sp>
        <p:sp>
          <p:nvSpPr>
            <p:cNvPr id="13" name="文本框 9">
              <a:extLst>
                <a:ext uri="{FF2B5EF4-FFF2-40B4-BE49-F238E27FC236}">
                  <a16:creationId xmlns:a16="http://schemas.microsoft.com/office/drawing/2014/main" id="{E17588E6-0A6D-61A1-A6DD-61B6043E3239}"/>
                </a:ext>
              </a:extLst>
            </p:cNvPr>
            <p:cNvSpPr txBox="1"/>
            <p:nvPr/>
          </p:nvSpPr>
          <p:spPr>
            <a:xfrm>
              <a:off x="7912238" y="5038949"/>
              <a:ext cx="64708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输入</a:t>
              </a:r>
            </a:p>
          </p:txBody>
        </p:sp>
        <p:sp>
          <p:nvSpPr>
            <p:cNvPr id="14" name="文本框 10">
              <a:extLst>
                <a:ext uri="{FF2B5EF4-FFF2-40B4-BE49-F238E27FC236}">
                  <a16:creationId xmlns:a16="http://schemas.microsoft.com/office/drawing/2014/main" id="{2FB9A3D5-53BA-6EA3-AAEC-2B08E726748C}"/>
                </a:ext>
              </a:extLst>
            </p:cNvPr>
            <p:cNvSpPr txBox="1"/>
            <p:nvPr/>
          </p:nvSpPr>
          <p:spPr>
            <a:xfrm>
              <a:off x="9986471" y="5047725"/>
              <a:ext cx="64708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预测</a:t>
              </a:r>
            </a:p>
          </p:txBody>
        </p:sp>
        <p:sp>
          <p:nvSpPr>
            <p:cNvPr id="15" name="文本框 11">
              <a:extLst>
                <a:ext uri="{FF2B5EF4-FFF2-40B4-BE49-F238E27FC236}">
                  <a16:creationId xmlns:a16="http://schemas.microsoft.com/office/drawing/2014/main" id="{5B4062A3-8274-9D59-8AF4-C8915E177D88}"/>
                </a:ext>
              </a:extLst>
            </p:cNvPr>
            <p:cNvSpPr txBox="1"/>
            <p:nvPr/>
          </p:nvSpPr>
          <p:spPr>
            <a:xfrm>
              <a:off x="9275008" y="4574564"/>
              <a:ext cx="64708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训练</a:t>
              </a:r>
            </a:p>
          </p:txBody>
        </p:sp>
        <p:sp>
          <p:nvSpPr>
            <p:cNvPr id="16" name="文本框 12">
              <a:extLst>
                <a:ext uri="{FF2B5EF4-FFF2-40B4-BE49-F238E27FC236}">
                  <a16:creationId xmlns:a16="http://schemas.microsoft.com/office/drawing/2014/main" id="{0F0CA05A-954D-53F9-AEDD-F0B56D186F36}"/>
                </a:ext>
              </a:extLst>
            </p:cNvPr>
            <p:cNvSpPr txBox="1"/>
            <p:nvPr/>
          </p:nvSpPr>
          <p:spPr>
            <a:xfrm>
              <a:off x="10599497" y="5086235"/>
              <a:ext cx="647083"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未知</a:t>
              </a:r>
              <a:endParaRPr kumimoji="1" lang="en-US" altLang="zh-CN" sz="18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属性</a:t>
              </a:r>
            </a:p>
          </p:txBody>
        </p:sp>
        <p:cxnSp>
          <p:nvCxnSpPr>
            <p:cNvPr id="17" name="直线箭头连接符 13">
              <a:extLst>
                <a:ext uri="{FF2B5EF4-FFF2-40B4-BE49-F238E27FC236}">
                  <a16:creationId xmlns:a16="http://schemas.microsoft.com/office/drawing/2014/main" id="{E2B9DC43-9A89-5F72-B324-01B3CD0389CC}"/>
                </a:ext>
              </a:extLst>
            </p:cNvPr>
            <p:cNvCxnSpPr/>
            <p:nvPr/>
          </p:nvCxnSpPr>
          <p:spPr>
            <a:xfrm>
              <a:off x="9976369" y="5391862"/>
              <a:ext cx="662922" cy="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线箭头连接符 14">
              <a:extLst>
                <a:ext uri="{FF2B5EF4-FFF2-40B4-BE49-F238E27FC236}">
                  <a16:creationId xmlns:a16="http://schemas.microsoft.com/office/drawing/2014/main" id="{A89D8101-9DF3-5C90-52AC-1EEA07DB8699}"/>
                </a:ext>
              </a:extLst>
            </p:cNvPr>
            <p:cNvCxnSpPr/>
            <p:nvPr/>
          </p:nvCxnSpPr>
          <p:spPr>
            <a:xfrm>
              <a:off x="7925783" y="5386607"/>
              <a:ext cx="662922" cy="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线箭头连接符 15">
              <a:extLst>
                <a:ext uri="{FF2B5EF4-FFF2-40B4-BE49-F238E27FC236}">
                  <a16:creationId xmlns:a16="http://schemas.microsoft.com/office/drawing/2014/main" id="{4BD9FC27-29DF-D6F7-4BEA-12BF57A70D39}"/>
                </a:ext>
              </a:extLst>
            </p:cNvPr>
            <p:cNvCxnSpPr>
              <a:cxnSpLocks/>
            </p:cNvCxnSpPr>
            <p:nvPr/>
          </p:nvCxnSpPr>
          <p:spPr>
            <a:xfrm>
              <a:off x="9275007" y="4393964"/>
              <a:ext cx="2927" cy="640547"/>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20" name="图片 16">
              <a:extLst>
                <a:ext uri="{FF2B5EF4-FFF2-40B4-BE49-F238E27FC236}">
                  <a16:creationId xmlns:a16="http://schemas.microsoft.com/office/drawing/2014/main" id="{AC96634C-43F0-DD14-1AF5-0271351C74A3}"/>
                </a:ext>
              </a:extLst>
            </p:cNvPr>
            <p:cNvPicPr>
              <a:picLocks noChangeAspect="1"/>
            </p:cNvPicPr>
            <p:nvPr/>
          </p:nvPicPr>
          <p:blipFill>
            <a:blip r:embed="rId3"/>
            <a:srcRect b="27834"/>
            <a:stretch/>
          </p:blipFill>
          <p:spPr>
            <a:xfrm>
              <a:off x="8608379" y="2439661"/>
              <a:ext cx="1530641" cy="1252409"/>
            </a:xfrm>
            <a:prstGeom prst="rect">
              <a:avLst/>
            </a:prstGeom>
          </p:spPr>
        </p:pic>
        <p:sp>
          <p:nvSpPr>
            <p:cNvPr id="21" name="文本框 17">
              <a:extLst>
                <a:ext uri="{FF2B5EF4-FFF2-40B4-BE49-F238E27FC236}">
                  <a16:creationId xmlns:a16="http://schemas.microsoft.com/office/drawing/2014/main" id="{C15D7726-1DB9-60C5-D4D3-7E2D0B8A5824}"/>
                </a:ext>
              </a:extLst>
            </p:cNvPr>
            <p:cNvSpPr txBox="1"/>
            <p:nvPr/>
          </p:nvSpPr>
          <p:spPr>
            <a:xfrm>
              <a:off x="7377187" y="3165713"/>
              <a:ext cx="1233479" cy="830997"/>
            </a:xfrm>
            <a:prstGeom prst="rect">
              <a:avLst/>
            </a:prstGeom>
            <a:solidFill>
              <a:schemeClr val="bg1"/>
            </a:solidFill>
          </p:spPr>
          <p:txBody>
            <a:bodyPr wrap="square" rtlCol="0">
              <a:spAutoFit/>
            </a:bodyPr>
            <a:lstStyle/>
            <a:p>
              <a:r>
                <a:rPr kumimoji="1" lang="zh-CN" altLang="en-US" sz="1600" dirty="0"/>
                <a:t>用数据优化计算机程序的模型参数</a:t>
              </a:r>
            </a:p>
          </p:txBody>
        </p:sp>
        <p:sp>
          <p:nvSpPr>
            <p:cNvPr id="22" name="椭圆 18">
              <a:extLst>
                <a:ext uri="{FF2B5EF4-FFF2-40B4-BE49-F238E27FC236}">
                  <a16:creationId xmlns:a16="http://schemas.microsoft.com/office/drawing/2014/main" id="{FED2726F-D17F-44FD-AAB3-E4A9AB66C713}"/>
                </a:ext>
              </a:extLst>
            </p:cNvPr>
            <p:cNvSpPr/>
            <p:nvPr/>
          </p:nvSpPr>
          <p:spPr>
            <a:xfrm>
              <a:off x="8423183" y="3750972"/>
              <a:ext cx="1725701" cy="630620"/>
            </a:xfrm>
            <a:prstGeom prst="ellipse">
              <a:avLst/>
            </a:prstGeom>
            <a:solidFill>
              <a:srgbClr val="1635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历史数据</a:t>
              </a:r>
            </a:p>
          </p:txBody>
        </p:sp>
        <p:sp>
          <p:nvSpPr>
            <p:cNvPr id="23" name="文本框 19">
              <a:extLst>
                <a:ext uri="{FF2B5EF4-FFF2-40B4-BE49-F238E27FC236}">
                  <a16:creationId xmlns:a16="http://schemas.microsoft.com/office/drawing/2014/main" id="{49AC7D2C-7883-2320-58FA-C64F942B9FE8}"/>
                </a:ext>
              </a:extLst>
            </p:cNvPr>
            <p:cNvSpPr txBox="1"/>
            <p:nvPr/>
          </p:nvSpPr>
          <p:spPr>
            <a:xfrm>
              <a:off x="7361944" y="2322552"/>
              <a:ext cx="1417419"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400" b="0" i="0" u="none" strike="noStrike" kern="1200" cap="none" spc="0" normalizeH="0" baseline="0" noProof="0" dirty="0">
                  <a:ln>
                    <a:noFill/>
                  </a:ln>
                  <a:solidFill>
                    <a:srgbClr val="BD1801"/>
                  </a:solidFill>
                  <a:effectLst/>
                  <a:uLnTx/>
                  <a:uFillTx/>
                  <a:latin typeface="LANTINGHEI SC DEMIBOLD" panose="02000000000000000000" pitchFamily="2" charset="-122"/>
                  <a:ea typeface="LANTINGHEI SC DEMIBOLD" panose="02000000000000000000" pitchFamily="2" charset="-122"/>
                </a:rPr>
                <a:t>机器学习</a:t>
              </a:r>
            </a:p>
          </p:txBody>
        </p:sp>
      </p:grpSp>
    </p:spTree>
    <p:extLst>
      <p:ext uri="{BB962C8B-B14F-4D97-AF65-F5344CB8AC3E}">
        <p14:creationId xmlns:p14="http://schemas.microsoft.com/office/powerpoint/2010/main" val="3227733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a:t>
            </a:r>
            <a:r>
              <a:rPr lang="zh-CN" altLang="en-US" dirty="0"/>
              <a:t> </a:t>
            </a:r>
            <a:r>
              <a:rPr lang="en-US" altLang="zh-CN" dirty="0"/>
              <a:t>MNIST</a:t>
            </a:r>
            <a:r>
              <a:rPr lang="zh-CN" altLang="en-US" dirty="0"/>
              <a:t>案例</a:t>
            </a:r>
            <a:r>
              <a:rPr lang="en-US" altLang="zh-CN" dirty="0"/>
              <a:t>——</a:t>
            </a:r>
            <a:r>
              <a:rPr lang="zh-CN" altLang="en-US" dirty="0"/>
              <a:t>手写数字识别</a:t>
            </a:r>
          </a:p>
        </p:txBody>
      </p:sp>
      <p:sp>
        <p:nvSpPr>
          <p:cNvPr id="3" name="内容占位符 6">
            <a:extLst>
              <a:ext uri="{FF2B5EF4-FFF2-40B4-BE49-F238E27FC236}">
                <a16:creationId xmlns:a16="http://schemas.microsoft.com/office/drawing/2014/main" id="{D383AB81-947A-D300-4273-2B07D3505821}"/>
              </a:ext>
            </a:extLst>
          </p:cNvPr>
          <p:cNvSpPr>
            <a:spLocks noGrp="1"/>
          </p:cNvSpPr>
          <p:nvPr>
            <p:ph idx="1"/>
          </p:nvPr>
        </p:nvSpPr>
        <p:spPr>
          <a:xfrm>
            <a:off x="396444" y="1201479"/>
            <a:ext cx="11341287" cy="1750194"/>
          </a:xfrm>
        </p:spPr>
        <p:txBody>
          <a:bodyPr>
            <a:noAutofit/>
          </a:bodyPr>
          <a:lstStyle/>
          <a:p>
            <a:pPr>
              <a:buFont typeface="Wingdings" pitchFamily="2" charset="2"/>
              <a:buChar char="p"/>
            </a:pPr>
            <a:r>
              <a:rPr lang="zh-CN" altLang="en-US" dirty="0">
                <a:latin typeface="Microsoft YaHei" panose="020B0503020204020204" pitchFamily="34" charset="-122"/>
                <a:ea typeface="Microsoft YaHei" panose="020B0503020204020204" pitchFamily="34" charset="-122"/>
              </a:rPr>
              <a:t>假如我们在白纸上用黑色的笔写上一个数字（</a:t>
            </a:r>
            <a:r>
              <a:rPr lang="en-US" altLang="zh-CN" dirty="0">
                <a:latin typeface="Microsoft YaHei" panose="020B0503020204020204" pitchFamily="34" charset="-122"/>
                <a:ea typeface="Microsoft YaHei" panose="020B0503020204020204" pitchFamily="34" charset="-122"/>
              </a:rPr>
              <a:t>0-9</a:t>
            </a:r>
            <a:r>
              <a:rPr lang="zh-CN" altLang="en-US" dirty="0">
                <a:latin typeface="Microsoft YaHei" panose="020B0503020204020204" pitchFamily="34" charset="-122"/>
                <a:ea typeface="Microsoft YaHei" panose="020B0503020204020204" pitchFamily="34" charset="-122"/>
              </a:rPr>
              <a:t>），再用手机拍一张照片。我们希望让机器能够认知写了什么字。这就是典型的人工智能问题，机器如何识别一个手写体的数字。</a:t>
            </a:r>
          </a:p>
        </p:txBody>
      </p:sp>
      <p:pic>
        <p:nvPicPr>
          <p:cNvPr id="4" name="图片 7">
            <a:extLst>
              <a:ext uri="{FF2B5EF4-FFF2-40B4-BE49-F238E27FC236}">
                <a16:creationId xmlns:a16="http://schemas.microsoft.com/office/drawing/2014/main" id="{360547DF-729F-9BDA-BC30-9A9C1FE44F4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75111" y="2518337"/>
            <a:ext cx="5183951" cy="3138184"/>
          </a:xfrm>
          <a:prstGeom prst="rect">
            <a:avLst/>
          </a:prstGeom>
          <a:ln w="9525">
            <a:solidFill>
              <a:schemeClr val="tx1"/>
            </a:solidFill>
          </a:ln>
        </p:spPr>
      </p:pic>
    </p:spTree>
    <p:extLst>
      <p:ext uri="{BB962C8B-B14F-4D97-AF65-F5344CB8AC3E}">
        <p14:creationId xmlns:p14="http://schemas.microsoft.com/office/powerpoint/2010/main" val="15395623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a:t>
            </a:r>
            <a:r>
              <a:rPr lang="zh-CN" altLang="en-US" dirty="0"/>
              <a:t> </a:t>
            </a:r>
            <a:r>
              <a:rPr lang="en-US" altLang="zh-CN" dirty="0"/>
              <a:t>MNIST</a:t>
            </a:r>
            <a:r>
              <a:rPr lang="zh-CN" altLang="en-US" dirty="0"/>
              <a:t>案例</a:t>
            </a:r>
            <a:r>
              <a:rPr lang="en-US" altLang="zh-CN" dirty="0"/>
              <a:t>——</a:t>
            </a:r>
            <a:r>
              <a:rPr lang="zh-CN" altLang="en-US" dirty="0"/>
              <a:t>手写数字识别</a:t>
            </a:r>
          </a:p>
        </p:txBody>
      </p:sp>
      <p:sp>
        <p:nvSpPr>
          <p:cNvPr id="3" name="内容占位符 6">
            <a:extLst>
              <a:ext uri="{FF2B5EF4-FFF2-40B4-BE49-F238E27FC236}">
                <a16:creationId xmlns:a16="http://schemas.microsoft.com/office/drawing/2014/main" id="{D383AB81-947A-D300-4273-2B07D3505821}"/>
              </a:ext>
            </a:extLst>
          </p:cNvPr>
          <p:cNvSpPr>
            <a:spLocks noGrp="1"/>
          </p:cNvSpPr>
          <p:nvPr>
            <p:ph idx="1"/>
          </p:nvPr>
        </p:nvSpPr>
        <p:spPr>
          <a:xfrm>
            <a:off x="197662" y="1029200"/>
            <a:ext cx="11702790" cy="5054043"/>
          </a:xfrm>
        </p:spPr>
        <p:txBody>
          <a:bodyPr>
            <a:noAutofit/>
          </a:bodyPr>
          <a:lstStyle/>
          <a:p>
            <a:pPr>
              <a:buFont typeface="Wingdings" pitchFamily="2" charset="2"/>
              <a:buChar char="p"/>
            </a:pPr>
            <a:r>
              <a:rPr lang="zh-CN" altLang="en-US" sz="1800" b="0" dirty="0">
                <a:latin typeface="Microsoft YaHei" panose="020B0503020204020204" pitchFamily="34" charset="-122"/>
                <a:ea typeface="Microsoft YaHei" panose="020B0503020204020204" pitchFamily="34" charset="-122"/>
              </a:rPr>
              <a:t>要实现这样的人工智能手写数字识别应用，通常我们需要完成以下步骤：</a:t>
            </a:r>
          </a:p>
          <a:p>
            <a:pPr lvl="1">
              <a:buFont typeface="Wingdings" pitchFamily="2" charset="2"/>
              <a:buChar char="p"/>
            </a:pPr>
            <a:r>
              <a:rPr lang="zh-CN" altLang="en-US" sz="1600" b="0" dirty="0">
                <a:latin typeface="Microsoft YaHei" panose="020B0503020204020204" pitchFamily="34" charset="-122"/>
                <a:ea typeface="Microsoft YaHei" panose="020B0503020204020204" pitchFamily="34" charset="-122"/>
              </a:rPr>
              <a:t>第一步，数据加载和预处理，就是加载手写数字数据集，对数据进行必要的预处理，比如展平图像、标准化特征等。</a:t>
            </a:r>
          </a:p>
          <a:p>
            <a:pPr lvl="1">
              <a:buFont typeface="Wingdings" pitchFamily="2" charset="2"/>
              <a:buChar char="p"/>
            </a:pPr>
            <a:r>
              <a:rPr lang="zh-CN" altLang="en-US" sz="1600" b="0" dirty="0">
                <a:latin typeface="Microsoft YaHei" panose="020B0503020204020204" pitchFamily="34" charset="-122"/>
                <a:ea typeface="Microsoft YaHei" panose="020B0503020204020204" pitchFamily="34" charset="-122"/>
              </a:rPr>
              <a:t>第二步，模型选择和训练，就是选择一个合适的机器学习模型，使用训练数据来训练模型。</a:t>
            </a:r>
          </a:p>
          <a:p>
            <a:pPr lvl="1">
              <a:buFont typeface="Wingdings" pitchFamily="2" charset="2"/>
              <a:buChar char="p"/>
            </a:pPr>
            <a:r>
              <a:rPr lang="zh-CN" altLang="en-US" sz="1600" b="0" dirty="0">
                <a:latin typeface="Microsoft YaHei" panose="020B0503020204020204" pitchFamily="34" charset="-122"/>
                <a:ea typeface="Microsoft YaHei" panose="020B0503020204020204" pitchFamily="34" charset="-122"/>
              </a:rPr>
              <a:t>第三步，模型评估和调优，就是在测试数据上评估模型的性能，根据评估结果</a:t>
            </a:r>
            <a:r>
              <a:rPr lang="zh-CN" altLang="en-US" sz="1800" b="0" dirty="0">
                <a:latin typeface="Microsoft YaHei" panose="020B0503020204020204" pitchFamily="34" charset="-122"/>
                <a:ea typeface="Microsoft YaHei" panose="020B0503020204020204" pitchFamily="34" charset="-122"/>
              </a:rPr>
              <a:t>调整模型参数或选择其他模型以提高性能。</a:t>
            </a:r>
          </a:p>
          <a:p>
            <a:pPr lvl="1">
              <a:buFont typeface="Wingdings" pitchFamily="2" charset="2"/>
              <a:buChar char="p"/>
            </a:pPr>
            <a:r>
              <a:rPr lang="zh-CN" altLang="en-US" sz="1600" b="0" dirty="0">
                <a:latin typeface="Microsoft YaHei" panose="020B0503020204020204" pitchFamily="34" charset="-122"/>
                <a:ea typeface="Microsoft YaHei" panose="020B0503020204020204" pitchFamily="34" charset="-122"/>
              </a:rPr>
              <a:t>第四步，用户接口实现，就是完成设计一个用户界面，允许用户输入手写数字</a:t>
            </a:r>
            <a:r>
              <a:rPr lang="zh-CN" altLang="en-US" sz="1800" b="0" dirty="0">
                <a:latin typeface="Microsoft YaHei" panose="020B0503020204020204" pitchFamily="34" charset="-122"/>
                <a:ea typeface="Microsoft YaHei" panose="020B0503020204020204" pitchFamily="34" charset="-122"/>
              </a:rPr>
              <a:t>图像。并且，将用户输入的图像预处理成模型可以接受的格式。</a:t>
            </a:r>
            <a:endParaRPr lang="en-US" altLang="zh-CN" sz="1800" b="0" dirty="0">
              <a:latin typeface="Microsoft YaHei" panose="020B0503020204020204" pitchFamily="34" charset="-122"/>
              <a:ea typeface="Microsoft YaHei" panose="020B0503020204020204" pitchFamily="34" charset="-122"/>
            </a:endParaRPr>
          </a:p>
          <a:p>
            <a:pPr lvl="1">
              <a:buFont typeface="Wingdings" pitchFamily="2" charset="2"/>
              <a:buChar char="p"/>
            </a:pPr>
            <a:r>
              <a:rPr lang="zh-CN" altLang="en-US" sz="1800" b="0" dirty="0">
                <a:latin typeface="Microsoft YaHei" panose="020B0503020204020204" pitchFamily="34" charset="-122"/>
                <a:ea typeface="Microsoft YaHei" panose="020B0503020204020204" pitchFamily="34" charset="-122"/>
              </a:rPr>
              <a:t>第五步，预测和结果展示，使用训练好的模型对用户输入的图像进行预测，将预测结果展示给用户。</a:t>
            </a:r>
            <a:endParaRPr lang="en-US" altLang="zh-CN" sz="1600" b="0" dirty="0">
              <a:latin typeface="Microsoft YaHei" panose="020B0503020204020204" pitchFamily="34" charset="-122"/>
              <a:ea typeface="Microsoft YaHei" panose="020B0503020204020204" pitchFamily="34" charset="-122"/>
            </a:endParaRPr>
          </a:p>
          <a:p>
            <a:pPr>
              <a:buFont typeface="Wingdings" pitchFamily="2" charset="2"/>
              <a:buChar char="p"/>
            </a:pPr>
            <a:r>
              <a:rPr lang="zh-CN" altLang="en-US" sz="1800" b="0" dirty="0">
                <a:latin typeface="Microsoft YaHei" panose="020B0503020204020204" pitchFamily="34" charset="-122"/>
                <a:ea typeface="Microsoft YaHei" panose="020B0503020204020204" pitchFamily="34" charset="-122"/>
              </a:rPr>
              <a:t>以下给出了的是用 </a:t>
            </a:r>
            <a:r>
              <a:rPr lang="en-US" altLang="zh-CN" sz="1800" b="0" dirty="0">
                <a:latin typeface="Microsoft YaHei" panose="020B0503020204020204" pitchFamily="34" charset="-122"/>
                <a:ea typeface="Microsoft YaHei" panose="020B0503020204020204" pitchFamily="34" charset="-122"/>
              </a:rPr>
              <a:t>Python </a:t>
            </a:r>
            <a:r>
              <a:rPr lang="zh-CN" altLang="en-US" sz="1800" b="0" dirty="0">
                <a:latin typeface="Microsoft YaHei" panose="020B0503020204020204" pitchFamily="34" charset="-122"/>
                <a:ea typeface="Microsoft YaHei" panose="020B0503020204020204" pitchFamily="34" charset="-122"/>
              </a:rPr>
              <a:t>语言并使用 </a:t>
            </a:r>
            <a:r>
              <a:rPr lang="en-US" altLang="zh-CN" sz="1800" b="0" dirty="0">
                <a:latin typeface="Microsoft YaHei" panose="020B0503020204020204" pitchFamily="34" charset="-122"/>
                <a:ea typeface="Microsoft YaHei" panose="020B0503020204020204" pitchFamily="34" charset="-122"/>
              </a:rPr>
              <a:t>Scikit-learn </a:t>
            </a:r>
            <a:r>
              <a:rPr lang="zh-CN" altLang="en-US" sz="1800" b="0" dirty="0">
                <a:latin typeface="Microsoft YaHei" panose="020B0503020204020204" pitchFamily="34" charset="-122"/>
                <a:ea typeface="Microsoft YaHei" panose="020B0503020204020204" pitchFamily="34" charset="-122"/>
              </a:rPr>
              <a:t>库进行手写数字识别的完整示 例 。 这 个 示 例 使 用 了 </a:t>
            </a:r>
            <a:r>
              <a:rPr lang="en-US" altLang="zh-CN" sz="1800" b="0" dirty="0">
                <a:latin typeface="Microsoft YaHei" panose="020B0503020204020204" pitchFamily="34" charset="-122"/>
                <a:ea typeface="Microsoft YaHei" panose="020B0503020204020204" pitchFamily="34" charset="-122"/>
              </a:rPr>
              <a:t>Digits </a:t>
            </a:r>
            <a:r>
              <a:rPr lang="zh-CN" altLang="en-US" sz="1800" b="0" dirty="0">
                <a:latin typeface="Microsoft YaHei" panose="020B0503020204020204" pitchFamily="34" charset="-122"/>
                <a:ea typeface="Microsoft YaHei" panose="020B0503020204020204" pitchFamily="34" charset="-122"/>
              </a:rPr>
              <a:t>数 据 集 ， 通 过 </a:t>
            </a:r>
            <a:r>
              <a:rPr lang="en-US" altLang="zh-CN" sz="1800" b="0" dirty="0">
                <a:latin typeface="Microsoft YaHei" panose="020B0503020204020204" pitchFamily="34" charset="-122"/>
                <a:ea typeface="Microsoft YaHei" panose="020B0503020204020204" pitchFamily="34" charset="-122"/>
              </a:rPr>
              <a:t>K - </a:t>
            </a:r>
            <a:r>
              <a:rPr lang="zh-CN" altLang="en-US" sz="1800" b="0" dirty="0">
                <a:latin typeface="Microsoft YaHei" panose="020B0503020204020204" pitchFamily="34" charset="-122"/>
                <a:ea typeface="Microsoft YaHei" panose="020B0503020204020204" pitchFamily="34" charset="-122"/>
              </a:rPr>
              <a:t>近 邻（</a:t>
            </a:r>
            <a:r>
              <a:rPr lang="en-US" altLang="zh-CN" sz="1800" b="0" dirty="0">
                <a:latin typeface="Microsoft YaHei" panose="020B0503020204020204" pitchFamily="34" charset="-122"/>
                <a:ea typeface="Microsoft YaHei" panose="020B0503020204020204" pitchFamily="34" charset="-122"/>
              </a:rPr>
              <a:t>K-Nearest Neighbors</a:t>
            </a:r>
            <a:r>
              <a:rPr lang="zh-CN" altLang="en-US" sz="1800" b="0" dirty="0">
                <a:latin typeface="Microsoft YaHei" panose="020B0503020204020204" pitchFamily="34" charset="-122"/>
                <a:ea typeface="Microsoft YaHei" panose="020B0503020204020204" pitchFamily="34" charset="-122"/>
              </a:rPr>
              <a:t>，</a:t>
            </a:r>
            <a:r>
              <a:rPr lang="en-US" altLang="zh-CN" sz="1800" b="0" dirty="0">
                <a:latin typeface="Microsoft YaHei" panose="020B0503020204020204" pitchFamily="34" charset="-122"/>
                <a:ea typeface="Microsoft YaHei" panose="020B0503020204020204" pitchFamily="34" charset="-122"/>
              </a:rPr>
              <a:t>KNN</a:t>
            </a:r>
            <a:r>
              <a:rPr lang="zh-CN" altLang="en-US" sz="1800" b="0" dirty="0">
                <a:latin typeface="Microsoft YaHei" panose="020B0503020204020204" pitchFamily="34" charset="-122"/>
                <a:ea typeface="Microsoft YaHei" panose="020B0503020204020204" pitchFamily="34" charset="-122"/>
              </a:rPr>
              <a:t>）分类器来识别手写数字，并计算了模型的准确率。</a:t>
            </a:r>
            <a:endParaRPr lang="en-US" altLang="zh-CN" sz="1800" b="0" dirty="0">
              <a:latin typeface="Microsoft YaHei" panose="020B0503020204020204" pitchFamily="34" charset="-122"/>
              <a:ea typeface="Microsoft YaHei" panose="020B0503020204020204" pitchFamily="34" charset="-122"/>
            </a:endParaRPr>
          </a:p>
          <a:p>
            <a:pPr>
              <a:buFont typeface="Wingdings" pitchFamily="2" charset="2"/>
              <a:buChar char="p"/>
            </a:pPr>
            <a:endParaRPr lang="en-US" altLang="zh-CN" sz="1800" b="0" dirty="0">
              <a:latin typeface="Microsoft YaHei" panose="020B0503020204020204" pitchFamily="34" charset="-122"/>
              <a:ea typeface="Microsoft YaHei" panose="020B0503020204020204" pitchFamily="34" charset="-122"/>
            </a:endParaRPr>
          </a:p>
          <a:p>
            <a:pPr lvl="1">
              <a:buFont typeface="Wingdings" pitchFamily="2" charset="2"/>
              <a:buChar char="q"/>
            </a:pPr>
            <a:endParaRPr lang="en-US" altLang="zh-CN" b="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452960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a:t>
            </a:r>
            <a:r>
              <a:rPr lang="zh-CN" altLang="en-US" dirty="0"/>
              <a:t> </a:t>
            </a:r>
            <a:r>
              <a:rPr lang="en-US" altLang="zh-CN" dirty="0"/>
              <a:t>MNIST</a:t>
            </a:r>
            <a:r>
              <a:rPr lang="zh-CN" altLang="en-US" dirty="0"/>
              <a:t>案例</a:t>
            </a:r>
            <a:r>
              <a:rPr lang="en-US" altLang="zh-CN" dirty="0"/>
              <a:t>——</a:t>
            </a:r>
            <a:r>
              <a:rPr lang="zh-CN" altLang="en-US" dirty="0"/>
              <a:t>手写数字识别</a:t>
            </a:r>
          </a:p>
        </p:txBody>
      </p:sp>
      <p:pic>
        <p:nvPicPr>
          <p:cNvPr id="7" name="Content Placeholder 6">
            <a:extLst>
              <a:ext uri="{FF2B5EF4-FFF2-40B4-BE49-F238E27FC236}">
                <a16:creationId xmlns:a16="http://schemas.microsoft.com/office/drawing/2014/main" id="{FB6AA7B7-C52D-C773-A078-E2B24A21E27B}"/>
              </a:ext>
            </a:extLst>
          </p:cNvPr>
          <p:cNvPicPr>
            <a:picLocks noGrp="1" noChangeAspect="1"/>
          </p:cNvPicPr>
          <p:nvPr>
            <p:ph idx="1"/>
          </p:nvPr>
        </p:nvPicPr>
        <p:blipFill>
          <a:blip r:embed="rId2"/>
          <a:stretch>
            <a:fillRect/>
          </a:stretch>
        </p:blipFill>
        <p:spPr>
          <a:xfrm>
            <a:off x="689811" y="1581568"/>
            <a:ext cx="5724660" cy="3694864"/>
          </a:xfrm>
        </p:spPr>
      </p:pic>
      <p:pic>
        <p:nvPicPr>
          <p:cNvPr id="9" name="Picture 8">
            <a:extLst>
              <a:ext uri="{FF2B5EF4-FFF2-40B4-BE49-F238E27FC236}">
                <a16:creationId xmlns:a16="http://schemas.microsoft.com/office/drawing/2014/main" id="{CC7077C4-57D2-B661-C29F-6D63B4453DB6}"/>
              </a:ext>
            </a:extLst>
          </p:cNvPr>
          <p:cNvPicPr>
            <a:picLocks noChangeAspect="1"/>
          </p:cNvPicPr>
          <p:nvPr/>
        </p:nvPicPr>
        <p:blipFill rotWithShape="1">
          <a:blip r:embed="rId3"/>
          <a:srcRect r="25390"/>
          <a:stretch/>
        </p:blipFill>
        <p:spPr>
          <a:xfrm>
            <a:off x="6753034" y="1581568"/>
            <a:ext cx="4749155" cy="3694865"/>
          </a:xfrm>
          <a:prstGeom prst="rect">
            <a:avLst/>
          </a:prstGeom>
        </p:spPr>
      </p:pic>
    </p:spTree>
    <p:extLst>
      <p:ext uri="{BB962C8B-B14F-4D97-AF65-F5344CB8AC3E}">
        <p14:creationId xmlns:p14="http://schemas.microsoft.com/office/powerpoint/2010/main" val="586061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a:t>
            </a:r>
            <a:r>
              <a:rPr lang="zh-CN" altLang="en-US" dirty="0"/>
              <a:t> 机器识别概述</a:t>
            </a:r>
          </a:p>
        </p:txBody>
      </p:sp>
      <p:sp>
        <p:nvSpPr>
          <p:cNvPr id="3" name="内容占位符 6">
            <a:extLst>
              <a:ext uri="{FF2B5EF4-FFF2-40B4-BE49-F238E27FC236}">
                <a16:creationId xmlns:a16="http://schemas.microsoft.com/office/drawing/2014/main" id="{7EE28C9D-339B-710E-38BF-8D3C83C1EAC5}"/>
              </a:ext>
            </a:extLst>
          </p:cNvPr>
          <p:cNvSpPr>
            <a:spLocks noGrp="1"/>
          </p:cNvSpPr>
          <p:nvPr>
            <p:ph idx="1"/>
          </p:nvPr>
        </p:nvSpPr>
        <p:spPr>
          <a:xfrm>
            <a:off x="197661" y="1091968"/>
            <a:ext cx="11702791" cy="5110049"/>
          </a:xfrm>
        </p:spPr>
        <p:txBody>
          <a:bodyPr>
            <a:noAutofit/>
          </a:bodyPr>
          <a:lstStyle/>
          <a:p>
            <a:pPr>
              <a:buFont typeface="Wingdings" pitchFamily="2" charset="2"/>
              <a:buChar char="p"/>
            </a:pPr>
            <a:r>
              <a:rPr lang="zh-CN" altLang="en-US" b="0" dirty="0">
                <a:latin typeface="Microsoft YaHei" panose="020B0503020204020204" pitchFamily="34" charset="-122"/>
                <a:ea typeface="Microsoft YaHei" panose="020B0503020204020204" pitchFamily="34" charset="-122"/>
              </a:rPr>
              <a:t>定义： 机器识别是指计算机系统通过分析和理解数据来识别模式、对象或信息的过程。常见的机器识别包括图像识别、语音识别和文本识别。</a:t>
            </a:r>
          </a:p>
          <a:p>
            <a:pPr>
              <a:buFont typeface="Wingdings" pitchFamily="2" charset="2"/>
              <a:buChar char="p"/>
            </a:pPr>
            <a:r>
              <a:rPr lang="zh-CN" altLang="en-US" b="0" dirty="0">
                <a:latin typeface="Microsoft YaHei" panose="020B0503020204020204" pitchFamily="34" charset="-122"/>
                <a:ea typeface="Microsoft YaHei" panose="020B0503020204020204" pitchFamily="34" charset="-122"/>
              </a:rPr>
              <a:t>重要性： 机器识别技术在许多领域有着广泛应用，如自动驾驶汽车、虚拟助手、医疗诊断和安全监控等。</a:t>
            </a:r>
          </a:p>
          <a:p>
            <a:pPr>
              <a:buFont typeface="Wingdings" pitchFamily="2" charset="2"/>
              <a:buChar char="p"/>
            </a:pPr>
            <a:r>
              <a:rPr lang="zh-CN" altLang="en-US" b="0" dirty="0">
                <a:latin typeface="Microsoft YaHei" panose="020B0503020204020204" pitchFamily="34" charset="-122"/>
                <a:ea typeface="Microsoft YaHei" panose="020B0503020204020204" pitchFamily="34" charset="-122"/>
              </a:rPr>
              <a:t>应用场景： 展示一些典型应用场景的图片或视频，例如自动驾驶汽车识别交通标志、智能音响识别语音命令。</a:t>
            </a:r>
          </a:p>
        </p:txBody>
      </p:sp>
    </p:spTree>
    <p:extLst>
      <p:ext uri="{BB962C8B-B14F-4D97-AF65-F5344CB8AC3E}">
        <p14:creationId xmlns:p14="http://schemas.microsoft.com/office/powerpoint/2010/main" val="1993530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a:t>
            </a:r>
            <a:r>
              <a:rPr lang="zh-CN" altLang="en-US" dirty="0"/>
              <a:t> 机器识别的工作原理</a:t>
            </a:r>
          </a:p>
        </p:txBody>
      </p:sp>
      <p:sp>
        <p:nvSpPr>
          <p:cNvPr id="3" name="内容占位符 6">
            <a:extLst>
              <a:ext uri="{FF2B5EF4-FFF2-40B4-BE49-F238E27FC236}">
                <a16:creationId xmlns:a16="http://schemas.microsoft.com/office/drawing/2014/main" id="{57E51F32-3576-3819-B6A8-8626D61957C5}"/>
              </a:ext>
            </a:extLst>
          </p:cNvPr>
          <p:cNvSpPr>
            <a:spLocks noGrp="1"/>
          </p:cNvSpPr>
          <p:nvPr>
            <p:ph idx="1"/>
          </p:nvPr>
        </p:nvSpPr>
        <p:spPr>
          <a:xfrm>
            <a:off x="250670" y="906437"/>
            <a:ext cx="11341287" cy="4382515"/>
          </a:xfrm>
        </p:spPr>
        <p:txBody>
          <a:bodyPr>
            <a:noAutofit/>
          </a:bodyPr>
          <a:lstStyle/>
          <a:p>
            <a:pPr>
              <a:buFont typeface="Wingdings" pitchFamily="2" charset="2"/>
              <a:buChar char="p"/>
            </a:pPr>
            <a:r>
              <a:rPr lang="zh-CN" altLang="en-US" b="0" dirty="0">
                <a:latin typeface="Microsoft YaHei" panose="020B0503020204020204" pitchFamily="34" charset="-122"/>
                <a:ea typeface="Microsoft YaHei" panose="020B0503020204020204" pitchFamily="34" charset="-122"/>
              </a:rPr>
              <a:t>基本原理： </a:t>
            </a:r>
            <a:endParaRPr lang="en-US" altLang="zh-CN" b="0" dirty="0">
              <a:latin typeface="Microsoft YaHei" panose="020B0503020204020204" pitchFamily="34" charset="-122"/>
              <a:ea typeface="Microsoft YaHei" panose="020B0503020204020204" pitchFamily="34" charset="-122"/>
            </a:endParaRPr>
          </a:p>
          <a:p>
            <a:pPr marL="457200" lvl="1" indent="0">
              <a:buNone/>
            </a:pPr>
            <a:r>
              <a:rPr lang="zh-CN" altLang="en-US" b="0" dirty="0">
                <a:latin typeface="Microsoft YaHei" panose="020B0503020204020204" pitchFamily="34" charset="-122"/>
                <a:ea typeface="Microsoft YaHei" panose="020B0503020204020204" pitchFamily="34" charset="-122"/>
              </a:rPr>
              <a:t>机器识别依赖于数据输入、特征提取、模型训练和预测四个主要步骤。</a:t>
            </a:r>
            <a:endParaRPr lang="en-US" altLang="zh-CN" b="0" dirty="0">
              <a:latin typeface="Microsoft YaHei" panose="020B0503020204020204" pitchFamily="34" charset="-122"/>
              <a:ea typeface="Microsoft YaHei" panose="020B0503020204020204" pitchFamily="34" charset="-122"/>
            </a:endParaRPr>
          </a:p>
          <a:p>
            <a:pPr marL="457200" lvl="1" indent="0">
              <a:buNone/>
            </a:pPr>
            <a:r>
              <a:rPr lang="zh-CN" altLang="en-US" b="0" dirty="0">
                <a:latin typeface="Microsoft YaHei" panose="020B0503020204020204" pitchFamily="34" charset="-122"/>
                <a:ea typeface="Microsoft YaHei" panose="020B0503020204020204" pitchFamily="34" charset="-122"/>
              </a:rPr>
              <a:t>数据输入通过传感器或其他数据采集设备获取，特征提取用于从原始数据中提取有用信息，模型训练是基于特征数据进行学习，预测则是模型对新数据进行分类或识别。</a:t>
            </a:r>
            <a:endParaRPr lang="en-US" altLang="zh-CN" b="0" dirty="0">
              <a:latin typeface="Microsoft YaHei" panose="020B0503020204020204" pitchFamily="34" charset="-122"/>
              <a:ea typeface="Microsoft YaHei" panose="020B0503020204020204" pitchFamily="34" charset="-122"/>
            </a:endParaRPr>
          </a:p>
          <a:p>
            <a:pPr marL="457200" lvl="1" indent="0">
              <a:buNone/>
            </a:pPr>
            <a:endParaRPr lang="zh-CN" altLang="en-US" b="0" dirty="0">
              <a:latin typeface="Microsoft YaHei" panose="020B0503020204020204" pitchFamily="34" charset="-122"/>
              <a:ea typeface="Microsoft YaHei" panose="020B0503020204020204" pitchFamily="34" charset="-122"/>
            </a:endParaRPr>
          </a:p>
          <a:p>
            <a:pPr>
              <a:buFont typeface="Wingdings" pitchFamily="2" charset="2"/>
              <a:buChar char="p"/>
            </a:pPr>
            <a:r>
              <a:rPr lang="zh-CN" altLang="en-US" b="0" dirty="0">
                <a:latin typeface="Microsoft YaHei" panose="020B0503020204020204" pitchFamily="34" charset="-122"/>
                <a:ea typeface="Microsoft YaHei" panose="020B0503020204020204" pitchFamily="34" charset="-122"/>
              </a:rPr>
              <a:t>技术基础：</a:t>
            </a:r>
            <a:endParaRPr lang="en-US" altLang="zh-CN" b="0" dirty="0">
              <a:latin typeface="Microsoft YaHei" panose="020B0503020204020204" pitchFamily="34" charset="-122"/>
              <a:ea typeface="Microsoft YaHei" panose="020B0503020204020204" pitchFamily="34" charset="-122"/>
            </a:endParaRPr>
          </a:p>
          <a:p>
            <a:pPr marL="457200" lvl="1" indent="0">
              <a:buNone/>
            </a:pPr>
            <a:r>
              <a:rPr lang="zh-CN" altLang="en-US" b="0" dirty="0">
                <a:latin typeface="Microsoft YaHei" panose="020B0503020204020204" pitchFamily="34" charset="-122"/>
                <a:ea typeface="Microsoft YaHei" panose="020B0503020204020204" pitchFamily="34" charset="-122"/>
              </a:rPr>
              <a:t>机器学习</a:t>
            </a:r>
            <a:r>
              <a:rPr lang="zh-CN" altLang="en" b="0" dirty="0">
                <a:latin typeface="Microsoft YaHei" panose="020B0503020204020204" pitchFamily="34" charset="-122"/>
                <a:ea typeface="Microsoft YaHei" panose="020B0503020204020204" pitchFamily="34" charset="-122"/>
              </a:rPr>
              <a:t>： </a:t>
            </a:r>
            <a:r>
              <a:rPr lang="zh-CN" altLang="en-US" b="0" dirty="0">
                <a:latin typeface="Microsoft YaHei" panose="020B0503020204020204" pitchFamily="34" charset="-122"/>
                <a:ea typeface="Microsoft YaHei" panose="020B0503020204020204" pitchFamily="34" charset="-122"/>
              </a:rPr>
              <a:t>基于数据进行模式识别和预测。</a:t>
            </a:r>
            <a:endParaRPr lang="en-US" altLang="zh-CN" b="0" dirty="0">
              <a:latin typeface="Microsoft YaHei" panose="020B0503020204020204" pitchFamily="34" charset="-122"/>
              <a:ea typeface="Microsoft YaHei" panose="020B0503020204020204" pitchFamily="34" charset="-122"/>
            </a:endParaRPr>
          </a:p>
          <a:p>
            <a:pPr marL="457200" lvl="1" indent="0">
              <a:buNone/>
            </a:pPr>
            <a:r>
              <a:rPr lang="zh-CN" altLang="en-US" b="0" dirty="0">
                <a:latin typeface="Microsoft YaHei" panose="020B0503020204020204" pitchFamily="34" charset="-122"/>
                <a:ea typeface="Microsoft YaHei" panose="020B0503020204020204" pitchFamily="34" charset="-122"/>
              </a:rPr>
              <a:t>深度学习</a:t>
            </a:r>
            <a:r>
              <a:rPr lang="zh-CN" altLang="en" b="0" dirty="0">
                <a:latin typeface="Microsoft YaHei" panose="020B0503020204020204" pitchFamily="34" charset="-122"/>
                <a:ea typeface="Microsoft YaHei" panose="020B0503020204020204" pitchFamily="34" charset="-122"/>
              </a:rPr>
              <a:t>： </a:t>
            </a:r>
            <a:r>
              <a:rPr lang="zh-CN" altLang="en-US" b="0" dirty="0">
                <a:latin typeface="Microsoft YaHei" panose="020B0503020204020204" pitchFamily="34" charset="-122"/>
                <a:ea typeface="Microsoft YaHei" panose="020B0503020204020204" pitchFamily="34" charset="-122"/>
              </a:rPr>
              <a:t>通过神经网络模拟人脑的处理方式进行复杂模式识别。</a:t>
            </a:r>
          </a:p>
        </p:txBody>
      </p:sp>
    </p:spTree>
    <p:extLst>
      <p:ext uri="{BB962C8B-B14F-4D97-AF65-F5344CB8AC3E}">
        <p14:creationId xmlns:p14="http://schemas.microsoft.com/office/powerpoint/2010/main" val="3296686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a:t>
            </a:r>
            <a:r>
              <a:rPr lang="zh-CN" altLang="en-US" dirty="0"/>
              <a:t> 机器学习</a:t>
            </a:r>
            <a:r>
              <a:rPr lang="en-US" altLang="zh-CN" dirty="0"/>
              <a:t>&amp;</a:t>
            </a:r>
            <a:r>
              <a:rPr lang="zh-CN" altLang="en-US" dirty="0"/>
              <a:t>深度学习</a:t>
            </a:r>
          </a:p>
        </p:txBody>
      </p:sp>
      <p:sp>
        <p:nvSpPr>
          <p:cNvPr id="54" name="内容占位符 2">
            <a:extLst>
              <a:ext uri="{FF2B5EF4-FFF2-40B4-BE49-F238E27FC236}">
                <a16:creationId xmlns:a16="http://schemas.microsoft.com/office/drawing/2014/main" id="{20A007B5-8301-3933-91FF-9AC846562858}"/>
              </a:ext>
            </a:extLst>
          </p:cNvPr>
          <p:cNvSpPr>
            <a:spLocks noGrp="1"/>
          </p:cNvSpPr>
          <p:nvPr>
            <p:ph idx="1"/>
          </p:nvPr>
        </p:nvSpPr>
        <p:spPr>
          <a:xfrm>
            <a:off x="316658" y="4695038"/>
            <a:ext cx="11676926" cy="1561540"/>
          </a:xfrm>
        </p:spPr>
        <p:txBody>
          <a:bodyPr>
            <a:noAutofit/>
          </a:bodyPr>
          <a:lstStyle/>
          <a:p>
            <a:pPr marL="342900" indent="-342900">
              <a:lnSpc>
                <a:spcPct val="100000"/>
              </a:lnSpc>
              <a:buFont typeface="Wingdings" pitchFamily="2" charset="2"/>
              <a:buChar char="p"/>
              <a:defRPr/>
            </a:pPr>
            <a:r>
              <a:rPr lang="zh-CN" altLang="en-US" sz="2000" b="0" dirty="0">
                <a:solidFill>
                  <a:srgbClr val="221F20"/>
                </a:solidFill>
                <a:latin typeface="Microsoft YaHei" panose="020B0503020204020204" pitchFamily="34" charset="-122"/>
                <a:ea typeface="Microsoft YaHei" panose="020B0503020204020204" pitchFamily="34" charset="-122"/>
              </a:rPr>
              <a:t>深度学习是使用包含复杂结构或由多重非线性变换构成的多个处理层对数据进行高层抽象的算法。</a:t>
            </a:r>
          </a:p>
          <a:p>
            <a:pPr marL="342900" indent="-342900">
              <a:lnSpc>
                <a:spcPct val="100000"/>
              </a:lnSpc>
              <a:buFont typeface="Wingdings" pitchFamily="2" charset="2"/>
              <a:buChar char="p"/>
              <a:defRPr/>
            </a:pPr>
            <a:r>
              <a:rPr lang="zh-CN" altLang="en-US" sz="2000" b="0" dirty="0">
                <a:solidFill>
                  <a:srgbClr val="221F20"/>
                </a:solidFill>
                <a:latin typeface="Microsoft YaHei" panose="020B0503020204020204" pitchFamily="34" charset="-122"/>
                <a:ea typeface="Microsoft YaHei" panose="020B0503020204020204" pitchFamily="34" charset="-122"/>
              </a:rPr>
              <a:t>深度学习是一种基于对数据进行表征学习的方法。观测值（例如一幅图像）可以使用多种方式来表示，如每个像素强度值的向量，或者更抽象地表示成一系列边、特定形状的区域等。而使用某些特定的表示方法更容易从实例中学习任务（例如，人脸识别或面部表情识别）。深度学习的好处是用非监督式或半监督式的特征学习和分层特征提取高效算法来替代手工获取特征。</a:t>
            </a:r>
          </a:p>
        </p:txBody>
      </p:sp>
      <p:grpSp>
        <p:nvGrpSpPr>
          <p:cNvPr id="55" name="组合 79">
            <a:extLst>
              <a:ext uri="{FF2B5EF4-FFF2-40B4-BE49-F238E27FC236}">
                <a16:creationId xmlns:a16="http://schemas.microsoft.com/office/drawing/2014/main" id="{A6B01705-B66D-809F-48B4-F6A937D2B7F6}"/>
              </a:ext>
            </a:extLst>
          </p:cNvPr>
          <p:cNvGrpSpPr/>
          <p:nvPr/>
        </p:nvGrpSpPr>
        <p:grpSpPr>
          <a:xfrm>
            <a:off x="316658" y="949691"/>
            <a:ext cx="7953168" cy="3634539"/>
            <a:chOff x="66023" y="658638"/>
            <a:chExt cx="8181204" cy="3943507"/>
          </a:xfrm>
        </p:grpSpPr>
        <p:sp>
          <p:nvSpPr>
            <p:cNvPr id="56" name="圆角矩形 65">
              <a:extLst>
                <a:ext uri="{FF2B5EF4-FFF2-40B4-BE49-F238E27FC236}">
                  <a16:creationId xmlns:a16="http://schemas.microsoft.com/office/drawing/2014/main" id="{B71FDCA3-DE74-420B-90C9-F12B7E06CA37}"/>
                </a:ext>
              </a:extLst>
            </p:cNvPr>
            <p:cNvSpPr/>
            <p:nvPr/>
          </p:nvSpPr>
          <p:spPr>
            <a:xfrm>
              <a:off x="66023" y="705274"/>
              <a:ext cx="3872065" cy="3896871"/>
            </a:xfrm>
            <a:prstGeom prst="roundRect">
              <a:avLst>
                <a:gd name="adj" fmla="val 5042"/>
              </a:avLst>
            </a:prstGeom>
            <a:no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7" name="圆角矩形 66">
              <a:extLst>
                <a:ext uri="{FF2B5EF4-FFF2-40B4-BE49-F238E27FC236}">
                  <a16:creationId xmlns:a16="http://schemas.microsoft.com/office/drawing/2014/main" id="{C97A4D0A-D706-D685-E647-D8E3DA12F913}"/>
                </a:ext>
              </a:extLst>
            </p:cNvPr>
            <p:cNvSpPr/>
            <p:nvPr/>
          </p:nvSpPr>
          <p:spPr>
            <a:xfrm>
              <a:off x="4218370" y="658638"/>
              <a:ext cx="4028857" cy="3896871"/>
            </a:xfrm>
            <a:prstGeom prst="roundRect">
              <a:avLst>
                <a:gd name="adj" fmla="val 5064"/>
              </a:avLst>
            </a:prstGeom>
            <a:no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grpSp>
          <p:nvGrpSpPr>
            <p:cNvPr id="58" name="组合 8">
              <a:extLst>
                <a:ext uri="{FF2B5EF4-FFF2-40B4-BE49-F238E27FC236}">
                  <a16:creationId xmlns:a16="http://schemas.microsoft.com/office/drawing/2014/main" id="{689FC177-DF07-1FEA-F13C-4FBDB728729A}"/>
                </a:ext>
              </a:extLst>
            </p:cNvPr>
            <p:cNvGrpSpPr/>
            <p:nvPr/>
          </p:nvGrpSpPr>
          <p:grpSpPr>
            <a:xfrm>
              <a:off x="86259" y="909098"/>
              <a:ext cx="3880123" cy="3442310"/>
              <a:chOff x="43581" y="820795"/>
              <a:chExt cx="3880123" cy="3442310"/>
            </a:xfrm>
          </p:grpSpPr>
          <p:sp>
            <p:nvSpPr>
              <p:cNvPr id="75" name="矩形 33">
                <a:extLst>
                  <a:ext uri="{FF2B5EF4-FFF2-40B4-BE49-F238E27FC236}">
                    <a16:creationId xmlns:a16="http://schemas.microsoft.com/office/drawing/2014/main" id="{5A20F727-4191-BB2F-81F7-8FE04606BD9C}"/>
                  </a:ext>
                </a:extLst>
              </p:cNvPr>
              <p:cNvSpPr/>
              <p:nvPr/>
            </p:nvSpPr>
            <p:spPr>
              <a:xfrm>
                <a:off x="1277007" y="3548402"/>
                <a:ext cx="1376855" cy="714703"/>
              </a:xfrm>
              <a:prstGeom prst="rect">
                <a:avLst/>
              </a:prstGeom>
              <a:solidFill>
                <a:srgbClr val="1635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solidFill>
                      <a:prstClr val="white"/>
                    </a:solidFill>
                    <a:effectLst/>
                    <a:uLnTx/>
                    <a:uFillTx/>
                    <a:latin typeface="Microsoft YaHei" panose="020B0503020204020204" pitchFamily="34" charset="-122"/>
                    <a:ea typeface="Microsoft YaHei" panose="020B0503020204020204" pitchFamily="34" charset="-122"/>
                    <a:cs typeface="+mn-cs"/>
                  </a:rPr>
                  <a:t>模型</a:t>
                </a:r>
              </a:p>
            </p:txBody>
          </p:sp>
          <p:sp>
            <p:nvSpPr>
              <p:cNvPr id="76" name="文本框 44">
                <a:extLst>
                  <a:ext uri="{FF2B5EF4-FFF2-40B4-BE49-F238E27FC236}">
                    <a16:creationId xmlns:a16="http://schemas.microsoft.com/office/drawing/2014/main" id="{3F3A738D-6438-2915-C189-70BF12D63655}"/>
                  </a:ext>
                </a:extLst>
              </p:cNvPr>
              <p:cNvSpPr txBox="1"/>
              <p:nvPr/>
            </p:nvSpPr>
            <p:spPr>
              <a:xfrm>
                <a:off x="91173" y="3225237"/>
                <a:ext cx="646331"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新的</a:t>
                </a:r>
                <a:endParaRPr kumimoji="1" lang="en-US" altLang="zh-CN" sz="18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数据</a:t>
                </a:r>
              </a:p>
            </p:txBody>
          </p:sp>
          <p:sp>
            <p:nvSpPr>
              <p:cNvPr id="77" name="文本框 45">
                <a:extLst>
                  <a:ext uri="{FF2B5EF4-FFF2-40B4-BE49-F238E27FC236}">
                    <a16:creationId xmlns:a16="http://schemas.microsoft.com/office/drawing/2014/main" id="{9CD8483D-999B-D1D1-6E32-85ECFD6A0571}"/>
                  </a:ext>
                </a:extLst>
              </p:cNvPr>
              <p:cNvSpPr txBox="1"/>
              <p:nvPr/>
            </p:nvSpPr>
            <p:spPr>
              <a:xfrm>
                <a:off x="593236" y="3537192"/>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输入</a:t>
                </a:r>
              </a:p>
            </p:txBody>
          </p:sp>
          <p:sp>
            <p:nvSpPr>
              <p:cNvPr id="78" name="文本框 46">
                <a:extLst>
                  <a:ext uri="{FF2B5EF4-FFF2-40B4-BE49-F238E27FC236}">
                    <a16:creationId xmlns:a16="http://schemas.microsoft.com/office/drawing/2014/main" id="{67737EC4-48A6-D898-E936-9A7FE81C1BED}"/>
                  </a:ext>
                </a:extLst>
              </p:cNvPr>
              <p:cNvSpPr txBox="1"/>
              <p:nvPr/>
            </p:nvSpPr>
            <p:spPr>
              <a:xfrm>
                <a:off x="2665059" y="3545968"/>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预测</a:t>
                </a:r>
              </a:p>
            </p:txBody>
          </p:sp>
          <p:sp>
            <p:nvSpPr>
              <p:cNvPr id="79" name="文本框 47">
                <a:extLst>
                  <a:ext uri="{FF2B5EF4-FFF2-40B4-BE49-F238E27FC236}">
                    <a16:creationId xmlns:a16="http://schemas.microsoft.com/office/drawing/2014/main" id="{C14365F2-D7CF-6932-819C-156A845C888E}"/>
                  </a:ext>
                </a:extLst>
              </p:cNvPr>
              <p:cNvSpPr txBox="1"/>
              <p:nvPr/>
            </p:nvSpPr>
            <p:spPr>
              <a:xfrm>
                <a:off x="1954422" y="3072807"/>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训练</a:t>
                </a:r>
              </a:p>
            </p:txBody>
          </p:sp>
          <p:sp>
            <p:nvSpPr>
              <p:cNvPr id="80" name="文本框 48">
                <a:extLst>
                  <a:ext uri="{FF2B5EF4-FFF2-40B4-BE49-F238E27FC236}">
                    <a16:creationId xmlns:a16="http://schemas.microsoft.com/office/drawing/2014/main" id="{89ED1F50-158C-E3BB-8A6D-40B6AA753296}"/>
                  </a:ext>
                </a:extLst>
              </p:cNvPr>
              <p:cNvSpPr txBox="1"/>
              <p:nvPr/>
            </p:nvSpPr>
            <p:spPr>
              <a:xfrm>
                <a:off x="3277373" y="3584478"/>
                <a:ext cx="646331"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未知</a:t>
                </a:r>
                <a:endParaRPr kumimoji="1" lang="en-US" altLang="zh-CN" sz="18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属性</a:t>
                </a:r>
              </a:p>
            </p:txBody>
          </p:sp>
          <p:cxnSp>
            <p:nvCxnSpPr>
              <p:cNvPr id="81" name="直线箭头连接符 49">
                <a:extLst>
                  <a:ext uri="{FF2B5EF4-FFF2-40B4-BE49-F238E27FC236}">
                    <a16:creationId xmlns:a16="http://schemas.microsoft.com/office/drawing/2014/main" id="{5002DCF3-DB54-07A3-F727-85FBB1CFA9BE}"/>
                  </a:ext>
                </a:extLst>
              </p:cNvPr>
              <p:cNvCxnSpPr/>
              <p:nvPr/>
            </p:nvCxnSpPr>
            <p:spPr>
              <a:xfrm>
                <a:off x="2654969" y="3890105"/>
                <a:ext cx="662152" cy="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82" name="直线箭头连接符 50">
                <a:extLst>
                  <a:ext uri="{FF2B5EF4-FFF2-40B4-BE49-F238E27FC236}">
                    <a16:creationId xmlns:a16="http://schemas.microsoft.com/office/drawing/2014/main" id="{039B5CB2-1888-DC40-B3C6-0C735330FAF3}"/>
                  </a:ext>
                </a:extLst>
              </p:cNvPr>
              <p:cNvCxnSpPr/>
              <p:nvPr/>
            </p:nvCxnSpPr>
            <p:spPr>
              <a:xfrm>
                <a:off x="606765" y="3884850"/>
                <a:ext cx="662152" cy="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83" name="直线箭头连接符 51">
                <a:extLst>
                  <a:ext uri="{FF2B5EF4-FFF2-40B4-BE49-F238E27FC236}">
                    <a16:creationId xmlns:a16="http://schemas.microsoft.com/office/drawing/2014/main" id="{446617BC-1601-E0EB-DA83-B2AC633EC1DF}"/>
                  </a:ext>
                </a:extLst>
              </p:cNvPr>
              <p:cNvCxnSpPr>
                <a:cxnSpLocks/>
              </p:cNvCxnSpPr>
              <p:nvPr/>
            </p:nvCxnSpPr>
            <p:spPr>
              <a:xfrm>
                <a:off x="1954421" y="2892207"/>
                <a:ext cx="2924" cy="640547"/>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84" name="图片 5">
                <a:extLst>
                  <a:ext uri="{FF2B5EF4-FFF2-40B4-BE49-F238E27FC236}">
                    <a16:creationId xmlns:a16="http://schemas.microsoft.com/office/drawing/2014/main" id="{C3F50B76-7753-A83F-1BE0-D1E22631EC50}"/>
                  </a:ext>
                </a:extLst>
              </p:cNvPr>
              <p:cNvPicPr>
                <a:picLocks noChangeAspect="1"/>
              </p:cNvPicPr>
              <p:nvPr/>
            </p:nvPicPr>
            <p:blipFill>
              <a:blip r:embed="rId2"/>
              <a:srcRect b="27834"/>
              <a:stretch/>
            </p:blipFill>
            <p:spPr>
              <a:xfrm>
                <a:off x="1288568" y="937904"/>
                <a:ext cx="1528863" cy="1252409"/>
              </a:xfrm>
              <a:prstGeom prst="rect">
                <a:avLst/>
              </a:prstGeom>
            </p:spPr>
          </p:pic>
          <p:sp>
            <p:nvSpPr>
              <p:cNvPr id="85" name="文本框 6">
                <a:extLst>
                  <a:ext uri="{FF2B5EF4-FFF2-40B4-BE49-F238E27FC236}">
                    <a16:creationId xmlns:a16="http://schemas.microsoft.com/office/drawing/2014/main" id="{4A1527F9-779B-9F2A-B764-90C3E7F3F2F2}"/>
                  </a:ext>
                </a:extLst>
              </p:cNvPr>
              <p:cNvSpPr txBox="1"/>
              <p:nvPr/>
            </p:nvSpPr>
            <p:spPr>
              <a:xfrm>
                <a:off x="58806" y="1663956"/>
                <a:ext cx="1232046" cy="830997"/>
              </a:xfrm>
              <a:prstGeom prst="rect">
                <a:avLst/>
              </a:prstGeom>
              <a:solidFill>
                <a:schemeClr val="bg1"/>
              </a:solidFill>
            </p:spPr>
            <p:txBody>
              <a:bodyPr wrap="square" rtlCol="0">
                <a:spAutoFit/>
              </a:bodyPr>
              <a:lstStyle/>
              <a:p>
                <a:r>
                  <a:rPr kumimoji="1" lang="zh-CN" altLang="en-US" sz="1600" dirty="0"/>
                  <a:t>用数据优化计算机程序的模型参数</a:t>
                </a:r>
              </a:p>
            </p:txBody>
          </p:sp>
          <p:sp>
            <p:nvSpPr>
              <p:cNvPr id="86" name="椭圆 52">
                <a:extLst>
                  <a:ext uri="{FF2B5EF4-FFF2-40B4-BE49-F238E27FC236}">
                    <a16:creationId xmlns:a16="http://schemas.microsoft.com/office/drawing/2014/main" id="{2F1CF9BA-5542-0C85-7666-5F38A550F7DB}"/>
                  </a:ext>
                </a:extLst>
              </p:cNvPr>
              <p:cNvSpPr/>
              <p:nvPr/>
            </p:nvSpPr>
            <p:spPr>
              <a:xfrm>
                <a:off x="1103587" y="2249215"/>
                <a:ext cx="1723696" cy="630620"/>
              </a:xfrm>
              <a:prstGeom prst="ellipse">
                <a:avLst/>
              </a:prstGeom>
              <a:solidFill>
                <a:srgbClr val="1635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历史数据</a:t>
                </a:r>
              </a:p>
            </p:txBody>
          </p:sp>
          <p:sp>
            <p:nvSpPr>
              <p:cNvPr id="87" name="文本框 63">
                <a:extLst>
                  <a:ext uri="{FF2B5EF4-FFF2-40B4-BE49-F238E27FC236}">
                    <a16:creationId xmlns:a16="http://schemas.microsoft.com/office/drawing/2014/main" id="{FF86DF31-2AF1-4B51-69DB-DD447576A786}"/>
                  </a:ext>
                </a:extLst>
              </p:cNvPr>
              <p:cNvSpPr txBox="1"/>
              <p:nvPr/>
            </p:nvSpPr>
            <p:spPr>
              <a:xfrm>
                <a:off x="43581" y="820795"/>
                <a:ext cx="141577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400" b="0" i="0" u="none" strike="noStrike" kern="1200" cap="none" spc="0" normalizeH="0" baseline="0" noProof="0" dirty="0">
                    <a:ln>
                      <a:noFill/>
                    </a:ln>
                    <a:solidFill>
                      <a:srgbClr val="BD1801"/>
                    </a:solidFill>
                    <a:effectLst/>
                    <a:uLnTx/>
                    <a:uFillTx/>
                    <a:latin typeface="LANTINGHEI SC DEMIBOLD" panose="02000000000000000000" pitchFamily="2" charset="-122"/>
                    <a:ea typeface="LANTINGHEI SC DEMIBOLD" panose="02000000000000000000" pitchFamily="2" charset="-122"/>
                  </a:rPr>
                  <a:t>机器学习</a:t>
                </a:r>
              </a:p>
            </p:txBody>
          </p:sp>
        </p:grpSp>
        <p:grpSp>
          <p:nvGrpSpPr>
            <p:cNvPr id="59" name="组合 29">
              <a:extLst>
                <a:ext uri="{FF2B5EF4-FFF2-40B4-BE49-F238E27FC236}">
                  <a16:creationId xmlns:a16="http://schemas.microsoft.com/office/drawing/2014/main" id="{F7D8BCF1-1E8C-E737-4D6D-7B9A9EC50365}"/>
                </a:ext>
              </a:extLst>
            </p:cNvPr>
            <p:cNvGrpSpPr/>
            <p:nvPr/>
          </p:nvGrpSpPr>
          <p:grpSpPr>
            <a:xfrm>
              <a:off x="4376856" y="926235"/>
              <a:ext cx="3870371" cy="3442310"/>
              <a:chOff x="12143841" y="329547"/>
              <a:chExt cx="3870371" cy="3442310"/>
            </a:xfrm>
          </p:grpSpPr>
          <p:grpSp>
            <p:nvGrpSpPr>
              <p:cNvPr id="61" name="组合 9">
                <a:extLst>
                  <a:ext uri="{FF2B5EF4-FFF2-40B4-BE49-F238E27FC236}">
                    <a16:creationId xmlns:a16="http://schemas.microsoft.com/office/drawing/2014/main" id="{DFCCD79B-DB49-389D-DDB2-3A02EA2800E2}"/>
                  </a:ext>
                </a:extLst>
              </p:cNvPr>
              <p:cNvGrpSpPr/>
              <p:nvPr/>
            </p:nvGrpSpPr>
            <p:grpSpPr>
              <a:xfrm>
                <a:off x="12143841" y="329547"/>
                <a:ext cx="3870371" cy="3442310"/>
                <a:chOff x="-127366" y="831436"/>
                <a:chExt cx="3870371" cy="3442310"/>
              </a:xfrm>
            </p:grpSpPr>
            <p:sp>
              <p:nvSpPr>
                <p:cNvPr id="63" name="矩形 10">
                  <a:extLst>
                    <a:ext uri="{FF2B5EF4-FFF2-40B4-BE49-F238E27FC236}">
                      <a16:creationId xmlns:a16="http://schemas.microsoft.com/office/drawing/2014/main" id="{68636FD6-BC2D-CBA7-7DBB-A06FC8F6AA15}"/>
                    </a:ext>
                  </a:extLst>
                </p:cNvPr>
                <p:cNvSpPr/>
                <p:nvPr/>
              </p:nvSpPr>
              <p:spPr>
                <a:xfrm>
                  <a:off x="1106061" y="3559043"/>
                  <a:ext cx="1376855" cy="714703"/>
                </a:xfrm>
                <a:prstGeom prst="rect">
                  <a:avLst/>
                </a:prstGeom>
                <a:solidFill>
                  <a:srgbClr val="1C9A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solidFill>
                        <a:prstClr val="white"/>
                      </a:solidFill>
                      <a:effectLst/>
                      <a:uLnTx/>
                      <a:uFillTx/>
                      <a:latin typeface="Microsoft YaHei" panose="020B0503020204020204" pitchFamily="34" charset="-122"/>
                      <a:ea typeface="Microsoft YaHei" panose="020B0503020204020204" pitchFamily="34" charset="-122"/>
                      <a:cs typeface="+mn-cs"/>
                    </a:rPr>
                    <a:t>规律</a:t>
                  </a:r>
                </a:p>
              </p:txBody>
            </p:sp>
            <p:sp>
              <p:nvSpPr>
                <p:cNvPr id="64" name="文本框 11">
                  <a:extLst>
                    <a:ext uri="{FF2B5EF4-FFF2-40B4-BE49-F238E27FC236}">
                      <a16:creationId xmlns:a16="http://schemas.microsoft.com/office/drawing/2014/main" id="{1C46A989-17E5-FD2C-816B-49888F05244F}"/>
                    </a:ext>
                  </a:extLst>
                </p:cNvPr>
                <p:cNvSpPr txBox="1"/>
                <p:nvPr/>
              </p:nvSpPr>
              <p:spPr>
                <a:xfrm>
                  <a:off x="-105162" y="3211633"/>
                  <a:ext cx="646331"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新的</a:t>
                  </a:r>
                  <a:endParaRPr kumimoji="1" lang="en-US" altLang="zh-CN" sz="18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solidFill>
                        <a:prstClr val="black"/>
                      </a:solidFill>
                      <a:latin typeface="Microsoft YaHei" panose="020B0503020204020204" pitchFamily="34" charset="-122"/>
                      <a:ea typeface="Microsoft YaHei" panose="020B0503020204020204" pitchFamily="34" charset="-122"/>
                    </a:rPr>
                    <a:t>问题</a:t>
                  </a:r>
                  <a:endParaRPr kumimoji="1" lang="zh-CN" altLang="en-US" sz="18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endParaRPr>
                </a:p>
              </p:txBody>
            </p:sp>
            <p:sp>
              <p:nvSpPr>
                <p:cNvPr id="65" name="文本框 12">
                  <a:extLst>
                    <a:ext uri="{FF2B5EF4-FFF2-40B4-BE49-F238E27FC236}">
                      <a16:creationId xmlns:a16="http://schemas.microsoft.com/office/drawing/2014/main" id="{5CB65606-D461-FF2D-7AA3-2E1F518D5A11}"/>
                    </a:ext>
                  </a:extLst>
                </p:cNvPr>
                <p:cNvSpPr txBox="1"/>
                <p:nvPr/>
              </p:nvSpPr>
              <p:spPr>
                <a:xfrm>
                  <a:off x="448123" y="3539933"/>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输入</a:t>
                  </a:r>
                </a:p>
              </p:txBody>
            </p:sp>
            <p:sp>
              <p:nvSpPr>
                <p:cNvPr id="66" name="文本框 13">
                  <a:extLst>
                    <a:ext uri="{FF2B5EF4-FFF2-40B4-BE49-F238E27FC236}">
                      <a16:creationId xmlns:a16="http://schemas.microsoft.com/office/drawing/2014/main" id="{D68C2E79-687C-08AD-666D-8620C9963225}"/>
                    </a:ext>
                  </a:extLst>
                </p:cNvPr>
                <p:cNvSpPr txBox="1"/>
                <p:nvPr/>
              </p:nvSpPr>
              <p:spPr>
                <a:xfrm>
                  <a:off x="2475887" y="3555733"/>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预测</a:t>
                  </a:r>
                </a:p>
              </p:txBody>
            </p:sp>
            <p:sp>
              <p:nvSpPr>
                <p:cNvPr id="67" name="文本框 14">
                  <a:extLst>
                    <a:ext uri="{FF2B5EF4-FFF2-40B4-BE49-F238E27FC236}">
                      <a16:creationId xmlns:a16="http://schemas.microsoft.com/office/drawing/2014/main" id="{814E533F-83E5-98B5-0051-2AFC87B0C38E}"/>
                    </a:ext>
                  </a:extLst>
                </p:cNvPr>
                <p:cNvSpPr txBox="1"/>
                <p:nvPr/>
              </p:nvSpPr>
              <p:spPr>
                <a:xfrm>
                  <a:off x="1783477" y="3083448"/>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归纳</a:t>
                  </a:r>
                </a:p>
              </p:txBody>
            </p:sp>
            <p:sp>
              <p:nvSpPr>
                <p:cNvPr id="68" name="文本框 15">
                  <a:extLst>
                    <a:ext uri="{FF2B5EF4-FFF2-40B4-BE49-F238E27FC236}">
                      <a16:creationId xmlns:a16="http://schemas.microsoft.com/office/drawing/2014/main" id="{37607283-E120-E78F-18CB-7834F20CE4A7}"/>
                    </a:ext>
                  </a:extLst>
                </p:cNvPr>
                <p:cNvSpPr txBox="1"/>
                <p:nvPr/>
              </p:nvSpPr>
              <p:spPr>
                <a:xfrm>
                  <a:off x="3096674" y="3691773"/>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未来</a:t>
                  </a:r>
                </a:p>
              </p:txBody>
            </p:sp>
            <p:cxnSp>
              <p:nvCxnSpPr>
                <p:cNvPr id="69" name="直线箭头连接符 16">
                  <a:extLst>
                    <a:ext uri="{FF2B5EF4-FFF2-40B4-BE49-F238E27FC236}">
                      <a16:creationId xmlns:a16="http://schemas.microsoft.com/office/drawing/2014/main" id="{B9C7A931-2288-BE67-DFC9-5BA8AA482110}"/>
                    </a:ext>
                  </a:extLst>
                </p:cNvPr>
                <p:cNvCxnSpPr/>
                <p:nvPr/>
              </p:nvCxnSpPr>
              <p:spPr>
                <a:xfrm>
                  <a:off x="2484024" y="3900746"/>
                  <a:ext cx="662152" cy="0"/>
                </a:xfrm>
                <a:prstGeom prst="straightConnector1">
                  <a:avLst/>
                </a:prstGeom>
                <a:ln w="28575">
                  <a:solidFill>
                    <a:srgbClr val="1C9A79"/>
                  </a:solidFill>
                  <a:tailEnd type="triangle"/>
                </a:ln>
              </p:spPr>
              <p:style>
                <a:lnRef idx="1">
                  <a:schemeClr val="accent1"/>
                </a:lnRef>
                <a:fillRef idx="0">
                  <a:schemeClr val="accent1"/>
                </a:fillRef>
                <a:effectRef idx="0">
                  <a:schemeClr val="accent1"/>
                </a:effectRef>
                <a:fontRef idx="minor">
                  <a:schemeClr val="tx1"/>
                </a:fontRef>
              </p:style>
            </p:cxnSp>
            <p:cxnSp>
              <p:nvCxnSpPr>
                <p:cNvPr id="70" name="直线箭头连接符 17">
                  <a:extLst>
                    <a:ext uri="{FF2B5EF4-FFF2-40B4-BE49-F238E27FC236}">
                      <a16:creationId xmlns:a16="http://schemas.microsoft.com/office/drawing/2014/main" id="{969F691D-9060-2BC7-0936-08399C754C1F}"/>
                    </a:ext>
                  </a:extLst>
                </p:cNvPr>
                <p:cNvCxnSpPr/>
                <p:nvPr/>
              </p:nvCxnSpPr>
              <p:spPr>
                <a:xfrm>
                  <a:off x="435817" y="3895491"/>
                  <a:ext cx="662152" cy="0"/>
                </a:xfrm>
                <a:prstGeom prst="straightConnector1">
                  <a:avLst/>
                </a:prstGeom>
                <a:ln w="28575">
                  <a:solidFill>
                    <a:srgbClr val="1C9A79"/>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线箭头连接符 18">
                  <a:extLst>
                    <a:ext uri="{FF2B5EF4-FFF2-40B4-BE49-F238E27FC236}">
                      <a16:creationId xmlns:a16="http://schemas.microsoft.com/office/drawing/2014/main" id="{A71EC999-47C8-BD08-7C0C-BD8641A50057}"/>
                    </a:ext>
                  </a:extLst>
                </p:cNvPr>
                <p:cNvCxnSpPr>
                  <a:cxnSpLocks/>
                </p:cNvCxnSpPr>
                <p:nvPr/>
              </p:nvCxnSpPr>
              <p:spPr>
                <a:xfrm>
                  <a:off x="1783476" y="2902848"/>
                  <a:ext cx="2924" cy="640547"/>
                </a:xfrm>
                <a:prstGeom prst="straightConnector1">
                  <a:avLst/>
                </a:prstGeom>
                <a:ln w="28575">
                  <a:solidFill>
                    <a:srgbClr val="1C9A79"/>
                  </a:solidFill>
                  <a:tailEnd type="triangle"/>
                </a:ln>
              </p:spPr>
              <p:style>
                <a:lnRef idx="1">
                  <a:schemeClr val="accent1"/>
                </a:lnRef>
                <a:fillRef idx="0">
                  <a:schemeClr val="accent1"/>
                </a:fillRef>
                <a:effectRef idx="0">
                  <a:schemeClr val="accent1"/>
                </a:effectRef>
                <a:fontRef idx="minor">
                  <a:schemeClr val="tx1"/>
                </a:fontRef>
              </p:style>
            </p:cxnSp>
            <p:sp>
              <p:nvSpPr>
                <p:cNvPr id="72" name="文本框 20">
                  <a:extLst>
                    <a:ext uri="{FF2B5EF4-FFF2-40B4-BE49-F238E27FC236}">
                      <a16:creationId xmlns:a16="http://schemas.microsoft.com/office/drawing/2014/main" id="{A7F7DD7A-9CE0-4FF7-1C51-839B77B2AA6B}"/>
                    </a:ext>
                  </a:extLst>
                </p:cNvPr>
                <p:cNvSpPr txBox="1"/>
                <p:nvPr/>
              </p:nvSpPr>
              <p:spPr>
                <a:xfrm>
                  <a:off x="-112141" y="1674597"/>
                  <a:ext cx="1232046" cy="830997"/>
                </a:xfrm>
                <a:prstGeom prst="rect">
                  <a:avLst/>
                </a:prstGeom>
                <a:solidFill>
                  <a:schemeClr val="bg1"/>
                </a:solidFill>
              </p:spPr>
              <p:txBody>
                <a:bodyPr wrap="square" rtlCol="0">
                  <a:spAutoFit/>
                </a:bodyPr>
                <a:lstStyle/>
                <a:p>
                  <a:r>
                    <a:rPr kumimoji="1" lang="zh-CN" altLang="en-US" sz="1600" dirty="0"/>
                    <a:t>通过经验自动改进的计算机算法</a:t>
                  </a:r>
                </a:p>
              </p:txBody>
            </p:sp>
            <p:sp>
              <p:nvSpPr>
                <p:cNvPr id="73" name="椭圆 21">
                  <a:extLst>
                    <a:ext uri="{FF2B5EF4-FFF2-40B4-BE49-F238E27FC236}">
                      <a16:creationId xmlns:a16="http://schemas.microsoft.com/office/drawing/2014/main" id="{23724F5E-057A-DFD8-60D5-5017745DF7E7}"/>
                    </a:ext>
                  </a:extLst>
                </p:cNvPr>
                <p:cNvSpPr/>
                <p:nvPr/>
              </p:nvSpPr>
              <p:spPr>
                <a:xfrm>
                  <a:off x="932639" y="2259856"/>
                  <a:ext cx="1723696" cy="630620"/>
                </a:xfrm>
                <a:prstGeom prst="ellipse">
                  <a:avLst/>
                </a:prstGeom>
                <a:solidFill>
                  <a:srgbClr val="1C9A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经验</a:t>
                  </a:r>
                </a:p>
              </p:txBody>
            </p:sp>
            <p:sp>
              <p:nvSpPr>
                <p:cNvPr id="74" name="文本框 22">
                  <a:extLst>
                    <a:ext uri="{FF2B5EF4-FFF2-40B4-BE49-F238E27FC236}">
                      <a16:creationId xmlns:a16="http://schemas.microsoft.com/office/drawing/2014/main" id="{FF9B98A2-8B51-0358-5E72-3088E8C32406}"/>
                    </a:ext>
                  </a:extLst>
                </p:cNvPr>
                <p:cNvSpPr txBox="1"/>
                <p:nvPr/>
              </p:nvSpPr>
              <p:spPr>
                <a:xfrm>
                  <a:off x="-127366" y="831436"/>
                  <a:ext cx="141577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400" b="0" i="0" u="none" strike="noStrike" kern="1200" cap="none" spc="0" normalizeH="0" baseline="0" noProof="0" dirty="0">
                      <a:ln>
                        <a:noFill/>
                      </a:ln>
                      <a:solidFill>
                        <a:srgbClr val="BD1801"/>
                      </a:solidFill>
                      <a:effectLst/>
                      <a:uLnTx/>
                      <a:uFillTx/>
                      <a:latin typeface="LANTINGHEI SC DEMIBOLD" panose="02000000000000000000" pitchFamily="2" charset="-122"/>
                      <a:ea typeface="LANTINGHEI SC DEMIBOLD" panose="02000000000000000000" pitchFamily="2" charset="-122"/>
                    </a:rPr>
                    <a:t>深度学习</a:t>
                  </a:r>
                </a:p>
              </p:txBody>
            </p:sp>
          </p:grpSp>
          <p:pic>
            <p:nvPicPr>
              <p:cNvPr id="62" name="图片 24">
                <a:extLst>
                  <a:ext uri="{FF2B5EF4-FFF2-40B4-BE49-F238E27FC236}">
                    <a16:creationId xmlns:a16="http://schemas.microsoft.com/office/drawing/2014/main" id="{66B153B2-CF48-7392-5C3F-3A8EF38FB307}"/>
                  </a:ext>
                </a:extLst>
              </p:cNvPr>
              <p:cNvPicPr>
                <a:picLocks noChangeAspect="1"/>
              </p:cNvPicPr>
              <p:nvPr/>
            </p:nvPicPr>
            <p:blipFill>
              <a:blip r:embed="rId3"/>
              <a:stretch>
                <a:fillRect/>
              </a:stretch>
            </p:blipFill>
            <p:spPr>
              <a:xfrm>
                <a:off x="13567104" y="468731"/>
                <a:ext cx="1020439" cy="1136233"/>
              </a:xfrm>
              <a:prstGeom prst="rect">
                <a:avLst/>
              </a:prstGeom>
            </p:spPr>
          </p:pic>
        </p:grpSp>
        <p:sp>
          <p:nvSpPr>
            <p:cNvPr id="60" name="燕尾形箭头 64">
              <a:extLst>
                <a:ext uri="{FF2B5EF4-FFF2-40B4-BE49-F238E27FC236}">
                  <a16:creationId xmlns:a16="http://schemas.microsoft.com/office/drawing/2014/main" id="{6B2C366F-C729-8211-6630-F41CC2E7D767}"/>
                </a:ext>
              </a:extLst>
            </p:cNvPr>
            <p:cNvSpPr/>
            <p:nvPr/>
          </p:nvSpPr>
          <p:spPr>
            <a:xfrm>
              <a:off x="3680368" y="2465393"/>
              <a:ext cx="822800" cy="401934"/>
            </a:xfrm>
            <a:prstGeom prst="notchedRight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88" name="圆角矩形 97">
            <a:extLst>
              <a:ext uri="{FF2B5EF4-FFF2-40B4-BE49-F238E27FC236}">
                <a16:creationId xmlns:a16="http://schemas.microsoft.com/office/drawing/2014/main" id="{1C39C2F2-DA38-EA56-367E-F9A02AB2144A}"/>
              </a:ext>
            </a:extLst>
          </p:cNvPr>
          <p:cNvSpPr/>
          <p:nvPr/>
        </p:nvSpPr>
        <p:spPr>
          <a:xfrm>
            <a:off x="8190543" y="977003"/>
            <a:ext cx="3583022" cy="1610591"/>
          </a:xfrm>
          <a:prstGeom prst="roundRect">
            <a:avLst>
              <a:gd name="adj" fmla="val 13027"/>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rtlCol="0" anchor="ctr"/>
          <a:lstStyle/>
          <a:p>
            <a:pPr algn="ctr"/>
            <a:endParaRPr kumimoji="1" lang="zh-CN" altLang="en-US" dirty="0"/>
          </a:p>
        </p:txBody>
      </p:sp>
      <p:grpSp>
        <p:nvGrpSpPr>
          <p:cNvPr id="89" name="组合 92">
            <a:extLst>
              <a:ext uri="{FF2B5EF4-FFF2-40B4-BE49-F238E27FC236}">
                <a16:creationId xmlns:a16="http://schemas.microsoft.com/office/drawing/2014/main" id="{244E283C-3D2D-6335-AA12-C3629B60E9FB}"/>
              </a:ext>
            </a:extLst>
          </p:cNvPr>
          <p:cNvGrpSpPr/>
          <p:nvPr/>
        </p:nvGrpSpPr>
        <p:grpSpPr>
          <a:xfrm>
            <a:off x="8095813" y="949035"/>
            <a:ext cx="3916560" cy="1549696"/>
            <a:chOff x="8596857" y="1305513"/>
            <a:chExt cx="3703228" cy="1800493"/>
          </a:xfrm>
        </p:grpSpPr>
        <p:sp>
          <p:nvSpPr>
            <p:cNvPr id="90" name="文本框 82">
              <a:extLst>
                <a:ext uri="{FF2B5EF4-FFF2-40B4-BE49-F238E27FC236}">
                  <a16:creationId xmlns:a16="http://schemas.microsoft.com/office/drawing/2014/main" id="{7F6E7FA2-4F8E-7152-729B-3702DCD2C2E1}"/>
                </a:ext>
              </a:extLst>
            </p:cNvPr>
            <p:cNvSpPr txBox="1"/>
            <p:nvPr/>
          </p:nvSpPr>
          <p:spPr>
            <a:xfrm>
              <a:off x="8596857" y="1305513"/>
              <a:ext cx="3703228" cy="1800493"/>
            </a:xfrm>
            <a:prstGeom prst="rect">
              <a:avLst/>
            </a:prstGeom>
            <a:noFill/>
          </p:spPr>
          <p:txBody>
            <a:bodyPr wrap="square">
              <a:spAutoFit/>
            </a:bodyPr>
            <a:lstStyle/>
            <a:p>
              <a:pPr>
                <a:lnSpc>
                  <a:spcPct val="150000"/>
                </a:lnSpc>
              </a:pPr>
              <a:r>
                <a:rPr lang="zh-CN" altLang="en-US" sz="2000" b="1" dirty="0">
                  <a:effectLst/>
                  <a:latin typeface="Helvetica" pitchFamily="2" charset="0"/>
                </a:rPr>
                <a:t>机器学习的基本定理</a:t>
              </a:r>
              <a:endParaRPr lang="en-US" altLang="zh-CN" sz="2000" b="1" dirty="0">
                <a:effectLst/>
                <a:latin typeface="Helvetica" pitchFamily="2" charset="0"/>
              </a:endParaRPr>
            </a:p>
            <a:p>
              <a:pPr>
                <a:lnSpc>
                  <a:spcPct val="150000"/>
                </a:lnSpc>
              </a:pPr>
              <a:r>
                <a:rPr lang="zh-CN" altLang="en-US" dirty="0">
                  <a:effectLst/>
                  <a:latin typeface="Helvetica" pitchFamily="2" charset="0"/>
                </a:rPr>
                <a:t>     </a:t>
              </a:r>
              <a:r>
                <a:rPr lang="en-US" altLang="zh-CN" dirty="0">
                  <a:effectLst/>
                  <a:latin typeface="Helvetica" pitchFamily="2" charset="0"/>
                </a:rPr>
                <a:t> </a:t>
              </a:r>
              <a:r>
                <a:rPr lang="zh-CN" altLang="en-US" dirty="0">
                  <a:effectLst/>
                  <a:latin typeface="Helvetica" pitchFamily="2" charset="0"/>
                </a:rPr>
                <a:t>模型的出错率 ∞</a:t>
              </a:r>
            </a:p>
            <a:p>
              <a:pPr lvl="1"/>
              <a:r>
                <a:rPr lang="zh-CN" altLang="en-US" dirty="0">
                  <a:effectLst/>
                  <a:latin typeface="Helvetica" pitchFamily="2" charset="0"/>
                </a:rPr>
                <a:t>推论</a:t>
              </a:r>
              <a:r>
                <a:rPr lang="zh-CN" altLang="en-US" dirty="0">
                  <a:latin typeface="Helvetica" pitchFamily="2" charset="0"/>
                </a:rPr>
                <a:t>：</a:t>
              </a:r>
              <a:endParaRPr lang="zh-CN" altLang="en-US" dirty="0">
                <a:effectLst/>
                <a:latin typeface="Helvetica" pitchFamily="2" charset="0"/>
              </a:endParaRPr>
            </a:p>
            <a:p>
              <a:pPr lvl="2"/>
              <a:r>
                <a:rPr lang="zh-CN" altLang="en-US" dirty="0">
                  <a:effectLst/>
                  <a:latin typeface="Helvetica" pitchFamily="2" charset="0"/>
                </a:rPr>
                <a:t>模型复杂 </a:t>
              </a:r>
              <a:r>
                <a:rPr lang="en-US" altLang="zh-CN" dirty="0">
                  <a:effectLst/>
                  <a:latin typeface="Helvetica" pitchFamily="2" charset="0"/>
                </a:rPr>
                <a:t>-》</a:t>
              </a:r>
              <a:r>
                <a:rPr lang="zh-CN" altLang="en-US" dirty="0">
                  <a:effectLst/>
                  <a:latin typeface="Helvetica" pitchFamily="2" charset="0"/>
                </a:rPr>
                <a:t>大样本</a:t>
              </a:r>
            </a:p>
            <a:p>
              <a:pPr lvl="2"/>
              <a:r>
                <a:rPr lang="zh-CN" altLang="en-US" dirty="0">
                  <a:effectLst/>
                  <a:latin typeface="Helvetica" pitchFamily="2" charset="0"/>
                </a:rPr>
                <a:t>样本小 </a:t>
              </a:r>
              <a:r>
                <a:rPr lang="en-US" altLang="zh-CN" dirty="0">
                  <a:effectLst/>
                  <a:latin typeface="Helvetica" pitchFamily="2" charset="0"/>
                </a:rPr>
                <a:t>-》</a:t>
              </a:r>
              <a:r>
                <a:rPr lang="zh-CN" altLang="en-US" dirty="0">
                  <a:effectLst/>
                  <a:latin typeface="Helvetica" pitchFamily="2" charset="0"/>
                </a:rPr>
                <a:t>简化模型  </a:t>
              </a:r>
            </a:p>
          </p:txBody>
        </p:sp>
        <p:grpSp>
          <p:nvGrpSpPr>
            <p:cNvPr id="91" name="组合 91">
              <a:extLst>
                <a:ext uri="{FF2B5EF4-FFF2-40B4-BE49-F238E27FC236}">
                  <a16:creationId xmlns:a16="http://schemas.microsoft.com/office/drawing/2014/main" id="{3EB8D4F9-14EF-B2FC-BE0C-2EE8E1013282}"/>
                </a:ext>
              </a:extLst>
            </p:cNvPr>
            <p:cNvGrpSpPr/>
            <p:nvPr/>
          </p:nvGrpSpPr>
          <p:grpSpPr>
            <a:xfrm>
              <a:off x="10661362" y="1617209"/>
              <a:ext cx="1620957" cy="685637"/>
              <a:chOff x="9386825" y="3769249"/>
              <a:chExt cx="1620957" cy="685637"/>
            </a:xfrm>
          </p:grpSpPr>
          <p:sp>
            <p:nvSpPr>
              <p:cNvPr id="92" name="文本框 83">
                <a:extLst>
                  <a:ext uri="{FF2B5EF4-FFF2-40B4-BE49-F238E27FC236}">
                    <a16:creationId xmlns:a16="http://schemas.microsoft.com/office/drawing/2014/main" id="{525BBFA3-D693-BA03-A604-3BE4BA8DD827}"/>
                  </a:ext>
                </a:extLst>
              </p:cNvPr>
              <p:cNvSpPr txBox="1"/>
              <p:nvPr/>
            </p:nvSpPr>
            <p:spPr>
              <a:xfrm>
                <a:off x="9386825" y="3769249"/>
                <a:ext cx="1620957" cy="685637"/>
              </a:xfrm>
              <a:prstGeom prst="rect">
                <a:avLst/>
              </a:prstGeom>
              <a:noFill/>
            </p:spPr>
            <p:txBody>
              <a:bodyPr wrap="none" rtlCol="0">
                <a:spAutoFit/>
              </a:bodyPr>
              <a:lstStyle/>
              <a:p>
                <a:pPr>
                  <a:lnSpc>
                    <a:spcPct val="125000"/>
                  </a:lnSpc>
                </a:pPr>
                <a:r>
                  <a:rPr kumimoji="1" lang="zh-CN" altLang="en-US" sz="1600" dirty="0"/>
                  <a:t>模型的复杂程度</a:t>
                </a:r>
                <a:endParaRPr kumimoji="1" lang="en-US" altLang="zh-CN" sz="1600" dirty="0"/>
              </a:p>
              <a:p>
                <a:pPr>
                  <a:lnSpc>
                    <a:spcPct val="125000"/>
                  </a:lnSpc>
                </a:pPr>
                <a:r>
                  <a:rPr kumimoji="1" lang="zh-CN" altLang="en-US" sz="1600" dirty="0"/>
                  <a:t>     样本的大小</a:t>
                </a:r>
              </a:p>
            </p:txBody>
          </p:sp>
          <p:cxnSp>
            <p:nvCxnSpPr>
              <p:cNvPr id="93" name="直线连接符 85">
                <a:extLst>
                  <a:ext uri="{FF2B5EF4-FFF2-40B4-BE49-F238E27FC236}">
                    <a16:creationId xmlns:a16="http://schemas.microsoft.com/office/drawing/2014/main" id="{AC37DACD-86F8-87AE-A744-B6F91BBE0F75}"/>
                  </a:ext>
                </a:extLst>
              </p:cNvPr>
              <p:cNvCxnSpPr>
                <a:cxnSpLocks/>
              </p:cNvCxnSpPr>
              <p:nvPr/>
            </p:nvCxnSpPr>
            <p:spPr>
              <a:xfrm>
                <a:off x="9449421" y="4132539"/>
                <a:ext cx="1495764" cy="0"/>
              </a:xfrm>
              <a:prstGeom prst="line">
                <a:avLst/>
              </a:prstGeom>
              <a:ln w="25400">
                <a:solidFill>
                  <a:schemeClr val="tx1"/>
                </a:solidFill>
              </a:ln>
            </p:spPr>
            <p:style>
              <a:lnRef idx="1">
                <a:schemeClr val="accent5"/>
              </a:lnRef>
              <a:fillRef idx="0">
                <a:schemeClr val="accent5"/>
              </a:fillRef>
              <a:effectRef idx="0">
                <a:schemeClr val="accent5"/>
              </a:effectRef>
              <a:fontRef idx="minor">
                <a:schemeClr val="tx1"/>
              </a:fontRef>
            </p:style>
          </p:cxnSp>
        </p:grpSp>
      </p:grpSp>
      <p:sp>
        <p:nvSpPr>
          <p:cNvPr id="94" name="圆角矩形 98">
            <a:extLst>
              <a:ext uri="{FF2B5EF4-FFF2-40B4-BE49-F238E27FC236}">
                <a16:creationId xmlns:a16="http://schemas.microsoft.com/office/drawing/2014/main" id="{AC21ACA8-7B94-C770-15B4-5F549D2328F9}"/>
              </a:ext>
            </a:extLst>
          </p:cNvPr>
          <p:cNvSpPr/>
          <p:nvPr/>
        </p:nvSpPr>
        <p:spPr>
          <a:xfrm>
            <a:off x="8292795" y="2791197"/>
            <a:ext cx="3583022" cy="1610591"/>
          </a:xfrm>
          <a:prstGeom prst="roundRect">
            <a:avLst>
              <a:gd name="adj" fmla="val 13027"/>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rtlCol="0" anchor="ctr"/>
          <a:lstStyle/>
          <a:p>
            <a:pPr algn="ctr"/>
            <a:endParaRPr kumimoji="1" lang="zh-CN" altLang="en-US" dirty="0"/>
          </a:p>
        </p:txBody>
      </p:sp>
      <p:grpSp>
        <p:nvGrpSpPr>
          <p:cNvPr id="95" name="组合 121">
            <a:extLst>
              <a:ext uri="{FF2B5EF4-FFF2-40B4-BE49-F238E27FC236}">
                <a16:creationId xmlns:a16="http://schemas.microsoft.com/office/drawing/2014/main" id="{70CFAAF0-C108-1938-74D8-F0990E5E350F}"/>
              </a:ext>
            </a:extLst>
          </p:cNvPr>
          <p:cNvGrpSpPr/>
          <p:nvPr/>
        </p:nvGrpSpPr>
        <p:grpSpPr>
          <a:xfrm>
            <a:off x="8183339" y="2952640"/>
            <a:ext cx="3626729" cy="1115831"/>
            <a:chOff x="8465639" y="3177918"/>
            <a:chExt cx="3743689" cy="1296413"/>
          </a:xfrm>
        </p:grpSpPr>
        <p:cxnSp>
          <p:nvCxnSpPr>
            <p:cNvPr id="96" name="直线箭头连接符 107">
              <a:extLst>
                <a:ext uri="{FF2B5EF4-FFF2-40B4-BE49-F238E27FC236}">
                  <a16:creationId xmlns:a16="http://schemas.microsoft.com/office/drawing/2014/main" id="{CABAF59B-B30B-4328-785D-9C2FB919CB32}"/>
                </a:ext>
              </a:extLst>
            </p:cNvPr>
            <p:cNvCxnSpPr>
              <a:cxnSpLocks/>
            </p:cNvCxnSpPr>
            <p:nvPr/>
          </p:nvCxnSpPr>
          <p:spPr>
            <a:xfrm>
              <a:off x="8808706" y="3862770"/>
              <a:ext cx="330024" cy="0"/>
            </a:xfrm>
            <a:prstGeom prst="straightConnector1">
              <a:avLst/>
            </a:prstGeom>
            <a:ln w="158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97" name="直线箭头连接符 110">
              <a:extLst>
                <a:ext uri="{FF2B5EF4-FFF2-40B4-BE49-F238E27FC236}">
                  <a16:creationId xmlns:a16="http://schemas.microsoft.com/office/drawing/2014/main" id="{A7B7D746-FD99-62B2-A243-FE31813A723E}"/>
                </a:ext>
              </a:extLst>
            </p:cNvPr>
            <p:cNvCxnSpPr>
              <a:cxnSpLocks/>
            </p:cNvCxnSpPr>
            <p:nvPr/>
          </p:nvCxnSpPr>
          <p:spPr>
            <a:xfrm>
              <a:off x="9980908" y="3855731"/>
              <a:ext cx="458556" cy="2"/>
            </a:xfrm>
            <a:prstGeom prst="straightConnector1">
              <a:avLst/>
            </a:prstGeom>
            <a:ln w="158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98" name="左大括号 113">
              <a:extLst>
                <a:ext uri="{FF2B5EF4-FFF2-40B4-BE49-F238E27FC236}">
                  <a16:creationId xmlns:a16="http://schemas.microsoft.com/office/drawing/2014/main" id="{4651AF45-3441-8660-B6CD-DA05C373F234}"/>
                </a:ext>
              </a:extLst>
            </p:cNvPr>
            <p:cNvSpPr/>
            <p:nvPr/>
          </p:nvSpPr>
          <p:spPr>
            <a:xfrm>
              <a:off x="10681115" y="3277469"/>
              <a:ext cx="178524" cy="1158409"/>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99" name="文本框 114">
              <a:extLst>
                <a:ext uri="{FF2B5EF4-FFF2-40B4-BE49-F238E27FC236}">
                  <a16:creationId xmlns:a16="http://schemas.microsoft.com/office/drawing/2014/main" id="{7BA491DE-7B5A-54B7-B5A7-FF9ECBA6C000}"/>
                </a:ext>
              </a:extLst>
            </p:cNvPr>
            <p:cNvSpPr txBox="1"/>
            <p:nvPr/>
          </p:nvSpPr>
          <p:spPr>
            <a:xfrm>
              <a:off x="10724577" y="3177918"/>
              <a:ext cx="1484751" cy="620570"/>
            </a:xfrm>
            <a:prstGeom prst="rect">
              <a:avLst/>
            </a:prstGeom>
            <a:noFill/>
          </p:spPr>
          <p:txBody>
            <a:bodyPr wrap="none" rtlCol="0">
              <a:spAutoFit/>
            </a:bodyPr>
            <a:lstStyle/>
            <a:p>
              <a:pPr algn="ctr"/>
              <a:r>
                <a:rPr kumimoji="1" lang="en-US" altLang="zh-CN" dirty="0"/>
                <a:t>Class label</a:t>
              </a:r>
            </a:p>
            <a:p>
              <a:r>
                <a:rPr kumimoji="1" lang="en-US" altLang="zh-CN" dirty="0"/>
                <a:t>(Classification)</a:t>
              </a:r>
              <a:endParaRPr kumimoji="1" lang="zh-CN" altLang="en-US" dirty="0"/>
            </a:p>
          </p:txBody>
        </p:sp>
        <p:sp>
          <p:nvSpPr>
            <p:cNvPr id="100" name="文本框 115">
              <a:extLst>
                <a:ext uri="{FF2B5EF4-FFF2-40B4-BE49-F238E27FC236}">
                  <a16:creationId xmlns:a16="http://schemas.microsoft.com/office/drawing/2014/main" id="{7AD3354E-4D27-B5F9-C64C-9DB18AAAFBED}"/>
                </a:ext>
              </a:extLst>
            </p:cNvPr>
            <p:cNvSpPr txBox="1"/>
            <p:nvPr/>
          </p:nvSpPr>
          <p:spPr>
            <a:xfrm>
              <a:off x="10832622" y="3853761"/>
              <a:ext cx="1268660" cy="620570"/>
            </a:xfrm>
            <a:prstGeom prst="rect">
              <a:avLst/>
            </a:prstGeom>
            <a:noFill/>
          </p:spPr>
          <p:txBody>
            <a:bodyPr wrap="none" rtlCol="0">
              <a:spAutoFit/>
            </a:bodyPr>
            <a:lstStyle/>
            <a:p>
              <a:pPr algn="ctr"/>
              <a:r>
                <a:rPr kumimoji="1" lang="en-US" altLang="zh-CN" dirty="0"/>
                <a:t>Vector</a:t>
              </a:r>
            </a:p>
            <a:p>
              <a:r>
                <a:rPr kumimoji="1" lang="en-US" altLang="zh-CN" dirty="0"/>
                <a:t>(Estimation)</a:t>
              </a:r>
              <a:endParaRPr kumimoji="1" lang="zh-CN" altLang="en-US" dirty="0"/>
            </a:p>
          </p:txBody>
        </p:sp>
        <mc:AlternateContent xmlns:mc="http://schemas.openxmlformats.org/markup-compatibility/2006" xmlns:a14="http://schemas.microsoft.com/office/drawing/2010/main">
          <mc:Choice Requires="a14">
            <p:sp>
              <p:nvSpPr>
                <p:cNvPr id="101" name="文本框 117">
                  <a:extLst>
                    <a:ext uri="{FF2B5EF4-FFF2-40B4-BE49-F238E27FC236}">
                      <a16:creationId xmlns:a16="http://schemas.microsoft.com/office/drawing/2014/main" id="{8EDA1156-CDF0-28E7-7D70-441853597A4A}"/>
                    </a:ext>
                  </a:extLst>
                </p:cNvPr>
                <p:cNvSpPr txBox="1"/>
                <p:nvPr/>
              </p:nvSpPr>
              <p:spPr>
                <a:xfrm>
                  <a:off x="8465639" y="3555102"/>
                  <a:ext cx="476092"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800" i="1" smtClean="0">
                            <a:effectLst/>
                            <a:latin typeface="Cambria Math" panose="02040503050406030204" pitchFamily="18" charset="0"/>
                            <a:ea typeface="Cambria Math" panose="02040503050406030204" pitchFamily="18" charset="0"/>
                            <a:cs typeface="Cambria Math" panose="02040503050406030204" pitchFamily="18" charset="0"/>
                          </a:rPr>
                          <m:t>𝑥</m:t>
                        </m:r>
                      </m:oMath>
                    </m:oMathPara>
                  </a14:m>
                  <a:endParaRPr lang="zh-CN" altLang="zh-CN" sz="2800" dirty="0">
                    <a:effectLst/>
                    <a:latin typeface="Times New Roman" panose="02020603050405020304" pitchFamily="18" charset="0"/>
                    <a:ea typeface="Times New Roman" panose="02020603050405020304" pitchFamily="18" charset="0"/>
                  </a:endParaRPr>
                </a:p>
              </p:txBody>
            </p:sp>
          </mc:Choice>
          <mc:Fallback xmlns="">
            <p:sp>
              <p:nvSpPr>
                <p:cNvPr id="118" name="文本框 117">
                  <a:extLst>
                    <a:ext uri="{FF2B5EF4-FFF2-40B4-BE49-F238E27FC236}">
                      <a16:creationId xmlns:a16="http://schemas.microsoft.com/office/drawing/2014/main" id="{FC93B8AF-D11E-750E-E582-5DCDF9EF1D5D}"/>
                    </a:ext>
                  </a:extLst>
                </p:cNvPr>
                <p:cNvSpPr txBox="1">
                  <a:spLocks noRot="1" noChangeAspect="1" noMove="1" noResize="1" noEditPoints="1" noAdjustHandles="1" noChangeArrowheads="1" noChangeShapeType="1" noTextEdit="1"/>
                </p:cNvSpPr>
                <p:nvPr/>
              </p:nvSpPr>
              <p:spPr>
                <a:xfrm>
                  <a:off x="8465639" y="3555102"/>
                  <a:ext cx="476092" cy="52322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2" name="文本框 119">
                  <a:extLst>
                    <a:ext uri="{FF2B5EF4-FFF2-40B4-BE49-F238E27FC236}">
                      <a16:creationId xmlns:a16="http://schemas.microsoft.com/office/drawing/2014/main" id="{9056021D-D64F-873B-DD43-21FDB4F3F20F}"/>
                    </a:ext>
                  </a:extLst>
                </p:cNvPr>
                <p:cNvSpPr txBox="1"/>
                <p:nvPr/>
              </p:nvSpPr>
              <p:spPr>
                <a:xfrm>
                  <a:off x="10246933" y="3534657"/>
                  <a:ext cx="616332"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800" i="1" smtClean="0">
                            <a:effectLst/>
                            <a:latin typeface="Cambria Math" panose="02040503050406030204" pitchFamily="18" charset="0"/>
                            <a:ea typeface="Cambria Math" panose="02040503050406030204" pitchFamily="18" charset="0"/>
                            <a:cs typeface="Cambria Math" panose="02040503050406030204" pitchFamily="18" charset="0"/>
                          </a:rPr>
                          <m:t>𝑦</m:t>
                        </m:r>
                      </m:oMath>
                    </m:oMathPara>
                  </a14:m>
                  <a:endParaRPr lang="zh-CN" altLang="zh-CN" sz="2800" dirty="0">
                    <a:effectLst/>
                    <a:latin typeface="Times New Roman" panose="02020603050405020304" pitchFamily="18" charset="0"/>
                    <a:ea typeface="Times New Roman" panose="02020603050405020304" pitchFamily="18" charset="0"/>
                  </a:endParaRPr>
                </a:p>
              </p:txBody>
            </p:sp>
          </mc:Choice>
          <mc:Fallback xmlns="">
            <p:sp>
              <p:nvSpPr>
                <p:cNvPr id="120" name="文本框 119">
                  <a:extLst>
                    <a:ext uri="{FF2B5EF4-FFF2-40B4-BE49-F238E27FC236}">
                      <a16:creationId xmlns:a16="http://schemas.microsoft.com/office/drawing/2014/main" id="{3FD6DC1F-06AF-E4F6-7540-B5C8F50DA155}"/>
                    </a:ext>
                  </a:extLst>
                </p:cNvPr>
                <p:cNvSpPr txBox="1">
                  <a:spLocks noRot="1" noChangeAspect="1" noMove="1" noResize="1" noEditPoints="1" noAdjustHandles="1" noChangeArrowheads="1" noChangeShapeType="1" noTextEdit="1"/>
                </p:cNvSpPr>
                <p:nvPr/>
              </p:nvSpPr>
              <p:spPr>
                <a:xfrm>
                  <a:off x="10246933" y="3534657"/>
                  <a:ext cx="616332" cy="523220"/>
                </a:xfrm>
                <a:prstGeom prst="rect">
                  <a:avLst/>
                </a:prstGeom>
                <a:blipFill>
                  <a:blip r:embed="rId5"/>
                  <a:stretch>
                    <a:fillRect b="-1190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3" name="矩形 120">
                  <a:extLst>
                    <a:ext uri="{FF2B5EF4-FFF2-40B4-BE49-F238E27FC236}">
                      <a16:creationId xmlns:a16="http://schemas.microsoft.com/office/drawing/2014/main" id="{6280A775-FB32-008E-A836-C4088A5ABF70}"/>
                    </a:ext>
                  </a:extLst>
                </p:cNvPr>
                <p:cNvSpPr/>
                <p:nvPr/>
              </p:nvSpPr>
              <p:spPr>
                <a:xfrm>
                  <a:off x="9173980" y="3403266"/>
                  <a:ext cx="869267" cy="850454"/>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CN" sz="2400" b="0" i="1" smtClean="0">
                            <a:solidFill>
                              <a:schemeClr val="tx1"/>
                            </a:solidFill>
                            <a:effectLst/>
                            <a:latin typeface="Cambria Math" panose="02040503050406030204" pitchFamily="18" charset="0"/>
                            <a:ea typeface="Cambria Math" panose="02040503050406030204" pitchFamily="18" charset="0"/>
                            <a:cs typeface="Cambria Math" panose="02040503050406030204" pitchFamily="18" charset="0"/>
                          </a:rPr>
                          <m:t>  </m:t>
                        </m:r>
                        <m:r>
                          <a:rPr lang="en-US" altLang="zh-CN" sz="2400" i="1" smtClean="0">
                            <a:solidFill>
                              <a:schemeClr val="tx1"/>
                            </a:solidFill>
                            <a:effectLst/>
                            <a:latin typeface="Cambria Math" panose="02040503050406030204" pitchFamily="18" charset="0"/>
                            <a:ea typeface="Cambria Math" panose="02040503050406030204" pitchFamily="18" charset="0"/>
                            <a:cs typeface="Cambria Math" panose="02040503050406030204" pitchFamily="18" charset="0"/>
                          </a:rPr>
                          <m:t>𝐹</m:t>
                        </m:r>
                        <m:r>
                          <a:rPr lang="en-US" altLang="zh-CN" sz="2400" i="1" smtClean="0">
                            <a:solidFill>
                              <a:schemeClr val="tx1"/>
                            </a:solidFill>
                            <a:effectLst/>
                            <a:latin typeface="Cambria Math" panose="02040503050406030204" pitchFamily="18" charset="0"/>
                            <a:ea typeface="Cambria Math" panose="02040503050406030204" pitchFamily="18" charset="0"/>
                            <a:cs typeface="Cambria Math" panose="02040503050406030204" pitchFamily="18" charset="0"/>
                          </a:rPr>
                          <m:t>(</m:t>
                        </m:r>
                        <m:r>
                          <a:rPr lang="en-US" altLang="zh-CN" sz="2400" i="1" smtClean="0">
                            <a:solidFill>
                              <a:schemeClr val="tx1"/>
                            </a:solidFill>
                            <a:effectLst/>
                            <a:latin typeface="Cambria Math" panose="02040503050406030204" pitchFamily="18" charset="0"/>
                            <a:ea typeface="Cambria Math" panose="02040503050406030204" pitchFamily="18" charset="0"/>
                            <a:cs typeface="Cambria Math" panose="02040503050406030204" pitchFamily="18" charset="0"/>
                          </a:rPr>
                          <m:t>𝑥</m:t>
                        </m:r>
                        <m:r>
                          <a:rPr lang="en-US" altLang="zh-CN" sz="2400" i="1" smtClean="0">
                            <a:solidFill>
                              <a:schemeClr val="tx1"/>
                            </a:solidFill>
                            <a:effectLst/>
                            <a:latin typeface="Cambria Math" panose="02040503050406030204" pitchFamily="18" charset="0"/>
                            <a:ea typeface="Cambria Math" panose="02040503050406030204" pitchFamily="18" charset="0"/>
                            <a:cs typeface="Cambria Math" panose="02040503050406030204" pitchFamily="18" charset="0"/>
                          </a:rPr>
                          <m:t>)</m:t>
                        </m:r>
                      </m:oMath>
                    </m:oMathPara>
                  </a14:m>
                  <a:endParaRPr lang="zh-CN" altLang="zh-CN" sz="2400" dirty="0">
                    <a:solidFill>
                      <a:schemeClr val="tx1"/>
                    </a:solidFill>
                    <a:effectLst/>
                    <a:latin typeface="Times New Roman" panose="02020603050405020304" pitchFamily="18" charset="0"/>
                    <a:ea typeface="Times New Roman" panose="02020603050405020304" pitchFamily="18" charset="0"/>
                  </a:endParaRPr>
                </a:p>
              </p:txBody>
            </p:sp>
          </mc:Choice>
          <mc:Fallback xmlns="">
            <p:sp>
              <p:nvSpPr>
                <p:cNvPr id="121" name="矩形 120">
                  <a:extLst>
                    <a:ext uri="{FF2B5EF4-FFF2-40B4-BE49-F238E27FC236}">
                      <a16:creationId xmlns:a16="http://schemas.microsoft.com/office/drawing/2014/main" id="{647ED056-3B1D-3D4B-013C-CAE0EE985211}"/>
                    </a:ext>
                  </a:extLst>
                </p:cNvPr>
                <p:cNvSpPr>
                  <a:spLocks noRot="1" noChangeAspect="1" noMove="1" noResize="1" noEditPoints="1" noAdjustHandles="1" noChangeArrowheads="1" noChangeShapeType="1" noTextEdit="1"/>
                </p:cNvSpPr>
                <p:nvPr/>
              </p:nvSpPr>
              <p:spPr>
                <a:xfrm>
                  <a:off x="9173980" y="3403266"/>
                  <a:ext cx="869267" cy="850454"/>
                </a:xfrm>
                <a:prstGeom prst="rect">
                  <a:avLst/>
                </a:prstGeom>
                <a:blipFill>
                  <a:blip r:embed="rId6"/>
                  <a:stretch>
                    <a:fillRect l="-14085" r="-4225"/>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19088702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C02C7AE-B473-BC1B-B982-ECAF6CC4C4D4}"/>
              </a:ext>
            </a:extLst>
          </p:cNvPr>
          <p:cNvPicPr>
            <a:picLocks noChangeAspect="1"/>
          </p:cNvPicPr>
          <p:nvPr/>
        </p:nvPicPr>
        <p:blipFill>
          <a:blip r:embed="rId2"/>
          <a:stretch>
            <a:fillRect/>
          </a:stretch>
        </p:blipFill>
        <p:spPr>
          <a:xfrm>
            <a:off x="4800157" y="1734743"/>
            <a:ext cx="6725427" cy="3388514"/>
          </a:xfrm>
          <a:prstGeom prst="rect">
            <a:avLst/>
          </a:prstGeom>
        </p:spPr>
      </p:pic>
      <p:sp>
        <p:nvSpPr>
          <p:cNvPr id="2" name="标题 1">
            <a:extLst>
              <a:ext uri="{FF2B5EF4-FFF2-40B4-BE49-F238E27FC236}">
                <a16:creationId xmlns:a16="http://schemas.microsoft.com/office/drawing/2014/main" id="{8166BD27-BEF1-DF42-8647-5D0C3EA955D6}"/>
              </a:ext>
            </a:extLst>
          </p:cNvPr>
          <p:cNvSpPr>
            <a:spLocks noGrp="1"/>
          </p:cNvSpPr>
          <p:nvPr>
            <p:ph type="title"/>
          </p:nvPr>
        </p:nvSpPr>
        <p:spPr/>
        <p:txBody>
          <a:bodyPr/>
          <a:lstStyle/>
          <a:p>
            <a:r>
              <a:rPr kumimoji="1" lang="zh-CN" altLang="en-US" dirty="0"/>
              <a:t>提纲</a:t>
            </a:r>
          </a:p>
        </p:txBody>
      </p:sp>
      <p:sp>
        <p:nvSpPr>
          <p:cNvPr id="3" name="内容占位符 2">
            <a:extLst>
              <a:ext uri="{FF2B5EF4-FFF2-40B4-BE49-F238E27FC236}">
                <a16:creationId xmlns:a16="http://schemas.microsoft.com/office/drawing/2014/main" id="{A2D0DB05-8797-7647-B132-FFE2E7510516}"/>
              </a:ext>
            </a:extLst>
          </p:cNvPr>
          <p:cNvSpPr>
            <a:spLocks noGrp="1"/>
          </p:cNvSpPr>
          <p:nvPr>
            <p:ph idx="1"/>
          </p:nvPr>
        </p:nvSpPr>
        <p:spPr/>
        <p:txBody>
          <a:bodyPr/>
          <a:lstStyle/>
          <a:p>
            <a:r>
              <a:rPr kumimoji="1" lang="en-US" altLang="zh-CN" sz="2400" dirty="0">
                <a:solidFill>
                  <a:schemeClr val="bg1">
                    <a:lumMod val="50000"/>
                  </a:schemeClr>
                </a:solidFill>
              </a:rPr>
              <a:t>3.1</a:t>
            </a:r>
            <a:r>
              <a:rPr kumimoji="1" lang="zh-CN" altLang="en-US" sz="2400" dirty="0">
                <a:solidFill>
                  <a:schemeClr val="bg1">
                    <a:lumMod val="50000"/>
                  </a:schemeClr>
                </a:solidFill>
              </a:rPr>
              <a:t> 从手写数字识别说起</a:t>
            </a:r>
            <a:endParaRPr kumimoji="1" lang="en-US" altLang="zh-CN" sz="2400" dirty="0">
              <a:solidFill>
                <a:schemeClr val="bg1">
                  <a:lumMod val="50000"/>
                </a:schemeClr>
              </a:solidFill>
            </a:endParaRPr>
          </a:p>
          <a:p>
            <a:r>
              <a:rPr kumimoji="1" lang="en-US" altLang="zh-CN" sz="2400" dirty="0">
                <a:solidFill>
                  <a:schemeClr val="tx1"/>
                </a:solidFill>
              </a:rPr>
              <a:t>3.2 </a:t>
            </a:r>
            <a:r>
              <a:rPr kumimoji="1" lang="zh-CN" altLang="en-US" sz="2400" dirty="0">
                <a:solidFill>
                  <a:schemeClr val="tx1"/>
                </a:solidFill>
              </a:rPr>
              <a:t>基本环境搭建与配置</a:t>
            </a:r>
          </a:p>
          <a:p>
            <a:r>
              <a:rPr kumimoji="1" lang="en-US" altLang="zh-CN" sz="2400" dirty="0">
                <a:solidFill>
                  <a:schemeClr val="bg1">
                    <a:lumMod val="50000"/>
                  </a:schemeClr>
                </a:solidFill>
              </a:rPr>
              <a:t>3.3 PYTHON</a:t>
            </a:r>
            <a:r>
              <a:rPr kumimoji="1" lang="zh-CN" altLang="en-US" sz="2400" dirty="0">
                <a:solidFill>
                  <a:schemeClr val="bg1">
                    <a:lumMod val="50000"/>
                  </a:schemeClr>
                </a:solidFill>
              </a:rPr>
              <a:t>入门</a:t>
            </a:r>
          </a:p>
          <a:p>
            <a:r>
              <a:rPr kumimoji="1" lang="en-US" altLang="zh-CN" sz="2400" dirty="0">
                <a:solidFill>
                  <a:schemeClr val="bg1">
                    <a:lumMod val="50000"/>
                  </a:schemeClr>
                </a:solidFill>
              </a:rPr>
              <a:t>3.4 AI</a:t>
            </a:r>
            <a:r>
              <a:rPr kumimoji="1" lang="zh-CN" altLang="en-US" sz="2400" dirty="0">
                <a:solidFill>
                  <a:schemeClr val="bg1">
                    <a:lumMod val="50000"/>
                  </a:schemeClr>
                </a:solidFill>
              </a:rPr>
              <a:t>算法库和开发工具包</a:t>
            </a:r>
          </a:p>
          <a:p>
            <a:r>
              <a:rPr kumimoji="1" lang="en-US" altLang="zh-CN" sz="2400" dirty="0">
                <a:solidFill>
                  <a:schemeClr val="bg1">
                    <a:lumMod val="50000"/>
                  </a:schemeClr>
                </a:solidFill>
              </a:rPr>
              <a:t>3.5</a:t>
            </a:r>
            <a:r>
              <a:rPr kumimoji="1" lang="zh-CN" altLang="en-US" sz="2400" dirty="0">
                <a:solidFill>
                  <a:schemeClr val="bg1">
                    <a:lumMod val="50000"/>
                  </a:schemeClr>
                </a:solidFill>
              </a:rPr>
              <a:t>深度学习框架</a:t>
            </a:r>
          </a:p>
          <a:p>
            <a:endParaRPr kumimoji="1" lang="zh-CN" altLang="en-US" sz="2400" dirty="0"/>
          </a:p>
        </p:txBody>
      </p:sp>
      <p:sp>
        <p:nvSpPr>
          <p:cNvPr id="5" name="文本框 4">
            <a:extLst>
              <a:ext uri="{FF2B5EF4-FFF2-40B4-BE49-F238E27FC236}">
                <a16:creationId xmlns:a16="http://schemas.microsoft.com/office/drawing/2014/main" id="{0211E28A-4EA5-F641-BA32-4A365C3B657D}"/>
              </a:ext>
            </a:extLst>
          </p:cNvPr>
          <p:cNvSpPr txBox="1"/>
          <p:nvPr/>
        </p:nvSpPr>
        <p:spPr>
          <a:xfrm>
            <a:off x="4800157" y="2529989"/>
            <a:ext cx="1107996" cy="369332"/>
          </a:xfrm>
          <a:prstGeom prst="rect">
            <a:avLst/>
          </a:prstGeom>
          <a:solidFill>
            <a:srgbClr val="234C9F"/>
          </a:solidFill>
        </p:spPr>
        <p:txBody>
          <a:bodyPr wrap="none" rtlCol="0">
            <a:sp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知识图谱</a:t>
            </a:r>
          </a:p>
        </p:txBody>
      </p:sp>
    </p:spTree>
    <p:extLst>
      <p:ext uri="{BB962C8B-B14F-4D97-AF65-F5344CB8AC3E}">
        <p14:creationId xmlns:p14="http://schemas.microsoft.com/office/powerpoint/2010/main" val="2150256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3.2</a:t>
            </a:r>
            <a:r>
              <a:rPr lang="zh-CN" altLang="en-US" dirty="0"/>
              <a:t> 集成环境概述</a:t>
            </a:r>
            <a:r>
              <a:rPr lang="en-US" altLang="zh-CN" dirty="0"/>
              <a:t>——Anaconda</a:t>
            </a:r>
            <a:endParaRPr lang="zh-CN" altLang="en-US" dirty="0"/>
          </a:p>
        </p:txBody>
      </p:sp>
      <p:sp>
        <p:nvSpPr>
          <p:cNvPr id="3" name="内容占位符 2">
            <a:extLst>
              <a:ext uri="{FF2B5EF4-FFF2-40B4-BE49-F238E27FC236}">
                <a16:creationId xmlns:a16="http://schemas.microsoft.com/office/drawing/2014/main" id="{1BD11237-22C8-DAD2-A8D2-F2D8F1A60BDC}"/>
              </a:ext>
            </a:extLst>
          </p:cNvPr>
          <p:cNvSpPr>
            <a:spLocks noGrp="1"/>
          </p:cNvSpPr>
          <p:nvPr>
            <p:ph idx="1"/>
          </p:nvPr>
        </p:nvSpPr>
        <p:spPr>
          <a:xfrm>
            <a:off x="306984" y="911080"/>
            <a:ext cx="11286483" cy="1445655"/>
          </a:xfrm>
        </p:spPr>
        <p:txBody>
          <a:bodyPr/>
          <a:lstStyle/>
          <a:p>
            <a:pPr>
              <a:buFont typeface="Wingdings" pitchFamily="2" charset="2"/>
              <a:buChar char="p"/>
            </a:pPr>
            <a:r>
              <a:rPr kumimoji="1" lang="en-US" altLang="zh-CN" b="0" dirty="0">
                <a:latin typeface="Microsoft YaHei" panose="020B0503020204020204" pitchFamily="34" charset="-122"/>
                <a:ea typeface="Microsoft YaHei" panose="020B0503020204020204" pitchFamily="34" charset="-122"/>
              </a:rPr>
              <a:t>Anaconda </a:t>
            </a:r>
            <a:r>
              <a:rPr kumimoji="1" lang="zh-CN" altLang="en-US" b="0" dirty="0">
                <a:latin typeface="Microsoft YaHei" panose="020B0503020204020204" pitchFamily="34" charset="-122"/>
                <a:ea typeface="Microsoft YaHei" panose="020B0503020204020204" pitchFamily="34" charset="-122"/>
              </a:rPr>
              <a:t>是一个开源的 </a:t>
            </a:r>
            <a:r>
              <a:rPr kumimoji="1" lang="en-US" altLang="zh-CN" b="0" dirty="0">
                <a:latin typeface="Microsoft YaHei" panose="020B0503020204020204" pitchFamily="34" charset="-122"/>
                <a:ea typeface="Microsoft YaHei" panose="020B0503020204020204" pitchFamily="34" charset="-122"/>
              </a:rPr>
              <a:t>Python </a:t>
            </a:r>
            <a:r>
              <a:rPr kumimoji="1" lang="zh-CN" altLang="en-US" b="0" dirty="0">
                <a:latin typeface="Microsoft YaHei" panose="020B0503020204020204" pitchFamily="34" charset="-122"/>
                <a:ea typeface="Microsoft YaHei" panose="020B0503020204020204" pitchFamily="34" charset="-122"/>
              </a:rPr>
              <a:t>和 </a:t>
            </a:r>
            <a:r>
              <a:rPr kumimoji="1" lang="en-US" altLang="zh-CN" b="0" dirty="0">
                <a:latin typeface="Microsoft YaHei" panose="020B0503020204020204" pitchFamily="34" charset="-122"/>
                <a:ea typeface="Microsoft YaHei" panose="020B0503020204020204" pitchFamily="34" charset="-122"/>
              </a:rPr>
              <a:t>R </a:t>
            </a:r>
            <a:r>
              <a:rPr kumimoji="1" lang="zh-CN" altLang="en-US" b="0" dirty="0">
                <a:latin typeface="Microsoft YaHei" panose="020B0503020204020204" pitchFamily="34" charset="-122"/>
                <a:ea typeface="Microsoft YaHei" panose="020B0503020204020204" pitchFamily="34" charset="-122"/>
              </a:rPr>
              <a:t>数据科学平台，旨在简化包管理和环境管理，提供对数据科学和机器学习工具的支持，包含 </a:t>
            </a:r>
            <a:r>
              <a:rPr kumimoji="1" lang="en-US" altLang="zh-CN" b="0" dirty="0" err="1">
                <a:latin typeface="Microsoft YaHei" panose="020B0503020204020204" pitchFamily="34" charset="-122"/>
                <a:ea typeface="Microsoft YaHei" panose="020B0503020204020204" pitchFamily="34" charset="-122"/>
              </a:rPr>
              <a:t>Conda</a:t>
            </a:r>
            <a:r>
              <a:rPr kumimoji="1" lang="en-US" altLang="zh-CN" b="0" dirty="0">
                <a:latin typeface="Microsoft YaHei" panose="020B0503020204020204" pitchFamily="34" charset="-122"/>
                <a:ea typeface="Microsoft YaHei" panose="020B0503020204020204" pitchFamily="34" charset="-122"/>
              </a:rPr>
              <a:t> </a:t>
            </a:r>
            <a:r>
              <a:rPr kumimoji="1" lang="zh-CN" altLang="en-US" b="0" dirty="0">
                <a:latin typeface="Microsoft YaHei" panose="020B0503020204020204" pitchFamily="34" charset="-122"/>
                <a:ea typeface="Microsoft YaHei" panose="020B0503020204020204" pitchFamily="34" charset="-122"/>
              </a:rPr>
              <a:t>包管理器和环境管理器等。</a:t>
            </a:r>
            <a:endParaRPr kumimoji="1" lang="en-US" altLang="zh-CN" b="0" dirty="0">
              <a:latin typeface="Microsoft YaHei" panose="020B0503020204020204" pitchFamily="34" charset="-122"/>
              <a:ea typeface="Microsoft YaHei" panose="020B0503020204020204" pitchFamily="34" charset="-122"/>
            </a:endParaRPr>
          </a:p>
        </p:txBody>
      </p:sp>
      <p:grpSp>
        <p:nvGrpSpPr>
          <p:cNvPr id="4" name="组合 10">
            <a:extLst>
              <a:ext uri="{FF2B5EF4-FFF2-40B4-BE49-F238E27FC236}">
                <a16:creationId xmlns:a16="http://schemas.microsoft.com/office/drawing/2014/main" id="{C43F3942-F945-10C4-3F2F-8171AF1B7307}"/>
              </a:ext>
            </a:extLst>
          </p:cNvPr>
          <p:cNvGrpSpPr/>
          <p:nvPr/>
        </p:nvGrpSpPr>
        <p:grpSpPr>
          <a:xfrm>
            <a:off x="586646" y="2623559"/>
            <a:ext cx="6119126" cy="2757044"/>
            <a:chOff x="737252" y="3244334"/>
            <a:chExt cx="6106932" cy="2757044"/>
          </a:xfrm>
        </p:grpSpPr>
        <p:sp>
          <p:nvSpPr>
            <p:cNvPr id="5" name="文本框 5">
              <a:extLst>
                <a:ext uri="{FF2B5EF4-FFF2-40B4-BE49-F238E27FC236}">
                  <a16:creationId xmlns:a16="http://schemas.microsoft.com/office/drawing/2014/main" id="{1DD8A584-395D-16FC-5D3A-AB3F4178FD5A}"/>
                </a:ext>
              </a:extLst>
            </p:cNvPr>
            <p:cNvSpPr txBox="1"/>
            <p:nvPr/>
          </p:nvSpPr>
          <p:spPr>
            <a:xfrm>
              <a:off x="744468" y="3244334"/>
              <a:ext cx="6099716" cy="492443"/>
            </a:xfrm>
            <a:prstGeom prst="rect">
              <a:avLst/>
            </a:prstGeom>
            <a:noFill/>
          </p:spPr>
          <p:txBody>
            <a:bodyPr wrap="square">
              <a:spAutoFit/>
            </a:bodyPr>
            <a:lstStyle/>
            <a:p>
              <a:r>
                <a:rPr lang="zh-CN" altLang="en-US" sz="2600" dirty="0">
                  <a:latin typeface="Microsoft YaHei" panose="020B0503020204020204" pitchFamily="34" charset="-122"/>
                  <a:ea typeface="Microsoft YaHei" panose="020B0503020204020204" pitchFamily="34" charset="-122"/>
                </a:rPr>
                <a:t>核心组件：</a:t>
              </a:r>
            </a:p>
          </p:txBody>
        </p:sp>
        <p:sp>
          <p:nvSpPr>
            <p:cNvPr id="6" name="文本框 7">
              <a:extLst>
                <a:ext uri="{FF2B5EF4-FFF2-40B4-BE49-F238E27FC236}">
                  <a16:creationId xmlns:a16="http://schemas.microsoft.com/office/drawing/2014/main" id="{093E1F64-AFEB-74FE-5C87-224BE6548D5C}"/>
                </a:ext>
              </a:extLst>
            </p:cNvPr>
            <p:cNvSpPr txBox="1"/>
            <p:nvPr/>
          </p:nvSpPr>
          <p:spPr>
            <a:xfrm>
              <a:off x="737252" y="3693054"/>
              <a:ext cx="6099716" cy="2308324"/>
            </a:xfrm>
            <a:prstGeom prst="rect">
              <a:avLst/>
            </a:prstGeom>
            <a:noFill/>
          </p:spPr>
          <p:txBody>
            <a:bodyPr wrap="square">
              <a:spAutoFit/>
            </a:bodyPr>
            <a:lstStyle/>
            <a:p>
              <a:pPr marL="285750" indent="-285750">
                <a:buFont typeface="Wingdings" pitchFamily="2" charset="2"/>
                <a:buChar char="Ø"/>
              </a:pPr>
              <a:r>
                <a:rPr lang="en" altLang="zh-CN" sz="2400" dirty="0" err="1">
                  <a:latin typeface="Microsoft YaHei" panose="020B0503020204020204" pitchFamily="34" charset="-122"/>
                  <a:ea typeface="Microsoft YaHei" panose="020B0503020204020204" pitchFamily="34" charset="-122"/>
                </a:rPr>
                <a:t>Conda</a:t>
              </a:r>
              <a:r>
                <a:rPr lang="zh-CN" altLang="en" sz="2400" dirty="0">
                  <a:latin typeface="Microsoft YaHei" panose="020B0503020204020204" pitchFamily="34" charset="-122"/>
                  <a:ea typeface="Microsoft YaHei" panose="020B0503020204020204" pitchFamily="34" charset="-122"/>
                </a:rPr>
                <a:t>：</a:t>
              </a:r>
              <a:r>
                <a:rPr lang="en"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包管理和环境管理工具</a:t>
              </a:r>
              <a:endParaRPr lang="en-US" altLang="zh-CN" sz="2400" dirty="0">
                <a:latin typeface="Microsoft YaHei" panose="020B0503020204020204" pitchFamily="34" charset="-122"/>
                <a:ea typeface="Microsoft YaHei" panose="020B0503020204020204" pitchFamily="34" charset="-122"/>
              </a:endParaRPr>
            </a:p>
            <a:p>
              <a:pPr marL="285750" indent="-285750">
                <a:buFont typeface="Wingdings" pitchFamily="2" charset="2"/>
                <a:buChar char="Ø"/>
              </a:pPr>
              <a:r>
                <a:rPr lang="en" altLang="zh-CN" sz="2400" dirty="0">
                  <a:latin typeface="Microsoft YaHei" panose="020B0503020204020204" pitchFamily="34" charset="-122"/>
                  <a:ea typeface="Microsoft YaHei" panose="020B0503020204020204" pitchFamily="34" charset="-122"/>
                </a:rPr>
                <a:t>Anaconda Navigator</a:t>
              </a:r>
              <a:r>
                <a:rPr lang="zh-CN" altLang="en" sz="2400" dirty="0">
                  <a:latin typeface="Microsoft YaHei" panose="020B0503020204020204" pitchFamily="34" charset="-122"/>
                  <a:ea typeface="Microsoft YaHei" panose="020B0503020204020204" pitchFamily="34" charset="-122"/>
                </a:rPr>
                <a:t>：</a:t>
              </a:r>
              <a:r>
                <a:rPr lang="en"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图形用户界面，用于管理环境和包</a:t>
              </a:r>
              <a:endParaRPr lang="en-US" altLang="zh-CN" sz="2400" dirty="0">
                <a:latin typeface="Microsoft YaHei" panose="020B0503020204020204" pitchFamily="34" charset="-122"/>
                <a:ea typeface="Microsoft YaHei" panose="020B0503020204020204" pitchFamily="34" charset="-122"/>
              </a:endParaRPr>
            </a:p>
            <a:p>
              <a:pPr marL="285750" indent="-285750">
                <a:buFont typeface="Wingdings" pitchFamily="2" charset="2"/>
                <a:buChar char="Ø"/>
              </a:pPr>
              <a:r>
                <a:rPr lang="en" altLang="zh-CN" sz="2400" dirty="0" err="1">
                  <a:latin typeface="Microsoft YaHei" panose="020B0503020204020204" pitchFamily="34" charset="-122"/>
                  <a:ea typeface="Microsoft YaHei" panose="020B0503020204020204" pitchFamily="34" charset="-122"/>
                </a:rPr>
                <a:t>Jupyter</a:t>
              </a:r>
              <a:r>
                <a:rPr lang="en" altLang="zh-CN" sz="2400" dirty="0">
                  <a:latin typeface="Microsoft YaHei" panose="020B0503020204020204" pitchFamily="34" charset="-122"/>
                  <a:ea typeface="Microsoft YaHei" panose="020B0503020204020204" pitchFamily="34" charset="-122"/>
                </a:rPr>
                <a:t> Notebook</a:t>
              </a:r>
              <a:r>
                <a:rPr lang="zh-CN" altLang="en" sz="2400" dirty="0">
                  <a:latin typeface="Microsoft YaHei" panose="020B0503020204020204" pitchFamily="34" charset="-122"/>
                  <a:ea typeface="Microsoft YaHei" panose="020B0503020204020204" pitchFamily="34" charset="-122"/>
                </a:rPr>
                <a:t>：</a:t>
              </a:r>
              <a:r>
                <a:rPr lang="en"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交互式计算环境</a:t>
              </a:r>
              <a:endParaRPr lang="en-US" altLang="zh-CN" sz="2400" dirty="0">
                <a:latin typeface="Microsoft YaHei" panose="020B0503020204020204" pitchFamily="34" charset="-122"/>
                <a:ea typeface="Microsoft YaHei" panose="020B0503020204020204" pitchFamily="34" charset="-122"/>
              </a:endParaRPr>
            </a:p>
            <a:p>
              <a:pPr marL="285750" indent="-285750">
                <a:buFont typeface="Wingdings" pitchFamily="2" charset="2"/>
                <a:buChar char="Ø"/>
              </a:pPr>
              <a:r>
                <a:rPr lang="en" altLang="zh-CN" sz="2400" dirty="0">
                  <a:latin typeface="Microsoft YaHei" panose="020B0503020204020204" pitchFamily="34" charset="-122"/>
                  <a:ea typeface="Microsoft YaHei" panose="020B0503020204020204" pitchFamily="34" charset="-122"/>
                </a:rPr>
                <a:t>Spyder</a:t>
              </a:r>
              <a:r>
                <a:rPr lang="zh-CN" altLang="en" sz="2400" dirty="0">
                  <a:latin typeface="Microsoft YaHei" panose="020B0503020204020204" pitchFamily="34" charset="-122"/>
                  <a:ea typeface="Microsoft YaHei" panose="020B0503020204020204" pitchFamily="34" charset="-122"/>
                </a:rPr>
                <a:t>：</a:t>
              </a:r>
              <a:r>
                <a:rPr lang="en" altLang="zh-CN" sz="2400" dirty="0">
                  <a:latin typeface="Microsoft YaHei" panose="020B0503020204020204" pitchFamily="34" charset="-122"/>
                  <a:ea typeface="Microsoft YaHei" panose="020B0503020204020204" pitchFamily="34" charset="-122"/>
                </a:rPr>
                <a:t> Python IDE </a:t>
              </a:r>
              <a:r>
                <a:rPr lang="zh-CN" altLang="en-US" sz="2400" dirty="0">
                  <a:latin typeface="Microsoft YaHei" panose="020B0503020204020204" pitchFamily="34" charset="-122"/>
                  <a:ea typeface="Microsoft YaHei" panose="020B0503020204020204" pitchFamily="34" charset="-122"/>
                </a:rPr>
                <a:t>适用于数据分析</a:t>
              </a:r>
              <a:endParaRPr lang="en-US" altLang="zh-CN" sz="2400" dirty="0">
                <a:latin typeface="Microsoft YaHei" panose="020B0503020204020204" pitchFamily="34" charset="-122"/>
                <a:ea typeface="Microsoft YaHei" panose="020B0503020204020204" pitchFamily="34" charset="-122"/>
              </a:endParaRPr>
            </a:p>
            <a:p>
              <a:r>
                <a:rPr lang="en-US" altLang="zh-CN" sz="2400" dirty="0">
                  <a:latin typeface="Microsoft YaHei" panose="020B0503020204020204" pitchFamily="34" charset="-122"/>
                  <a:ea typeface="Microsoft YaHei" panose="020B0503020204020204" pitchFamily="34" charset="-122"/>
                </a:rPr>
                <a:t>……</a:t>
              </a:r>
              <a:endParaRPr lang="zh-CN" altLang="en-US" sz="2400" dirty="0">
                <a:latin typeface="Microsoft YaHei" panose="020B0503020204020204" pitchFamily="34" charset="-122"/>
                <a:ea typeface="Microsoft YaHei" panose="020B0503020204020204" pitchFamily="34" charset="-122"/>
              </a:endParaRPr>
            </a:p>
          </p:txBody>
        </p:sp>
      </p:grpSp>
      <p:pic>
        <p:nvPicPr>
          <p:cNvPr id="7" name="图片 12">
            <a:extLst>
              <a:ext uri="{FF2B5EF4-FFF2-40B4-BE49-F238E27FC236}">
                <a16:creationId xmlns:a16="http://schemas.microsoft.com/office/drawing/2014/main" id="{D5D7AC49-24C2-C89F-6511-9C74A691C8F6}"/>
              </a:ext>
            </a:extLst>
          </p:cNvPr>
          <p:cNvPicPr>
            <a:picLocks noChangeAspect="1"/>
          </p:cNvPicPr>
          <p:nvPr/>
        </p:nvPicPr>
        <p:blipFill>
          <a:blip r:embed="rId2"/>
          <a:srcRect t="20825" b="14547"/>
          <a:stretch/>
        </p:blipFill>
        <p:spPr>
          <a:xfrm>
            <a:off x="6479126" y="3779703"/>
            <a:ext cx="5259844" cy="835902"/>
          </a:xfrm>
          <a:prstGeom prst="rect">
            <a:avLst/>
          </a:prstGeom>
        </p:spPr>
      </p:pic>
    </p:spTree>
    <p:extLst>
      <p:ext uri="{BB962C8B-B14F-4D97-AF65-F5344CB8AC3E}">
        <p14:creationId xmlns:p14="http://schemas.microsoft.com/office/powerpoint/2010/main" val="3566110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3.2</a:t>
            </a:r>
            <a:r>
              <a:rPr lang="zh-CN" altLang="en-US" dirty="0"/>
              <a:t> 集成环境概述</a:t>
            </a:r>
            <a:r>
              <a:rPr lang="en-US" altLang="zh-CN" dirty="0"/>
              <a:t>——Anaconda</a:t>
            </a:r>
            <a:r>
              <a:rPr lang="zh-CN" altLang="en-US" dirty="0"/>
              <a:t>安装</a:t>
            </a:r>
          </a:p>
        </p:txBody>
      </p:sp>
      <p:pic>
        <p:nvPicPr>
          <p:cNvPr id="3" name="图片 4">
            <a:extLst>
              <a:ext uri="{FF2B5EF4-FFF2-40B4-BE49-F238E27FC236}">
                <a16:creationId xmlns:a16="http://schemas.microsoft.com/office/drawing/2014/main" id="{D92A9162-8EE0-151B-0C0C-2DE043F0730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93878" y="1973041"/>
            <a:ext cx="6618721" cy="3914177"/>
          </a:xfrm>
          <a:prstGeom prst="rect">
            <a:avLst/>
          </a:prstGeom>
          <a:ln w="19050">
            <a:solidFill>
              <a:schemeClr val="tx1"/>
            </a:solidFill>
          </a:ln>
        </p:spPr>
      </p:pic>
      <p:sp>
        <p:nvSpPr>
          <p:cNvPr id="4" name="内容占位符 2">
            <a:extLst>
              <a:ext uri="{FF2B5EF4-FFF2-40B4-BE49-F238E27FC236}">
                <a16:creationId xmlns:a16="http://schemas.microsoft.com/office/drawing/2014/main" id="{17A46A02-3F2F-DBF0-DFD8-864BB5D5193D}"/>
              </a:ext>
            </a:extLst>
          </p:cNvPr>
          <p:cNvSpPr txBox="1">
            <a:spLocks/>
          </p:cNvSpPr>
          <p:nvPr/>
        </p:nvSpPr>
        <p:spPr>
          <a:xfrm>
            <a:off x="359998" y="911769"/>
            <a:ext cx="11286483" cy="1445655"/>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Font typeface="Wingdings" pitchFamily="2" charset="2"/>
              <a:buChar char="n"/>
              <a:defRPr sz="2800" b="0" i="0" kern="1200">
                <a:solidFill>
                  <a:schemeClr val="tx1"/>
                </a:solidFill>
                <a:latin typeface="Lantinghei SC Extralight" panose="02000000000000000000" pitchFamily="2" charset="-122"/>
                <a:ea typeface="Lantinghei SC Extralight" panose="02000000000000000000" pitchFamily="2" charset="-122"/>
                <a:cs typeface="+mn-cs"/>
              </a:defRPr>
            </a:lvl1pPr>
            <a:lvl2pPr marL="685800" indent="-228600" algn="l" defTabSz="914400" rtl="0" eaLnBrk="1" latinLnBrk="0" hangingPunct="1">
              <a:lnSpc>
                <a:spcPct val="100000"/>
              </a:lnSpc>
              <a:spcBef>
                <a:spcPts val="500"/>
              </a:spcBef>
              <a:buFont typeface="Wingdings" pitchFamily="2" charset="2"/>
              <a:buChar char="n"/>
              <a:defRPr sz="2400" b="0" i="0" kern="1200">
                <a:solidFill>
                  <a:schemeClr val="tx1"/>
                </a:solidFill>
                <a:latin typeface="Lantinghei SC Extralight" panose="02000000000000000000" pitchFamily="2" charset="-122"/>
                <a:ea typeface="Lantinghei SC Extralight" panose="02000000000000000000" pitchFamily="2" charset="-122"/>
                <a:cs typeface="+mn-cs"/>
              </a:defRPr>
            </a:lvl2pPr>
            <a:lvl3pPr marL="1143000" indent="-228600" algn="l" defTabSz="914400" rtl="0" eaLnBrk="1" latinLnBrk="0" hangingPunct="1">
              <a:lnSpc>
                <a:spcPct val="100000"/>
              </a:lnSpc>
              <a:spcBef>
                <a:spcPts val="500"/>
              </a:spcBef>
              <a:buFont typeface="Wingdings" pitchFamily="2" charset="2"/>
              <a:buChar char="n"/>
              <a:defRPr sz="2000" kern="1200">
                <a:solidFill>
                  <a:schemeClr val="tx1"/>
                </a:solidFill>
                <a:latin typeface="KaiTi" panose="02010609060101010101" pitchFamily="49" charset="-122"/>
                <a:ea typeface="KaiTi" panose="02010609060101010101" pitchFamily="49" charset="-122"/>
                <a:cs typeface="+mn-cs"/>
              </a:defRPr>
            </a:lvl3pPr>
            <a:lvl4pPr marL="1600200" indent="-228600" algn="l" defTabSz="914400" rtl="0" eaLnBrk="1" latinLnBrk="0" hangingPunct="1">
              <a:lnSpc>
                <a:spcPct val="100000"/>
              </a:lnSpc>
              <a:spcBef>
                <a:spcPts val="500"/>
              </a:spcBef>
              <a:buFont typeface="Wingdings" pitchFamily="2" charset="2"/>
              <a:buChar char="n"/>
              <a:defRPr sz="1800" kern="1200">
                <a:solidFill>
                  <a:schemeClr val="tx1"/>
                </a:solidFill>
                <a:latin typeface="KaiTi" panose="02010609060101010101" pitchFamily="49" charset="-122"/>
                <a:ea typeface="KaiTi" panose="02010609060101010101" pitchFamily="49" charset="-122"/>
                <a:cs typeface="+mn-cs"/>
              </a:defRPr>
            </a:lvl4pPr>
            <a:lvl5pPr marL="2057400" indent="-228600" algn="l" defTabSz="914400" rtl="0" eaLnBrk="1" latinLnBrk="0" hangingPunct="1">
              <a:lnSpc>
                <a:spcPct val="100000"/>
              </a:lnSpc>
              <a:spcBef>
                <a:spcPts val="500"/>
              </a:spcBef>
              <a:buFont typeface="Wingdings" pitchFamily="2" charset="2"/>
              <a:buChar char="n"/>
              <a:defRPr sz="1800" kern="1200">
                <a:solidFill>
                  <a:schemeClr val="tx1"/>
                </a:solidFill>
                <a:latin typeface="KaiTi" panose="02010609060101010101" pitchFamily="49" charset="-122"/>
                <a:ea typeface="KaiTi"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p"/>
            </a:pPr>
            <a:r>
              <a:rPr kumimoji="1" lang="zh-CN" altLang="en-US" dirty="0">
                <a:latin typeface="Microsoft YaHei" panose="020B0503020204020204" pitchFamily="34" charset="-122"/>
                <a:ea typeface="Microsoft YaHei" panose="020B0503020204020204" pitchFamily="34" charset="-122"/>
              </a:rPr>
              <a:t>官方网站：</a:t>
            </a:r>
            <a:r>
              <a:rPr kumimoji="1" lang="en-US" altLang="zh-CN" dirty="0">
                <a:latin typeface="Microsoft YaHei" panose="020B0503020204020204" pitchFamily="34" charset="-122"/>
                <a:ea typeface="Microsoft YaHei" panose="020B0503020204020204" pitchFamily="34" charset="-122"/>
                <a:hlinkClick r:id="rId3"/>
              </a:rPr>
              <a:t>https://www.anaconda.com/download/</a:t>
            </a:r>
            <a:endParaRPr kumimoji="1" lang="en-US" altLang="zh-CN" dirty="0">
              <a:latin typeface="Microsoft YaHei" panose="020B0503020204020204" pitchFamily="34" charset="-122"/>
              <a:ea typeface="Microsoft YaHei" panose="020B0503020204020204" pitchFamily="34" charset="-122"/>
            </a:endParaRPr>
          </a:p>
          <a:p>
            <a:pPr>
              <a:buFont typeface="Wingdings" pitchFamily="2" charset="2"/>
              <a:buChar char="p"/>
            </a:pPr>
            <a:r>
              <a:rPr kumimoji="1" lang="zh-CN" altLang="en-US" dirty="0">
                <a:latin typeface="Microsoft YaHei" panose="020B0503020204020204" pitchFamily="34" charset="-122"/>
                <a:ea typeface="Microsoft YaHei" panose="020B0503020204020204" pitchFamily="34" charset="-122"/>
              </a:rPr>
              <a:t>选择操作系统及对应</a:t>
            </a:r>
            <a:r>
              <a:rPr kumimoji="1" lang="en-US" altLang="zh-CN" dirty="0">
                <a:latin typeface="Microsoft YaHei" panose="020B0503020204020204" pitchFamily="34" charset="-122"/>
                <a:ea typeface="Microsoft YaHei" panose="020B0503020204020204" pitchFamily="34" charset="-122"/>
              </a:rPr>
              <a:t>python</a:t>
            </a:r>
            <a:r>
              <a:rPr kumimoji="1" lang="zh-CN" altLang="en-US" dirty="0">
                <a:latin typeface="Microsoft YaHei" panose="020B0503020204020204" pitchFamily="34" charset="-122"/>
                <a:ea typeface="Microsoft YaHei" panose="020B0503020204020204" pitchFamily="34" charset="-122"/>
              </a:rPr>
              <a:t>版本</a:t>
            </a:r>
            <a:endParaRPr kumimoji="1" lang="en-US" altLang="zh-CN"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653633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3.2</a:t>
            </a:r>
            <a:r>
              <a:rPr lang="zh-CN" altLang="en-US" dirty="0"/>
              <a:t> 集成环境概述</a:t>
            </a:r>
            <a:r>
              <a:rPr lang="en-US" altLang="zh-CN" dirty="0"/>
              <a:t>——</a:t>
            </a:r>
            <a:r>
              <a:rPr lang="en-US" altLang="zh-CN" dirty="0" err="1"/>
              <a:t>Conda</a:t>
            </a:r>
            <a:r>
              <a:rPr lang="zh-CN" altLang="en-US" dirty="0"/>
              <a:t>管理器</a:t>
            </a:r>
          </a:p>
        </p:txBody>
      </p:sp>
      <p:sp>
        <p:nvSpPr>
          <p:cNvPr id="3" name="内容占位符 2">
            <a:extLst>
              <a:ext uri="{FF2B5EF4-FFF2-40B4-BE49-F238E27FC236}">
                <a16:creationId xmlns:a16="http://schemas.microsoft.com/office/drawing/2014/main" id="{EAF0A897-FD40-E9EC-6CA4-9EC6E32085FD}"/>
              </a:ext>
            </a:extLst>
          </p:cNvPr>
          <p:cNvSpPr>
            <a:spLocks noGrp="1"/>
          </p:cNvSpPr>
          <p:nvPr>
            <p:ph idx="1"/>
          </p:nvPr>
        </p:nvSpPr>
        <p:spPr>
          <a:xfrm>
            <a:off x="303077" y="1001488"/>
            <a:ext cx="11286483" cy="3513200"/>
          </a:xfrm>
        </p:spPr>
        <p:txBody>
          <a:bodyPr>
            <a:normAutofit/>
          </a:bodyPr>
          <a:lstStyle/>
          <a:p>
            <a:pPr>
              <a:buFont typeface="Wingdings" pitchFamily="2" charset="2"/>
              <a:buChar char="p"/>
            </a:pPr>
            <a:r>
              <a:rPr kumimoji="1" lang="zh-CN" altLang="en-US" dirty="0">
                <a:latin typeface="Microsoft YaHei" panose="020B0503020204020204" pitchFamily="34" charset="-122"/>
                <a:ea typeface="Microsoft YaHei" panose="020B0503020204020204" pitchFamily="34" charset="-122"/>
              </a:rPr>
              <a:t>包管理： 安装、更新和删除软件包</a:t>
            </a:r>
          </a:p>
          <a:p>
            <a:pPr>
              <a:buFont typeface="Wingdings" pitchFamily="2" charset="2"/>
              <a:buChar char="p"/>
            </a:pPr>
            <a:r>
              <a:rPr kumimoji="1" lang="zh-CN" altLang="en-US" dirty="0">
                <a:latin typeface="Microsoft YaHei" panose="020B0503020204020204" pitchFamily="34" charset="-122"/>
                <a:ea typeface="Microsoft YaHei" panose="020B0503020204020204" pitchFamily="34" charset="-122"/>
              </a:rPr>
              <a:t>环境管理： 创建和管理虚拟环境，支持多个项目使用不同的依赖</a:t>
            </a:r>
          </a:p>
          <a:p>
            <a:pPr>
              <a:buFont typeface="Wingdings" pitchFamily="2" charset="2"/>
              <a:buChar char="p"/>
            </a:pPr>
            <a:r>
              <a:rPr kumimoji="1" lang="zh-CN" altLang="en-US" dirty="0">
                <a:latin typeface="Microsoft YaHei" panose="020B0503020204020204" pitchFamily="34" charset="-122"/>
                <a:ea typeface="Microsoft YaHei" panose="020B0503020204020204" pitchFamily="34" charset="-122"/>
              </a:rPr>
              <a:t>常用命令：</a:t>
            </a:r>
            <a:endParaRPr kumimoji="1" lang="en-US" altLang="zh-CN" dirty="0">
              <a:latin typeface="Microsoft YaHei" panose="020B0503020204020204" pitchFamily="34" charset="-122"/>
              <a:ea typeface="Microsoft YaHei" panose="020B0503020204020204" pitchFamily="34" charset="-122"/>
            </a:endParaRPr>
          </a:p>
          <a:p>
            <a:pPr lvl="1">
              <a:buFont typeface="Wingdings" pitchFamily="2" charset="2"/>
              <a:buChar char="p"/>
            </a:pPr>
            <a:r>
              <a:rPr lang="zh-CN" altLang="en-US" dirty="0">
                <a:latin typeface="Microsoft YaHei" panose="020B0503020204020204" pitchFamily="34" charset="-122"/>
                <a:ea typeface="Microsoft YaHei" panose="020B0503020204020204" pitchFamily="34" charset="-122"/>
              </a:rPr>
              <a:t>创建环境：</a:t>
            </a:r>
            <a:r>
              <a:rPr lang="en" altLang="zh-CN" dirty="0" err="1">
                <a:latin typeface="Microsoft YaHei" panose="020B0503020204020204" pitchFamily="34" charset="-122"/>
                <a:ea typeface="Microsoft YaHei" panose="020B0503020204020204" pitchFamily="34" charset="-122"/>
              </a:rPr>
              <a:t>conda</a:t>
            </a:r>
            <a:r>
              <a:rPr lang="en" altLang="zh-CN" dirty="0">
                <a:latin typeface="Microsoft YaHei" panose="020B0503020204020204" pitchFamily="34" charset="-122"/>
                <a:ea typeface="Microsoft YaHei" panose="020B0503020204020204" pitchFamily="34" charset="-122"/>
              </a:rPr>
              <a:t> create -n </a:t>
            </a:r>
            <a:r>
              <a:rPr lang="en" altLang="zh-CN" dirty="0" err="1">
                <a:latin typeface="Microsoft YaHei" panose="020B0503020204020204" pitchFamily="34" charset="-122"/>
                <a:ea typeface="Microsoft YaHei" panose="020B0503020204020204" pitchFamily="34" charset="-122"/>
              </a:rPr>
              <a:t>myenv</a:t>
            </a:r>
            <a:r>
              <a:rPr lang="zh-CN" altLang="en-US" dirty="0">
                <a:latin typeface="Microsoft YaHei" panose="020B0503020204020204" pitchFamily="34" charset="-122"/>
                <a:ea typeface="Microsoft YaHei" panose="020B0503020204020204" pitchFamily="34" charset="-122"/>
              </a:rPr>
              <a:t> </a:t>
            </a:r>
            <a:r>
              <a:rPr lang="en-US" altLang="zh-CN" dirty="0">
                <a:latin typeface="Microsoft YaHei" panose="020B0503020204020204" pitchFamily="34" charset="-122"/>
                <a:ea typeface="Microsoft YaHei" panose="020B0503020204020204" pitchFamily="34" charset="-122"/>
              </a:rPr>
              <a:t>python=3.12.0</a:t>
            </a:r>
            <a:endParaRPr lang="en" altLang="zh-CN" dirty="0">
              <a:latin typeface="Microsoft YaHei" panose="020B0503020204020204" pitchFamily="34" charset="-122"/>
              <a:ea typeface="Microsoft YaHei" panose="020B0503020204020204" pitchFamily="34" charset="-122"/>
            </a:endParaRPr>
          </a:p>
          <a:p>
            <a:pPr lvl="1">
              <a:buFont typeface="Wingdings" pitchFamily="2" charset="2"/>
              <a:buChar char="p"/>
            </a:pPr>
            <a:r>
              <a:rPr lang="zh-CN" altLang="en-US" dirty="0">
                <a:latin typeface="Microsoft YaHei" panose="020B0503020204020204" pitchFamily="34" charset="-122"/>
                <a:ea typeface="Microsoft YaHei" panose="020B0503020204020204" pitchFamily="34" charset="-122"/>
              </a:rPr>
              <a:t>激活环境：</a:t>
            </a:r>
            <a:r>
              <a:rPr lang="en" altLang="zh-CN" dirty="0" err="1">
                <a:latin typeface="Microsoft YaHei" panose="020B0503020204020204" pitchFamily="34" charset="-122"/>
                <a:ea typeface="Microsoft YaHei" panose="020B0503020204020204" pitchFamily="34" charset="-122"/>
              </a:rPr>
              <a:t>conda</a:t>
            </a:r>
            <a:r>
              <a:rPr lang="en" altLang="zh-CN" dirty="0">
                <a:latin typeface="Microsoft YaHei" panose="020B0503020204020204" pitchFamily="34" charset="-122"/>
                <a:ea typeface="Microsoft YaHei" panose="020B0503020204020204" pitchFamily="34" charset="-122"/>
              </a:rPr>
              <a:t> activate </a:t>
            </a:r>
            <a:r>
              <a:rPr lang="en" altLang="zh-CN" dirty="0" err="1">
                <a:latin typeface="Microsoft YaHei" panose="020B0503020204020204" pitchFamily="34" charset="-122"/>
                <a:ea typeface="Microsoft YaHei" panose="020B0503020204020204" pitchFamily="34" charset="-122"/>
              </a:rPr>
              <a:t>myenv</a:t>
            </a:r>
            <a:endParaRPr lang="en" altLang="zh-CN" dirty="0">
              <a:latin typeface="Microsoft YaHei" panose="020B0503020204020204" pitchFamily="34" charset="-122"/>
              <a:ea typeface="Microsoft YaHei" panose="020B0503020204020204" pitchFamily="34" charset="-122"/>
            </a:endParaRPr>
          </a:p>
          <a:p>
            <a:pPr lvl="1">
              <a:buFont typeface="Wingdings" pitchFamily="2" charset="2"/>
              <a:buChar char="p"/>
            </a:pPr>
            <a:r>
              <a:rPr lang="zh-CN" altLang="en-US" dirty="0">
                <a:latin typeface="Microsoft YaHei" panose="020B0503020204020204" pitchFamily="34" charset="-122"/>
                <a:ea typeface="Microsoft YaHei" panose="020B0503020204020204" pitchFamily="34" charset="-122"/>
              </a:rPr>
              <a:t>退出环境：</a:t>
            </a:r>
            <a:r>
              <a:rPr lang="en" altLang="zh-CN" dirty="0" err="1">
                <a:latin typeface="Microsoft YaHei" panose="020B0503020204020204" pitchFamily="34" charset="-122"/>
                <a:ea typeface="Microsoft YaHei" panose="020B0503020204020204" pitchFamily="34" charset="-122"/>
              </a:rPr>
              <a:t>conda</a:t>
            </a:r>
            <a:r>
              <a:rPr lang="en" altLang="zh-CN" dirty="0">
                <a:latin typeface="Microsoft YaHei" panose="020B0503020204020204" pitchFamily="34" charset="-122"/>
                <a:ea typeface="Microsoft YaHei" panose="020B0503020204020204" pitchFamily="34" charset="-122"/>
              </a:rPr>
              <a:t> deactivate</a:t>
            </a:r>
          </a:p>
          <a:p>
            <a:pPr lvl="1">
              <a:buFont typeface="Wingdings" pitchFamily="2" charset="2"/>
              <a:buChar char="p"/>
            </a:pPr>
            <a:r>
              <a:rPr lang="zh-CN" altLang="en-US" dirty="0">
                <a:latin typeface="Microsoft YaHei" panose="020B0503020204020204" pitchFamily="34" charset="-122"/>
                <a:ea typeface="Microsoft YaHei" panose="020B0503020204020204" pitchFamily="34" charset="-122"/>
              </a:rPr>
              <a:t>安装包：</a:t>
            </a:r>
            <a:r>
              <a:rPr lang="en" altLang="zh-CN" dirty="0" err="1">
                <a:latin typeface="Microsoft YaHei" panose="020B0503020204020204" pitchFamily="34" charset="-122"/>
                <a:ea typeface="Microsoft YaHei" panose="020B0503020204020204" pitchFamily="34" charset="-122"/>
              </a:rPr>
              <a:t>conda</a:t>
            </a:r>
            <a:r>
              <a:rPr lang="en" altLang="zh-CN" dirty="0">
                <a:latin typeface="Microsoft YaHei" panose="020B0503020204020204" pitchFamily="34" charset="-122"/>
                <a:ea typeface="Microsoft YaHei" panose="020B0503020204020204" pitchFamily="34" charset="-122"/>
              </a:rPr>
              <a:t> install </a:t>
            </a:r>
            <a:r>
              <a:rPr lang="en" altLang="zh-CN" dirty="0" err="1">
                <a:latin typeface="Microsoft YaHei" panose="020B0503020204020204" pitchFamily="34" charset="-122"/>
                <a:ea typeface="Microsoft YaHei" panose="020B0503020204020204" pitchFamily="34" charset="-122"/>
              </a:rPr>
              <a:t>numpy</a:t>
            </a:r>
            <a:endParaRPr lang="en" altLang="zh-CN" dirty="0">
              <a:latin typeface="Microsoft YaHei" panose="020B0503020204020204" pitchFamily="34" charset="-122"/>
              <a:ea typeface="Microsoft YaHei" panose="020B0503020204020204" pitchFamily="34" charset="-122"/>
            </a:endParaRPr>
          </a:p>
          <a:p>
            <a:pPr lvl="1">
              <a:buFont typeface="Wingdings" pitchFamily="2" charset="2"/>
              <a:buChar char="p"/>
            </a:pPr>
            <a:endParaRPr lang="en" altLang="zh-CN" dirty="0">
              <a:latin typeface="Microsoft YaHei" panose="020B0503020204020204" pitchFamily="34" charset="-122"/>
              <a:ea typeface="Microsoft YaHei" panose="020B0503020204020204" pitchFamily="34" charset="-122"/>
            </a:endParaRPr>
          </a:p>
          <a:p>
            <a:pPr lvl="1">
              <a:buFont typeface="Wingdings" pitchFamily="2" charset="2"/>
              <a:buChar char="p"/>
            </a:pPr>
            <a:endParaRPr lang="en" altLang="zh-CN" dirty="0">
              <a:latin typeface="Microsoft YaHei" panose="020B0503020204020204" pitchFamily="34" charset="-122"/>
              <a:ea typeface="Microsoft YaHei" panose="020B0503020204020204" pitchFamily="34" charset="-122"/>
            </a:endParaRPr>
          </a:p>
          <a:p>
            <a:pPr lvl="1">
              <a:buFont typeface="Wingdings" pitchFamily="2" charset="2"/>
              <a:buChar char="p"/>
            </a:pPr>
            <a:endParaRPr lang="en" altLang="zh-CN" dirty="0">
              <a:latin typeface="Microsoft YaHei" panose="020B0503020204020204" pitchFamily="34" charset="-122"/>
              <a:ea typeface="Microsoft YaHei" panose="020B0503020204020204" pitchFamily="34" charset="-122"/>
            </a:endParaRPr>
          </a:p>
          <a:p>
            <a:pPr lvl="1">
              <a:buFont typeface="Wingdings" pitchFamily="2" charset="2"/>
              <a:buChar char="p"/>
            </a:pPr>
            <a:endParaRPr lang="en" altLang="zh-CN" dirty="0">
              <a:latin typeface="Microsoft YaHei" panose="020B0503020204020204" pitchFamily="34" charset="-122"/>
              <a:ea typeface="Microsoft YaHei" panose="020B0503020204020204" pitchFamily="34" charset="-122"/>
            </a:endParaRPr>
          </a:p>
          <a:p>
            <a:pPr lvl="1">
              <a:buFont typeface="Wingdings" pitchFamily="2" charset="2"/>
              <a:buChar char="p"/>
            </a:pPr>
            <a:endParaRPr lang="en" altLang="zh-CN" dirty="0">
              <a:latin typeface="Microsoft YaHei" panose="020B0503020204020204" pitchFamily="34" charset="-122"/>
              <a:ea typeface="Microsoft YaHei" panose="020B0503020204020204" pitchFamily="34" charset="-122"/>
            </a:endParaRPr>
          </a:p>
          <a:p>
            <a:pPr lvl="1">
              <a:buFont typeface="Wingdings" pitchFamily="2" charset="2"/>
              <a:buChar char="p"/>
            </a:pPr>
            <a:endParaRPr kumimoji="1" lang="en-US" altLang="zh-CN" dirty="0">
              <a:latin typeface="Microsoft YaHei" panose="020B0503020204020204" pitchFamily="34" charset="-122"/>
              <a:ea typeface="Microsoft YaHei" panose="020B0503020204020204" pitchFamily="34" charset="-122"/>
            </a:endParaRPr>
          </a:p>
        </p:txBody>
      </p:sp>
      <p:pic>
        <p:nvPicPr>
          <p:cNvPr id="4" name="图片 6">
            <a:extLst>
              <a:ext uri="{FF2B5EF4-FFF2-40B4-BE49-F238E27FC236}">
                <a16:creationId xmlns:a16="http://schemas.microsoft.com/office/drawing/2014/main" id="{6F0B2980-6019-4D2E-9616-98D7D7499D8B}"/>
              </a:ext>
            </a:extLst>
          </p:cNvPr>
          <p:cNvPicPr>
            <a:picLocks noChangeAspect="1"/>
          </p:cNvPicPr>
          <p:nvPr/>
        </p:nvPicPr>
        <p:blipFill>
          <a:blip r:embed="rId2"/>
          <a:srcRect t="17977"/>
          <a:stretch/>
        </p:blipFill>
        <p:spPr>
          <a:xfrm>
            <a:off x="6796223" y="3332729"/>
            <a:ext cx="5092700" cy="729188"/>
          </a:xfrm>
          <a:prstGeom prst="rect">
            <a:avLst/>
          </a:prstGeom>
        </p:spPr>
      </p:pic>
      <p:pic>
        <p:nvPicPr>
          <p:cNvPr id="5" name="图片 10">
            <a:extLst>
              <a:ext uri="{FF2B5EF4-FFF2-40B4-BE49-F238E27FC236}">
                <a16:creationId xmlns:a16="http://schemas.microsoft.com/office/drawing/2014/main" id="{D5A98ED5-FD6E-55A9-F5FC-76B8A82EC5E6}"/>
              </a:ext>
            </a:extLst>
          </p:cNvPr>
          <p:cNvPicPr>
            <a:picLocks noChangeAspect="1"/>
          </p:cNvPicPr>
          <p:nvPr/>
        </p:nvPicPr>
        <p:blipFill>
          <a:blip r:embed="rId3"/>
          <a:srcRect t="5587" r="25046" b="43069"/>
          <a:stretch/>
        </p:blipFill>
        <p:spPr>
          <a:xfrm>
            <a:off x="439615" y="4677353"/>
            <a:ext cx="5092700" cy="1317170"/>
          </a:xfrm>
          <a:prstGeom prst="rect">
            <a:avLst/>
          </a:prstGeom>
        </p:spPr>
      </p:pic>
      <p:pic>
        <p:nvPicPr>
          <p:cNvPr id="6" name="图片 12">
            <a:extLst>
              <a:ext uri="{FF2B5EF4-FFF2-40B4-BE49-F238E27FC236}">
                <a16:creationId xmlns:a16="http://schemas.microsoft.com/office/drawing/2014/main" id="{C076EE14-5A8F-CA68-B143-B802882AEBFA}"/>
              </a:ext>
            </a:extLst>
          </p:cNvPr>
          <p:cNvPicPr>
            <a:picLocks noChangeAspect="1"/>
          </p:cNvPicPr>
          <p:nvPr/>
        </p:nvPicPr>
        <p:blipFill>
          <a:blip r:embed="rId4"/>
          <a:srcRect r="18990"/>
          <a:stretch/>
        </p:blipFill>
        <p:spPr>
          <a:xfrm>
            <a:off x="6796223" y="4514688"/>
            <a:ext cx="5092700" cy="1257300"/>
          </a:xfrm>
          <a:prstGeom prst="rect">
            <a:avLst/>
          </a:prstGeom>
        </p:spPr>
      </p:pic>
    </p:spTree>
    <p:extLst>
      <p:ext uri="{BB962C8B-B14F-4D97-AF65-F5344CB8AC3E}">
        <p14:creationId xmlns:p14="http://schemas.microsoft.com/office/powerpoint/2010/main" val="2425207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3.2</a:t>
            </a:r>
            <a:r>
              <a:rPr lang="zh-CN" altLang="en-US" dirty="0"/>
              <a:t> 集成环境概述</a:t>
            </a:r>
            <a:r>
              <a:rPr lang="en-US" altLang="zh-CN" dirty="0"/>
              <a:t>——Anaconda</a:t>
            </a:r>
            <a:r>
              <a:rPr lang="zh-CN" altLang="en-US" dirty="0"/>
              <a:t> </a:t>
            </a:r>
            <a:r>
              <a:rPr lang="en-US" altLang="zh-CN" dirty="0"/>
              <a:t>Navigator</a:t>
            </a:r>
            <a:r>
              <a:rPr lang="zh-CN" altLang="en-US" dirty="0"/>
              <a:t> </a:t>
            </a:r>
            <a:r>
              <a:rPr lang="en-US" altLang="zh-CN" dirty="0"/>
              <a:t>GUI</a:t>
            </a:r>
            <a:endParaRPr lang="zh-CN" altLang="en-US" dirty="0"/>
          </a:p>
        </p:txBody>
      </p:sp>
      <p:pic>
        <p:nvPicPr>
          <p:cNvPr id="3" name="图片 7">
            <a:extLst>
              <a:ext uri="{FF2B5EF4-FFF2-40B4-BE49-F238E27FC236}">
                <a16:creationId xmlns:a16="http://schemas.microsoft.com/office/drawing/2014/main" id="{7903D1EC-280C-5293-4136-344BC1B5C5A8}"/>
              </a:ext>
            </a:extLst>
          </p:cNvPr>
          <p:cNvPicPr>
            <a:picLocks noChangeAspect="1"/>
          </p:cNvPicPr>
          <p:nvPr/>
        </p:nvPicPr>
        <p:blipFill>
          <a:blip r:embed="rId2"/>
          <a:srcRect t="3743" r="48484" b="4477"/>
          <a:stretch/>
        </p:blipFill>
        <p:spPr>
          <a:xfrm>
            <a:off x="7956514" y="1960029"/>
            <a:ext cx="3795871" cy="4392184"/>
          </a:xfrm>
          <a:prstGeom prst="rect">
            <a:avLst/>
          </a:prstGeom>
          <a:ln w="12700">
            <a:solidFill>
              <a:schemeClr val="tx1"/>
            </a:solidFill>
          </a:ln>
        </p:spPr>
      </p:pic>
      <p:sp>
        <p:nvSpPr>
          <p:cNvPr id="4" name="文本框 9">
            <a:extLst>
              <a:ext uri="{FF2B5EF4-FFF2-40B4-BE49-F238E27FC236}">
                <a16:creationId xmlns:a16="http://schemas.microsoft.com/office/drawing/2014/main" id="{ED71D3BE-45ED-4B3D-1446-930B6D813EEF}"/>
              </a:ext>
            </a:extLst>
          </p:cNvPr>
          <p:cNvSpPr txBox="1"/>
          <p:nvPr/>
        </p:nvSpPr>
        <p:spPr>
          <a:xfrm>
            <a:off x="439615" y="1201479"/>
            <a:ext cx="3018631" cy="523220"/>
          </a:xfrm>
          <a:prstGeom prst="rect">
            <a:avLst/>
          </a:prstGeom>
          <a:noFill/>
        </p:spPr>
        <p:txBody>
          <a:bodyPr wrap="square">
            <a:spAutoFit/>
          </a:bodyPr>
          <a:lstStyle/>
          <a:p>
            <a:pPr marL="228600" indent="-228600">
              <a:spcBef>
                <a:spcPts val="1000"/>
              </a:spcBef>
              <a:buFont typeface="Wingdings" pitchFamily="2" charset="2"/>
              <a:buChar char="p"/>
            </a:pPr>
            <a:r>
              <a:rPr kumimoji="1" lang="zh-CN" altLang="en-US" sz="2800" dirty="0">
                <a:latin typeface="Microsoft YaHei" panose="020B0503020204020204" pitchFamily="34" charset="-122"/>
                <a:ea typeface="Microsoft YaHei" panose="020B0503020204020204" pitchFamily="34" charset="-122"/>
              </a:rPr>
              <a:t>虚拟环境管理</a:t>
            </a:r>
            <a:endParaRPr kumimoji="1" lang="en-US" altLang="zh-CN" sz="2800" dirty="0">
              <a:latin typeface="Microsoft YaHei" panose="020B0503020204020204" pitchFamily="34" charset="-122"/>
              <a:ea typeface="Microsoft YaHei" panose="020B0503020204020204" pitchFamily="34" charset="-122"/>
            </a:endParaRPr>
          </a:p>
        </p:txBody>
      </p:sp>
      <p:sp>
        <p:nvSpPr>
          <p:cNvPr id="5" name="文本框 5">
            <a:extLst>
              <a:ext uri="{FF2B5EF4-FFF2-40B4-BE49-F238E27FC236}">
                <a16:creationId xmlns:a16="http://schemas.microsoft.com/office/drawing/2014/main" id="{43615E27-E9C3-ABD5-2FCB-711162B6D894}"/>
              </a:ext>
            </a:extLst>
          </p:cNvPr>
          <p:cNvSpPr txBox="1"/>
          <p:nvPr/>
        </p:nvSpPr>
        <p:spPr>
          <a:xfrm>
            <a:off x="4958921" y="1201479"/>
            <a:ext cx="1814672" cy="523220"/>
          </a:xfrm>
          <a:prstGeom prst="rect">
            <a:avLst/>
          </a:prstGeom>
          <a:noFill/>
        </p:spPr>
        <p:txBody>
          <a:bodyPr wrap="square">
            <a:spAutoFit/>
          </a:bodyPr>
          <a:lstStyle/>
          <a:p>
            <a:pPr marL="228600" indent="-228600">
              <a:spcBef>
                <a:spcPts val="1000"/>
              </a:spcBef>
              <a:buFont typeface="Wingdings" pitchFamily="2" charset="2"/>
              <a:buChar char="p"/>
            </a:pPr>
            <a:r>
              <a:rPr kumimoji="1" lang="zh-CN" altLang="en-US" sz="2800" dirty="0">
                <a:latin typeface="Microsoft YaHei" panose="020B0503020204020204" pitchFamily="34" charset="-122"/>
                <a:ea typeface="Microsoft YaHei" panose="020B0503020204020204" pitchFamily="34" charset="-122"/>
              </a:rPr>
              <a:t>包管理</a:t>
            </a:r>
            <a:endParaRPr kumimoji="1" lang="en-US" altLang="zh-CN" sz="2800" dirty="0">
              <a:latin typeface="Microsoft YaHei" panose="020B0503020204020204" pitchFamily="34" charset="-122"/>
              <a:ea typeface="Microsoft YaHei" panose="020B0503020204020204" pitchFamily="34" charset="-122"/>
            </a:endParaRPr>
          </a:p>
        </p:txBody>
      </p:sp>
      <p:pic>
        <p:nvPicPr>
          <p:cNvPr id="6" name="图片 11">
            <a:extLst>
              <a:ext uri="{FF2B5EF4-FFF2-40B4-BE49-F238E27FC236}">
                <a16:creationId xmlns:a16="http://schemas.microsoft.com/office/drawing/2014/main" id="{2CB76538-529B-AF13-1DD4-703A3B596472}"/>
              </a:ext>
            </a:extLst>
          </p:cNvPr>
          <p:cNvPicPr>
            <a:picLocks noChangeAspect="1"/>
          </p:cNvPicPr>
          <p:nvPr/>
        </p:nvPicPr>
        <p:blipFill>
          <a:blip r:embed="rId3"/>
          <a:stretch>
            <a:fillRect/>
          </a:stretch>
        </p:blipFill>
        <p:spPr>
          <a:xfrm>
            <a:off x="439615" y="1960029"/>
            <a:ext cx="7379605" cy="4392184"/>
          </a:xfrm>
          <a:prstGeom prst="rect">
            <a:avLst/>
          </a:prstGeom>
          <a:ln w="12700">
            <a:solidFill>
              <a:schemeClr val="tx1"/>
            </a:solidFill>
          </a:ln>
        </p:spPr>
      </p:pic>
      <p:sp>
        <p:nvSpPr>
          <p:cNvPr id="7" name="文本框 12">
            <a:extLst>
              <a:ext uri="{FF2B5EF4-FFF2-40B4-BE49-F238E27FC236}">
                <a16:creationId xmlns:a16="http://schemas.microsoft.com/office/drawing/2014/main" id="{67C19767-BFF5-AEA5-127C-7B71959C8D12}"/>
              </a:ext>
            </a:extLst>
          </p:cNvPr>
          <p:cNvSpPr txBox="1"/>
          <p:nvPr/>
        </p:nvSpPr>
        <p:spPr>
          <a:xfrm>
            <a:off x="7956513" y="1202530"/>
            <a:ext cx="3615057" cy="523220"/>
          </a:xfrm>
          <a:prstGeom prst="rect">
            <a:avLst/>
          </a:prstGeom>
          <a:noFill/>
        </p:spPr>
        <p:txBody>
          <a:bodyPr wrap="square">
            <a:spAutoFit/>
          </a:bodyPr>
          <a:lstStyle/>
          <a:p>
            <a:pPr marL="228600" indent="-228600">
              <a:spcBef>
                <a:spcPts val="1000"/>
              </a:spcBef>
              <a:buFont typeface="Wingdings" pitchFamily="2" charset="2"/>
              <a:buChar char="p"/>
            </a:pPr>
            <a:r>
              <a:rPr kumimoji="1" lang="zh-CN" altLang="en-US" sz="2800" dirty="0">
                <a:latin typeface="Microsoft YaHei" panose="020B0503020204020204" pitchFamily="34" charset="-122"/>
                <a:ea typeface="Microsoft YaHei" panose="020B0503020204020204" pitchFamily="34" charset="-122"/>
              </a:rPr>
              <a:t>安装和启动应用</a:t>
            </a:r>
            <a:endParaRPr kumimoji="1" lang="en-US" altLang="zh-CN" sz="2800" dirty="0">
              <a:latin typeface="Microsoft YaHei" panose="020B0503020204020204" pitchFamily="34" charset="-122"/>
              <a:ea typeface="Microsoft YaHei" panose="020B0503020204020204" pitchFamily="34" charset="-122"/>
            </a:endParaRPr>
          </a:p>
        </p:txBody>
      </p:sp>
      <p:sp>
        <p:nvSpPr>
          <p:cNvPr id="8" name="右箭头 13">
            <a:extLst>
              <a:ext uri="{FF2B5EF4-FFF2-40B4-BE49-F238E27FC236}">
                <a16:creationId xmlns:a16="http://schemas.microsoft.com/office/drawing/2014/main" id="{949FCCAD-E53B-B964-A504-973B753765A1}"/>
              </a:ext>
            </a:extLst>
          </p:cNvPr>
          <p:cNvSpPr/>
          <p:nvPr/>
        </p:nvSpPr>
        <p:spPr>
          <a:xfrm rot="4574734">
            <a:off x="1641154" y="2131253"/>
            <a:ext cx="911936" cy="202118"/>
          </a:xfrm>
          <a:prstGeom prst="rightArrow">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右箭头 14">
            <a:extLst>
              <a:ext uri="{FF2B5EF4-FFF2-40B4-BE49-F238E27FC236}">
                <a16:creationId xmlns:a16="http://schemas.microsoft.com/office/drawing/2014/main" id="{A08963F1-0156-548F-3104-655FF6FDE8F6}"/>
              </a:ext>
            </a:extLst>
          </p:cNvPr>
          <p:cNvSpPr/>
          <p:nvPr/>
        </p:nvSpPr>
        <p:spPr>
          <a:xfrm rot="5400000">
            <a:off x="5379474" y="2056560"/>
            <a:ext cx="911936" cy="202118"/>
          </a:xfrm>
          <a:prstGeom prst="rightArrow">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矩形 16">
            <a:extLst>
              <a:ext uri="{FF2B5EF4-FFF2-40B4-BE49-F238E27FC236}">
                <a16:creationId xmlns:a16="http://schemas.microsoft.com/office/drawing/2014/main" id="{2CCDF6FC-1B60-4323-D3BA-D3A0AEA31F99}"/>
              </a:ext>
            </a:extLst>
          </p:cNvPr>
          <p:cNvSpPr/>
          <p:nvPr/>
        </p:nvSpPr>
        <p:spPr>
          <a:xfrm>
            <a:off x="1736394" y="2699232"/>
            <a:ext cx="1805050" cy="3562537"/>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矩形 17">
            <a:extLst>
              <a:ext uri="{FF2B5EF4-FFF2-40B4-BE49-F238E27FC236}">
                <a16:creationId xmlns:a16="http://schemas.microsoft.com/office/drawing/2014/main" id="{96BC4933-FDE5-B66F-72ED-0F7A382B1448}"/>
              </a:ext>
            </a:extLst>
          </p:cNvPr>
          <p:cNvSpPr/>
          <p:nvPr/>
        </p:nvSpPr>
        <p:spPr>
          <a:xfrm>
            <a:off x="3695599" y="2699232"/>
            <a:ext cx="3984224" cy="3344247"/>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358655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3.2</a:t>
            </a:r>
            <a:r>
              <a:rPr lang="zh-CN" altLang="en-US" dirty="0"/>
              <a:t> 集成环境概述</a:t>
            </a:r>
            <a:r>
              <a:rPr lang="en-US" altLang="zh-CN" dirty="0"/>
              <a:t>——</a:t>
            </a:r>
            <a:r>
              <a:rPr lang="en-US" altLang="zh-CN" dirty="0" err="1"/>
              <a:t>Pycharm</a:t>
            </a:r>
            <a:r>
              <a:rPr lang="zh-CN" altLang="en-US" dirty="0"/>
              <a:t>介绍</a:t>
            </a:r>
          </a:p>
        </p:txBody>
      </p:sp>
      <p:sp>
        <p:nvSpPr>
          <p:cNvPr id="3" name="文本框 9">
            <a:extLst>
              <a:ext uri="{FF2B5EF4-FFF2-40B4-BE49-F238E27FC236}">
                <a16:creationId xmlns:a16="http://schemas.microsoft.com/office/drawing/2014/main" id="{A64FD513-7B35-C6EE-C230-ED84A61151EA}"/>
              </a:ext>
            </a:extLst>
          </p:cNvPr>
          <p:cNvSpPr txBox="1"/>
          <p:nvPr/>
        </p:nvSpPr>
        <p:spPr>
          <a:xfrm>
            <a:off x="320346" y="981296"/>
            <a:ext cx="8345742" cy="1944122"/>
          </a:xfrm>
          <a:prstGeom prst="rect">
            <a:avLst/>
          </a:prstGeom>
          <a:noFill/>
        </p:spPr>
        <p:txBody>
          <a:bodyPr wrap="square">
            <a:spAutoFit/>
          </a:bodyPr>
          <a:lstStyle/>
          <a:p>
            <a:pPr marL="228600" indent="-228600">
              <a:spcBef>
                <a:spcPts val="1000"/>
              </a:spcBef>
              <a:buFont typeface="Wingdings" pitchFamily="2" charset="2"/>
              <a:buChar char="p"/>
            </a:pPr>
            <a:r>
              <a:rPr kumimoji="1" lang="en-US" altLang="zh-CN" sz="2800" dirty="0">
                <a:latin typeface="Microsoft YaHei" panose="020B0503020204020204" pitchFamily="34" charset="-122"/>
                <a:ea typeface="Microsoft YaHei" panose="020B0503020204020204" pitchFamily="34" charset="-122"/>
              </a:rPr>
              <a:t>PyCharm </a:t>
            </a:r>
            <a:r>
              <a:rPr kumimoji="1" lang="zh-CN" altLang="en-US" sz="2800" dirty="0">
                <a:latin typeface="Microsoft YaHei" panose="020B0503020204020204" pitchFamily="34" charset="-122"/>
                <a:ea typeface="Microsoft YaHei" panose="020B0503020204020204" pitchFamily="34" charset="-122"/>
              </a:rPr>
              <a:t>是由 </a:t>
            </a:r>
            <a:r>
              <a:rPr kumimoji="1" lang="en-US" altLang="zh-CN" sz="2800" dirty="0">
                <a:latin typeface="Microsoft YaHei" panose="020B0503020204020204" pitchFamily="34" charset="-122"/>
                <a:ea typeface="Microsoft YaHei" panose="020B0503020204020204" pitchFamily="34" charset="-122"/>
              </a:rPr>
              <a:t>JetBrains </a:t>
            </a:r>
            <a:r>
              <a:rPr kumimoji="1" lang="zh-CN" altLang="en-US" sz="2800" dirty="0">
                <a:latin typeface="Microsoft YaHei" panose="020B0503020204020204" pitchFamily="34" charset="-122"/>
                <a:ea typeface="Microsoft YaHei" panose="020B0503020204020204" pitchFamily="34" charset="-122"/>
              </a:rPr>
              <a:t>开发的一款强大的集成开发环境（</a:t>
            </a:r>
            <a:r>
              <a:rPr kumimoji="1" lang="en-US" altLang="zh-CN" sz="2800" dirty="0">
                <a:latin typeface="Microsoft YaHei" panose="020B0503020204020204" pitchFamily="34" charset="-122"/>
                <a:ea typeface="Microsoft YaHei" panose="020B0503020204020204" pitchFamily="34" charset="-122"/>
              </a:rPr>
              <a:t>IDE</a:t>
            </a:r>
            <a:r>
              <a:rPr kumimoji="1" lang="zh-CN" altLang="en-US" sz="2800" dirty="0">
                <a:latin typeface="Microsoft YaHei" panose="020B0503020204020204" pitchFamily="34" charset="-122"/>
                <a:ea typeface="Microsoft YaHei" panose="020B0503020204020204" pitchFamily="34" charset="-122"/>
              </a:rPr>
              <a:t>），专为 </a:t>
            </a:r>
            <a:r>
              <a:rPr kumimoji="1" lang="en-US" altLang="zh-CN" sz="2800" dirty="0">
                <a:latin typeface="Microsoft YaHei" panose="020B0503020204020204" pitchFamily="34" charset="-122"/>
                <a:ea typeface="Microsoft YaHei" panose="020B0503020204020204" pitchFamily="34" charset="-122"/>
              </a:rPr>
              <a:t>Python </a:t>
            </a:r>
            <a:r>
              <a:rPr kumimoji="1" lang="zh-CN" altLang="en-US" sz="2800" dirty="0">
                <a:latin typeface="Microsoft YaHei" panose="020B0503020204020204" pitchFamily="34" charset="-122"/>
                <a:ea typeface="Microsoft YaHei" panose="020B0503020204020204" pitchFamily="34" charset="-122"/>
              </a:rPr>
              <a:t>开发而设计。</a:t>
            </a:r>
            <a:endParaRPr kumimoji="1" lang="en-US" altLang="zh-CN" sz="2800" dirty="0">
              <a:latin typeface="Microsoft YaHei" panose="020B0503020204020204" pitchFamily="34" charset="-122"/>
              <a:ea typeface="Microsoft YaHei" panose="020B0503020204020204" pitchFamily="34" charset="-122"/>
            </a:endParaRPr>
          </a:p>
          <a:p>
            <a:pPr marL="228600" indent="-228600">
              <a:spcBef>
                <a:spcPts val="1000"/>
              </a:spcBef>
              <a:buFont typeface="Wingdings" pitchFamily="2" charset="2"/>
              <a:buChar char="p"/>
            </a:pPr>
            <a:r>
              <a:rPr kumimoji="1" lang="zh-CN" altLang="en-US" sz="2800" dirty="0">
                <a:latin typeface="Microsoft YaHei" panose="020B0503020204020204" pitchFamily="34" charset="-122"/>
                <a:ea typeface="Microsoft YaHei" panose="020B0503020204020204" pitchFamily="34" charset="-122"/>
              </a:rPr>
              <a:t>目标： 提供全面的开发工具和支持，提升</a:t>
            </a:r>
            <a:r>
              <a:rPr kumimoji="1" lang="en-US" altLang="zh-CN" sz="2800" dirty="0">
                <a:latin typeface="Microsoft YaHei" panose="020B0503020204020204" pitchFamily="34" charset="-122"/>
                <a:ea typeface="Microsoft YaHei" panose="020B0503020204020204" pitchFamily="34" charset="-122"/>
              </a:rPr>
              <a:t>Python </a:t>
            </a:r>
            <a:r>
              <a:rPr kumimoji="1" lang="zh-CN" altLang="en-US" sz="2800" dirty="0">
                <a:latin typeface="Microsoft YaHei" panose="020B0503020204020204" pitchFamily="34" charset="-122"/>
                <a:ea typeface="Microsoft YaHei" panose="020B0503020204020204" pitchFamily="34" charset="-122"/>
              </a:rPr>
              <a:t>开发的效率和质量。</a:t>
            </a:r>
            <a:endParaRPr kumimoji="1" lang="en-US" altLang="zh-CN" sz="2800" dirty="0">
              <a:latin typeface="Microsoft YaHei" panose="020B0503020204020204" pitchFamily="34" charset="-122"/>
              <a:ea typeface="Microsoft YaHei" panose="020B0503020204020204" pitchFamily="34" charset="-122"/>
            </a:endParaRPr>
          </a:p>
        </p:txBody>
      </p:sp>
      <p:pic>
        <p:nvPicPr>
          <p:cNvPr id="4" name="图片 6">
            <a:extLst>
              <a:ext uri="{FF2B5EF4-FFF2-40B4-BE49-F238E27FC236}">
                <a16:creationId xmlns:a16="http://schemas.microsoft.com/office/drawing/2014/main" id="{DBCEF2F4-4F5D-AA4D-80AF-8A50B2B910E2}"/>
              </a:ext>
            </a:extLst>
          </p:cNvPr>
          <p:cNvPicPr>
            <a:picLocks noChangeAspect="1"/>
          </p:cNvPicPr>
          <p:nvPr/>
        </p:nvPicPr>
        <p:blipFill>
          <a:blip r:embed="rId2"/>
          <a:stretch>
            <a:fillRect/>
          </a:stretch>
        </p:blipFill>
        <p:spPr>
          <a:xfrm>
            <a:off x="9722066" y="1572692"/>
            <a:ext cx="1858099" cy="1944122"/>
          </a:xfrm>
          <a:prstGeom prst="rect">
            <a:avLst/>
          </a:prstGeom>
        </p:spPr>
      </p:pic>
      <p:sp>
        <p:nvSpPr>
          <p:cNvPr id="5" name="文本框 10">
            <a:extLst>
              <a:ext uri="{FF2B5EF4-FFF2-40B4-BE49-F238E27FC236}">
                <a16:creationId xmlns:a16="http://schemas.microsoft.com/office/drawing/2014/main" id="{647B86A5-38FD-1B2F-DF7B-119B360100B0}"/>
              </a:ext>
            </a:extLst>
          </p:cNvPr>
          <p:cNvSpPr txBox="1"/>
          <p:nvPr/>
        </p:nvSpPr>
        <p:spPr>
          <a:xfrm>
            <a:off x="320346" y="3448659"/>
            <a:ext cx="6098240" cy="492443"/>
          </a:xfrm>
          <a:prstGeom prst="rect">
            <a:avLst/>
          </a:prstGeom>
          <a:noFill/>
        </p:spPr>
        <p:txBody>
          <a:bodyPr wrap="square">
            <a:spAutoFit/>
          </a:bodyPr>
          <a:lstStyle/>
          <a:p>
            <a:r>
              <a:rPr lang="zh-CN" altLang="en-US" sz="2600" b="1" dirty="0">
                <a:latin typeface="Microsoft YaHei" panose="020B0503020204020204" pitchFamily="34" charset="-122"/>
                <a:ea typeface="Microsoft YaHei" panose="020B0503020204020204" pitchFamily="34" charset="-122"/>
              </a:rPr>
              <a:t>核心功能：</a:t>
            </a:r>
          </a:p>
        </p:txBody>
      </p:sp>
      <p:sp>
        <p:nvSpPr>
          <p:cNvPr id="6" name="文本框 12">
            <a:extLst>
              <a:ext uri="{FF2B5EF4-FFF2-40B4-BE49-F238E27FC236}">
                <a16:creationId xmlns:a16="http://schemas.microsoft.com/office/drawing/2014/main" id="{74CBD7B5-F280-C2D5-7939-60BCD4BE2DDB}"/>
              </a:ext>
            </a:extLst>
          </p:cNvPr>
          <p:cNvSpPr txBox="1"/>
          <p:nvPr/>
        </p:nvSpPr>
        <p:spPr>
          <a:xfrm>
            <a:off x="320346" y="4035232"/>
            <a:ext cx="8897073" cy="1938992"/>
          </a:xfrm>
          <a:prstGeom prst="rect">
            <a:avLst/>
          </a:prstGeom>
          <a:noFill/>
        </p:spPr>
        <p:txBody>
          <a:bodyPr wrap="square">
            <a:spAutoFit/>
          </a:bodyPr>
          <a:lstStyle/>
          <a:p>
            <a:pPr marL="342900" indent="-342900">
              <a:buFont typeface="Wingdings" pitchFamily="2" charset="2"/>
              <a:buChar char="Ø"/>
            </a:pPr>
            <a:r>
              <a:rPr lang="zh-CN" altLang="en-US" sz="2400" b="1" dirty="0">
                <a:latin typeface="Microsoft YaHei" panose="020B0503020204020204" pitchFamily="34" charset="-122"/>
                <a:ea typeface="Microsoft YaHei" panose="020B0503020204020204" pitchFamily="34" charset="-122"/>
              </a:rPr>
              <a:t>智能代码编辑：</a:t>
            </a:r>
            <a:r>
              <a:rPr lang="zh-CN" altLang="en-US" sz="2400" dirty="0">
                <a:latin typeface="Microsoft YaHei" panose="020B0503020204020204" pitchFamily="34" charset="-122"/>
                <a:ea typeface="Microsoft YaHei" panose="020B0503020204020204" pitchFamily="34" charset="-122"/>
              </a:rPr>
              <a:t> 自动补全、实时错误检查和代码重构</a:t>
            </a:r>
            <a:endParaRPr lang="en-US" altLang="zh-CN" sz="2400" dirty="0">
              <a:latin typeface="Microsoft YaHei" panose="020B0503020204020204" pitchFamily="34" charset="-122"/>
              <a:ea typeface="Microsoft YaHei" panose="020B0503020204020204" pitchFamily="34" charset="-122"/>
            </a:endParaRPr>
          </a:p>
          <a:p>
            <a:pPr marL="342900" indent="-342900">
              <a:buFont typeface="Wingdings" pitchFamily="2" charset="2"/>
              <a:buChar char="Ø"/>
            </a:pPr>
            <a:r>
              <a:rPr lang="zh-CN" altLang="en-US" sz="2400" b="1" dirty="0">
                <a:latin typeface="Microsoft YaHei" panose="020B0503020204020204" pitchFamily="34" charset="-122"/>
                <a:ea typeface="Microsoft YaHei" panose="020B0503020204020204" pitchFamily="34" charset="-122"/>
              </a:rPr>
              <a:t>调试工具：</a:t>
            </a:r>
            <a:r>
              <a:rPr lang="zh-CN" altLang="en-US" sz="2400" dirty="0">
                <a:latin typeface="Microsoft YaHei" panose="020B0503020204020204" pitchFamily="34" charset="-122"/>
                <a:ea typeface="Microsoft YaHei" panose="020B0503020204020204" pitchFamily="34" charset="-122"/>
              </a:rPr>
              <a:t> 强大的调试功能，支持断点、变量监视等</a:t>
            </a:r>
            <a:endParaRPr lang="en-US" altLang="zh-CN" sz="2400" dirty="0">
              <a:latin typeface="Microsoft YaHei" panose="020B0503020204020204" pitchFamily="34" charset="-122"/>
              <a:ea typeface="Microsoft YaHei" panose="020B0503020204020204" pitchFamily="34" charset="-122"/>
            </a:endParaRPr>
          </a:p>
          <a:p>
            <a:pPr marL="342900" indent="-342900">
              <a:buFont typeface="Wingdings" pitchFamily="2" charset="2"/>
              <a:buChar char="Ø"/>
            </a:pPr>
            <a:r>
              <a:rPr lang="zh-CN" altLang="en-US" sz="2400" b="1" dirty="0">
                <a:latin typeface="Microsoft YaHei" panose="020B0503020204020204" pitchFamily="34" charset="-122"/>
                <a:ea typeface="Microsoft YaHei" panose="020B0503020204020204" pitchFamily="34" charset="-122"/>
              </a:rPr>
              <a:t>测试支持：</a:t>
            </a:r>
            <a:r>
              <a:rPr lang="zh-CN" altLang="en-US" sz="2400" dirty="0">
                <a:latin typeface="Microsoft YaHei" panose="020B0503020204020204" pitchFamily="34" charset="-122"/>
                <a:ea typeface="Microsoft YaHei" panose="020B0503020204020204" pitchFamily="34" charset="-122"/>
              </a:rPr>
              <a:t> 支持单元测试、集成测试和测试覆盖率分析</a:t>
            </a:r>
            <a:endParaRPr lang="en-US" altLang="zh-CN" sz="2400" dirty="0">
              <a:latin typeface="Microsoft YaHei" panose="020B0503020204020204" pitchFamily="34" charset="-122"/>
              <a:ea typeface="Microsoft YaHei" panose="020B0503020204020204" pitchFamily="34" charset="-122"/>
            </a:endParaRPr>
          </a:p>
          <a:p>
            <a:pPr marL="342900" indent="-342900">
              <a:buFont typeface="Wingdings" pitchFamily="2" charset="2"/>
              <a:buChar char="Ø"/>
            </a:pPr>
            <a:r>
              <a:rPr lang="zh-CN" altLang="en-US" sz="2400" b="1" dirty="0">
                <a:latin typeface="Microsoft YaHei" panose="020B0503020204020204" pitchFamily="34" charset="-122"/>
                <a:ea typeface="Microsoft YaHei" panose="020B0503020204020204" pitchFamily="34" charset="-122"/>
              </a:rPr>
              <a:t>版本控制：</a:t>
            </a:r>
            <a:r>
              <a:rPr lang="zh-CN" altLang="en-US" sz="2400" dirty="0">
                <a:latin typeface="Microsoft YaHei" panose="020B0503020204020204" pitchFamily="34" charset="-122"/>
                <a:ea typeface="Microsoft YaHei" panose="020B0503020204020204" pitchFamily="34" charset="-122"/>
              </a:rPr>
              <a:t> 集成 </a:t>
            </a:r>
            <a:r>
              <a:rPr lang="en" altLang="zh-CN" sz="2400" dirty="0">
                <a:latin typeface="Microsoft YaHei" panose="020B0503020204020204" pitchFamily="34" charset="-122"/>
                <a:ea typeface="Microsoft YaHei" panose="020B0503020204020204" pitchFamily="34" charset="-122"/>
              </a:rPr>
              <a:t>Git</a:t>
            </a:r>
            <a:r>
              <a:rPr lang="zh-CN" altLang="en" sz="2400" dirty="0">
                <a:latin typeface="Microsoft YaHei" panose="020B0503020204020204" pitchFamily="34" charset="-122"/>
                <a:ea typeface="Microsoft YaHei" panose="020B0503020204020204" pitchFamily="34" charset="-122"/>
              </a:rPr>
              <a:t>、</a:t>
            </a:r>
            <a:r>
              <a:rPr lang="en" altLang="zh-CN" sz="2400" dirty="0">
                <a:latin typeface="Microsoft YaHei" panose="020B0503020204020204" pitchFamily="34" charset="-122"/>
                <a:ea typeface="Microsoft YaHei" panose="020B0503020204020204" pitchFamily="34" charset="-122"/>
              </a:rPr>
              <a:t>SVN </a:t>
            </a:r>
            <a:r>
              <a:rPr lang="zh-CN" altLang="en-US" sz="2400" dirty="0">
                <a:latin typeface="Microsoft YaHei" panose="020B0503020204020204" pitchFamily="34" charset="-122"/>
                <a:ea typeface="Microsoft YaHei" panose="020B0503020204020204" pitchFamily="34" charset="-122"/>
              </a:rPr>
              <a:t>等版本控制系统</a:t>
            </a:r>
            <a:endParaRPr lang="en-US" altLang="zh-CN" sz="2400" dirty="0">
              <a:latin typeface="Microsoft YaHei" panose="020B0503020204020204" pitchFamily="34" charset="-122"/>
              <a:ea typeface="Microsoft YaHei" panose="020B0503020204020204" pitchFamily="34" charset="-122"/>
            </a:endParaRPr>
          </a:p>
          <a:p>
            <a:pPr marL="342900" indent="-342900">
              <a:buFont typeface="Wingdings" pitchFamily="2" charset="2"/>
              <a:buChar char="Ø"/>
            </a:pPr>
            <a:r>
              <a:rPr lang="zh-CN" altLang="en-US" sz="2400" b="1" dirty="0">
                <a:latin typeface="Microsoft YaHei" panose="020B0503020204020204" pitchFamily="34" charset="-122"/>
                <a:ea typeface="Microsoft YaHei" panose="020B0503020204020204" pitchFamily="34" charset="-122"/>
              </a:rPr>
              <a:t>环境管理：</a:t>
            </a:r>
            <a:r>
              <a:rPr lang="zh-CN" altLang="en-US" sz="2400" dirty="0">
                <a:latin typeface="Microsoft YaHei" panose="020B0503020204020204" pitchFamily="34" charset="-122"/>
                <a:ea typeface="Microsoft YaHei" panose="020B0503020204020204" pitchFamily="34" charset="-122"/>
              </a:rPr>
              <a:t> 支持虚拟环境和 </a:t>
            </a:r>
            <a:r>
              <a:rPr lang="en" altLang="zh-CN" sz="2400" dirty="0" err="1">
                <a:latin typeface="Microsoft YaHei" panose="020B0503020204020204" pitchFamily="34" charset="-122"/>
                <a:ea typeface="Microsoft YaHei" panose="020B0503020204020204" pitchFamily="34" charset="-122"/>
              </a:rPr>
              <a:t>Conda</a:t>
            </a:r>
            <a:r>
              <a:rPr lang="en"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环境</a:t>
            </a:r>
          </a:p>
        </p:txBody>
      </p:sp>
    </p:spTree>
    <p:extLst>
      <p:ext uri="{BB962C8B-B14F-4D97-AF65-F5344CB8AC3E}">
        <p14:creationId xmlns:p14="http://schemas.microsoft.com/office/powerpoint/2010/main" val="594962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3.2</a:t>
            </a:r>
            <a:r>
              <a:rPr lang="zh-CN" altLang="en-US" dirty="0"/>
              <a:t> 集成环境概述</a:t>
            </a:r>
            <a:r>
              <a:rPr lang="en-US" altLang="zh-CN" dirty="0"/>
              <a:t>——</a:t>
            </a:r>
            <a:r>
              <a:rPr lang="en-US" altLang="zh-CN" dirty="0" err="1"/>
              <a:t>Pycharm</a:t>
            </a:r>
            <a:r>
              <a:rPr lang="zh-CN" altLang="en-US" dirty="0"/>
              <a:t>安装（</a:t>
            </a:r>
            <a:r>
              <a:rPr lang="en-US" altLang="zh-CN" dirty="0"/>
              <a:t>Community/Professional</a:t>
            </a:r>
            <a:r>
              <a:rPr lang="zh-CN" altLang="en-US" dirty="0"/>
              <a:t>）</a:t>
            </a:r>
          </a:p>
        </p:txBody>
      </p:sp>
      <p:sp>
        <p:nvSpPr>
          <p:cNvPr id="3" name="内容占位符 2">
            <a:extLst>
              <a:ext uri="{FF2B5EF4-FFF2-40B4-BE49-F238E27FC236}">
                <a16:creationId xmlns:a16="http://schemas.microsoft.com/office/drawing/2014/main" id="{F32F3A40-E414-47D5-781D-6E10D526CCC7}"/>
              </a:ext>
            </a:extLst>
          </p:cNvPr>
          <p:cNvSpPr>
            <a:spLocks noGrp="1"/>
          </p:cNvSpPr>
          <p:nvPr>
            <p:ph idx="1"/>
          </p:nvPr>
        </p:nvSpPr>
        <p:spPr>
          <a:xfrm>
            <a:off x="306984" y="1201152"/>
            <a:ext cx="11286483" cy="995624"/>
          </a:xfrm>
        </p:spPr>
        <p:txBody>
          <a:bodyPr>
            <a:normAutofit fontScale="92500" lnSpcReduction="10000"/>
          </a:bodyPr>
          <a:lstStyle/>
          <a:p>
            <a:pPr>
              <a:buFont typeface="Wingdings" pitchFamily="2" charset="2"/>
              <a:buChar char="p"/>
            </a:pPr>
            <a:r>
              <a:rPr kumimoji="1" lang="zh-CN" altLang="en-US" dirty="0">
                <a:latin typeface="Microsoft YaHei" panose="020B0503020204020204" pitchFamily="34" charset="-122"/>
                <a:ea typeface="Microsoft YaHei" panose="020B0503020204020204" pitchFamily="34" charset="-122"/>
              </a:rPr>
              <a:t>官方网站：</a:t>
            </a:r>
            <a:r>
              <a:rPr kumimoji="1" lang="en-US" altLang="zh-CN" dirty="0">
                <a:latin typeface="Microsoft YaHei" panose="020B0503020204020204" pitchFamily="34" charset="-122"/>
                <a:ea typeface="Microsoft YaHei" panose="020B0503020204020204" pitchFamily="34" charset="-122"/>
                <a:hlinkClick r:id="rId2"/>
              </a:rPr>
              <a:t>https://www.jetbrains.com/pycharm/download</a:t>
            </a:r>
            <a:endParaRPr kumimoji="1" lang="en-US" altLang="zh-CN" dirty="0">
              <a:latin typeface="Microsoft YaHei" panose="020B0503020204020204" pitchFamily="34" charset="-122"/>
              <a:ea typeface="Microsoft YaHei" panose="020B0503020204020204" pitchFamily="34" charset="-122"/>
            </a:endParaRPr>
          </a:p>
          <a:p>
            <a:pPr>
              <a:buFont typeface="Wingdings" pitchFamily="2" charset="2"/>
              <a:buChar char="p"/>
            </a:pPr>
            <a:r>
              <a:rPr kumimoji="1" lang="zh-CN" altLang="en-US" dirty="0">
                <a:latin typeface="Microsoft YaHei" panose="020B0503020204020204" pitchFamily="34" charset="-122"/>
                <a:ea typeface="Microsoft YaHei" panose="020B0503020204020204" pitchFamily="34" charset="-122"/>
              </a:rPr>
              <a:t>选择对应的操作系统并下载</a:t>
            </a:r>
            <a:endParaRPr kumimoji="1" lang="en-US" altLang="zh-CN" dirty="0">
              <a:latin typeface="Microsoft YaHei" panose="020B0503020204020204" pitchFamily="34" charset="-122"/>
              <a:ea typeface="Microsoft YaHei" panose="020B0503020204020204" pitchFamily="34" charset="-122"/>
            </a:endParaRPr>
          </a:p>
        </p:txBody>
      </p:sp>
      <p:pic>
        <p:nvPicPr>
          <p:cNvPr id="4" name="图片 4">
            <a:extLst>
              <a:ext uri="{FF2B5EF4-FFF2-40B4-BE49-F238E27FC236}">
                <a16:creationId xmlns:a16="http://schemas.microsoft.com/office/drawing/2014/main" id="{6EF2080F-A669-77A4-A547-7CA049B1C52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1452" y="2498910"/>
            <a:ext cx="6905359" cy="2327836"/>
          </a:xfrm>
          <a:prstGeom prst="rect">
            <a:avLst/>
          </a:prstGeom>
          <a:ln w="19050">
            <a:solidFill>
              <a:schemeClr val="tx1"/>
            </a:solidFill>
          </a:ln>
        </p:spPr>
      </p:pic>
    </p:spTree>
    <p:extLst>
      <p:ext uri="{BB962C8B-B14F-4D97-AF65-F5344CB8AC3E}">
        <p14:creationId xmlns:p14="http://schemas.microsoft.com/office/powerpoint/2010/main" val="3996701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C02C7AE-B473-BC1B-B982-ECAF6CC4C4D4}"/>
              </a:ext>
            </a:extLst>
          </p:cNvPr>
          <p:cNvPicPr>
            <a:picLocks noChangeAspect="1"/>
          </p:cNvPicPr>
          <p:nvPr/>
        </p:nvPicPr>
        <p:blipFill>
          <a:blip r:embed="rId2"/>
          <a:stretch>
            <a:fillRect/>
          </a:stretch>
        </p:blipFill>
        <p:spPr>
          <a:xfrm>
            <a:off x="4800157" y="1734743"/>
            <a:ext cx="6725427" cy="3388514"/>
          </a:xfrm>
          <a:prstGeom prst="rect">
            <a:avLst/>
          </a:prstGeom>
        </p:spPr>
      </p:pic>
      <p:sp>
        <p:nvSpPr>
          <p:cNvPr id="2" name="标题 1">
            <a:extLst>
              <a:ext uri="{FF2B5EF4-FFF2-40B4-BE49-F238E27FC236}">
                <a16:creationId xmlns:a16="http://schemas.microsoft.com/office/drawing/2014/main" id="{8166BD27-BEF1-DF42-8647-5D0C3EA955D6}"/>
              </a:ext>
            </a:extLst>
          </p:cNvPr>
          <p:cNvSpPr>
            <a:spLocks noGrp="1"/>
          </p:cNvSpPr>
          <p:nvPr>
            <p:ph type="title"/>
          </p:nvPr>
        </p:nvSpPr>
        <p:spPr/>
        <p:txBody>
          <a:bodyPr/>
          <a:lstStyle/>
          <a:p>
            <a:r>
              <a:rPr kumimoji="1" lang="zh-CN" altLang="en-US" dirty="0"/>
              <a:t>提纲</a:t>
            </a:r>
          </a:p>
        </p:txBody>
      </p:sp>
      <p:sp>
        <p:nvSpPr>
          <p:cNvPr id="3" name="内容占位符 2">
            <a:extLst>
              <a:ext uri="{FF2B5EF4-FFF2-40B4-BE49-F238E27FC236}">
                <a16:creationId xmlns:a16="http://schemas.microsoft.com/office/drawing/2014/main" id="{A2D0DB05-8797-7647-B132-FFE2E7510516}"/>
              </a:ext>
            </a:extLst>
          </p:cNvPr>
          <p:cNvSpPr>
            <a:spLocks noGrp="1"/>
          </p:cNvSpPr>
          <p:nvPr>
            <p:ph idx="1"/>
          </p:nvPr>
        </p:nvSpPr>
        <p:spPr/>
        <p:txBody>
          <a:bodyPr/>
          <a:lstStyle/>
          <a:p>
            <a:r>
              <a:rPr kumimoji="1" lang="en-US" altLang="zh-CN" sz="2400" dirty="0">
                <a:solidFill>
                  <a:schemeClr val="bg1">
                    <a:lumMod val="50000"/>
                  </a:schemeClr>
                </a:solidFill>
              </a:rPr>
              <a:t>3.1</a:t>
            </a:r>
            <a:r>
              <a:rPr kumimoji="1" lang="zh-CN" altLang="en-US" sz="2400" dirty="0">
                <a:solidFill>
                  <a:schemeClr val="bg1">
                    <a:lumMod val="50000"/>
                  </a:schemeClr>
                </a:solidFill>
              </a:rPr>
              <a:t> 从手写数字识别说起</a:t>
            </a:r>
            <a:endParaRPr kumimoji="1" lang="en-US" altLang="zh-CN" sz="2400" dirty="0">
              <a:solidFill>
                <a:schemeClr val="bg1">
                  <a:lumMod val="50000"/>
                </a:schemeClr>
              </a:solidFill>
            </a:endParaRPr>
          </a:p>
          <a:p>
            <a:r>
              <a:rPr kumimoji="1" lang="en-US" altLang="zh-CN" sz="2400" dirty="0">
                <a:solidFill>
                  <a:schemeClr val="bg1">
                    <a:lumMod val="50000"/>
                  </a:schemeClr>
                </a:solidFill>
              </a:rPr>
              <a:t>3.2 </a:t>
            </a:r>
            <a:r>
              <a:rPr kumimoji="1" lang="zh-CN" altLang="en-US" sz="2400" dirty="0">
                <a:solidFill>
                  <a:schemeClr val="bg1">
                    <a:lumMod val="50000"/>
                  </a:schemeClr>
                </a:solidFill>
              </a:rPr>
              <a:t>基本环境搭建与配置</a:t>
            </a:r>
          </a:p>
          <a:p>
            <a:r>
              <a:rPr kumimoji="1" lang="en-US" altLang="zh-CN" sz="2400" dirty="0">
                <a:solidFill>
                  <a:schemeClr val="tx1"/>
                </a:solidFill>
              </a:rPr>
              <a:t>3.3 PYTHON</a:t>
            </a:r>
            <a:r>
              <a:rPr kumimoji="1" lang="zh-CN" altLang="en-US" sz="2400" dirty="0">
                <a:solidFill>
                  <a:schemeClr val="tx1"/>
                </a:solidFill>
              </a:rPr>
              <a:t>入门</a:t>
            </a:r>
          </a:p>
          <a:p>
            <a:r>
              <a:rPr kumimoji="1" lang="en-US" altLang="zh-CN" sz="2400" dirty="0">
                <a:solidFill>
                  <a:schemeClr val="bg1">
                    <a:lumMod val="50000"/>
                  </a:schemeClr>
                </a:solidFill>
              </a:rPr>
              <a:t>3.4 AI</a:t>
            </a:r>
            <a:r>
              <a:rPr kumimoji="1" lang="zh-CN" altLang="en-US" sz="2400" dirty="0">
                <a:solidFill>
                  <a:schemeClr val="bg1">
                    <a:lumMod val="50000"/>
                  </a:schemeClr>
                </a:solidFill>
              </a:rPr>
              <a:t>算法库和开发工具包</a:t>
            </a:r>
          </a:p>
          <a:p>
            <a:r>
              <a:rPr kumimoji="1" lang="en-US" altLang="zh-CN" sz="2400" dirty="0">
                <a:solidFill>
                  <a:schemeClr val="bg1">
                    <a:lumMod val="50000"/>
                  </a:schemeClr>
                </a:solidFill>
              </a:rPr>
              <a:t>3.5</a:t>
            </a:r>
            <a:r>
              <a:rPr kumimoji="1" lang="zh-CN" altLang="en-US" sz="2400" dirty="0">
                <a:solidFill>
                  <a:schemeClr val="bg1">
                    <a:lumMod val="50000"/>
                  </a:schemeClr>
                </a:solidFill>
              </a:rPr>
              <a:t>深度学习框架</a:t>
            </a:r>
          </a:p>
          <a:p>
            <a:endParaRPr kumimoji="1" lang="zh-CN" altLang="en-US" sz="2400" dirty="0"/>
          </a:p>
        </p:txBody>
      </p:sp>
      <p:sp>
        <p:nvSpPr>
          <p:cNvPr id="5" name="文本框 4">
            <a:extLst>
              <a:ext uri="{FF2B5EF4-FFF2-40B4-BE49-F238E27FC236}">
                <a16:creationId xmlns:a16="http://schemas.microsoft.com/office/drawing/2014/main" id="{0211E28A-4EA5-F641-BA32-4A365C3B657D}"/>
              </a:ext>
            </a:extLst>
          </p:cNvPr>
          <p:cNvSpPr txBox="1"/>
          <p:nvPr/>
        </p:nvSpPr>
        <p:spPr>
          <a:xfrm>
            <a:off x="4800157" y="2529989"/>
            <a:ext cx="1107996" cy="369332"/>
          </a:xfrm>
          <a:prstGeom prst="rect">
            <a:avLst/>
          </a:prstGeom>
          <a:solidFill>
            <a:srgbClr val="234C9F"/>
          </a:solidFill>
        </p:spPr>
        <p:txBody>
          <a:bodyPr wrap="none" rtlCol="0">
            <a:sp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知识图谱</a:t>
            </a:r>
          </a:p>
        </p:txBody>
      </p:sp>
    </p:spTree>
    <p:extLst>
      <p:ext uri="{BB962C8B-B14F-4D97-AF65-F5344CB8AC3E}">
        <p14:creationId xmlns:p14="http://schemas.microsoft.com/office/powerpoint/2010/main" val="37953312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a:t>
            </a:r>
            <a:r>
              <a:rPr lang="zh-CN" altLang="en-US" dirty="0"/>
              <a:t> </a:t>
            </a:r>
            <a:r>
              <a:rPr lang="en-US" altLang="zh-CN" dirty="0"/>
              <a:t>Python</a:t>
            </a:r>
            <a:r>
              <a:rPr lang="zh-CN" altLang="en-US" dirty="0"/>
              <a:t>概述</a:t>
            </a:r>
          </a:p>
        </p:txBody>
      </p:sp>
      <p:sp>
        <p:nvSpPr>
          <p:cNvPr id="3" name="内容占位符 2">
            <a:extLst>
              <a:ext uri="{FF2B5EF4-FFF2-40B4-BE49-F238E27FC236}">
                <a16:creationId xmlns:a16="http://schemas.microsoft.com/office/drawing/2014/main" id="{BEFBD38E-ABFC-34D8-80D8-08EBE181A12E}"/>
              </a:ext>
            </a:extLst>
          </p:cNvPr>
          <p:cNvSpPr>
            <a:spLocks noGrp="1"/>
          </p:cNvSpPr>
          <p:nvPr>
            <p:ph idx="1"/>
          </p:nvPr>
        </p:nvSpPr>
        <p:spPr>
          <a:xfrm>
            <a:off x="303077" y="976193"/>
            <a:ext cx="7177637" cy="5245177"/>
          </a:xfrm>
        </p:spPr>
        <p:txBody>
          <a:bodyPr/>
          <a:lstStyle/>
          <a:p>
            <a:pPr>
              <a:buFont typeface="Wingdings" pitchFamily="2" charset="2"/>
              <a:buChar char="p"/>
            </a:pPr>
            <a:r>
              <a:rPr lang="en-US" altLang="zh-CN" dirty="0">
                <a:latin typeface="Microsoft YaHei" panose="020B0503020204020204" pitchFamily="34" charset="-122"/>
                <a:ea typeface="Microsoft YaHei" panose="020B0503020204020204" pitchFamily="34" charset="-122"/>
              </a:rPr>
              <a:t>Python</a:t>
            </a:r>
            <a:r>
              <a:rPr lang="zh-CN" altLang="zh-CN" dirty="0">
                <a:latin typeface="Microsoft YaHei" panose="020B0503020204020204" pitchFamily="34" charset="-122"/>
                <a:ea typeface="Microsoft YaHei" panose="020B0503020204020204" pitchFamily="34" charset="-122"/>
              </a:rPr>
              <a:t>是一种面向对象的解释型计算机程序设计语言，由荷兰人</a:t>
            </a:r>
            <a:r>
              <a:rPr lang="en-US" altLang="zh-CN" dirty="0">
                <a:latin typeface="Microsoft YaHei" panose="020B0503020204020204" pitchFamily="34" charset="-122"/>
                <a:ea typeface="Microsoft YaHei" panose="020B0503020204020204" pitchFamily="34" charset="-122"/>
              </a:rPr>
              <a:t>Guido van Rossum</a:t>
            </a:r>
            <a:r>
              <a:rPr lang="zh-CN" altLang="zh-CN" dirty="0">
                <a:latin typeface="Microsoft YaHei" panose="020B0503020204020204" pitchFamily="34" charset="-122"/>
                <a:ea typeface="Microsoft YaHei" panose="020B0503020204020204" pitchFamily="34" charset="-122"/>
              </a:rPr>
              <a:t>于</a:t>
            </a:r>
            <a:r>
              <a:rPr lang="en-US" altLang="zh-CN" dirty="0">
                <a:latin typeface="Microsoft YaHei" panose="020B0503020204020204" pitchFamily="34" charset="-122"/>
                <a:ea typeface="Microsoft YaHei" panose="020B0503020204020204" pitchFamily="34" charset="-122"/>
              </a:rPr>
              <a:t>1989</a:t>
            </a:r>
            <a:r>
              <a:rPr lang="zh-CN" altLang="zh-CN" dirty="0">
                <a:latin typeface="Microsoft YaHei" panose="020B0503020204020204" pitchFamily="34" charset="-122"/>
                <a:ea typeface="Microsoft YaHei" panose="020B0503020204020204" pitchFamily="34" charset="-122"/>
              </a:rPr>
              <a:t>年发明，第一个公开发行版发行于</a:t>
            </a:r>
            <a:r>
              <a:rPr lang="en-US" altLang="zh-CN" dirty="0">
                <a:latin typeface="Microsoft YaHei" panose="020B0503020204020204" pitchFamily="34" charset="-122"/>
                <a:ea typeface="Microsoft YaHei" panose="020B0503020204020204" pitchFamily="34" charset="-122"/>
              </a:rPr>
              <a:t>1991</a:t>
            </a:r>
            <a:r>
              <a:rPr lang="zh-CN" altLang="zh-CN" dirty="0">
                <a:latin typeface="Microsoft YaHei" panose="020B0503020204020204" pitchFamily="34" charset="-122"/>
                <a:ea typeface="Microsoft YaHei" panose="020B0503020204020204" pitchFamily="34" charset="-122"/>
              </a:rPr>
              <a:t>年。</a:t>
            </a:r>
            <a:endParaRPr lang="en-US" altLang="zh-CN" dirty="0">
              <a:latin typeface="Microsoft YaHei" panose="020B0503020204020204" pitchFamily="34" charset="-122"/>
              <a:ea typeface="Microsoft YaHei" panose="020B0503020204020204" pitchFamily="34" charset="-122"/>
            </a:endParaRPr>
          </a:p>
          <a:p>
            <a:pPr>
              <a:buFont typeface="Wingdings" pitchFamily="2" charset="2"/>
              <a:buChar char="p"/>
            </a:pPr>
            <a:r>
              <a:rPr lang="en-US" altLang="zh-CN" dirty="0">
                <a:latin typeface="Microsoft YaHei" panose="020B0503020204020204" pitchFamily="34" charset="-122"/>
                <a:ea typeface="Microsoft YaHei" panose="020B0503020204020204" pitchFamily="34" charset="-122"/>
              </a:rPr>
              <a:t>Python</a:t>
            </a:r>
            <a:r>
              <a:rPr lang="zh-CN" altLang="zh-CN" dirty="0">
                <a:latin typeface="Microsoft YaHei" panose="020B0503020204020204" pitchFamily="34" charset="-122"/>
                <a:ea typeface="Microsoft YaHei" panose="020B0503020204020204" pitchFamily="34" charset="-122"/>
              </a:rPr>
              <a:t>的设计哲学是</a:t>
            </a:r>
            <a:r>
              <a:rPr lang="en-US" altLang="zh-CN" dirty="0">
                <a:latin typeface="Microsoft YaHei" panose="020B0503020204020204" pitchFamily="34" charset="-122"/>
                <a:ea typeface="Microsoft YaHei" panose="020B0503020204020204" pitchFamily="34" charset="-122"/>
              </a:rPr>
              <a:t>“</a:t>
            </a:r>
            <a:r>
              <a:rPr lang="zh-CN" altLang="zh-CN" dirty="0">
                <a:latin typeface="Microsoft YaHei" panose="020B0503020204020204" pitchFamily="34" charset="-122"/>
                <a:ea typeface="Microsoft YaHei" panose="020B0503020204020204" pitchFamily="34" charset="-122"/>
              </a:rPr>
              <a:t>优雅</a:t>
            </a:r>
            <a:r>
              <a:rPr lang="en-US" altLang="zh-CN"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a:t>
            </a:r>
            <a:r>
              <a:rPr lang="en-US" altLang="zh-CN" dirty="0">
                <a:latin typeface="Microsoft YaHei" panose="020B0503020204020204" pitchFamily="34" charset="-122"/>
                <a:ea typeface="Microsoft YaHei" panose="020B0503020204020204" pitchFamily="34" charset="-122"/>
              </a:rPr>
              <a:t>“</a:t>
            </a:r>
            <a:r>
              <a:rPr lang="zh-CN" altLang="zh-CN" dirty="0">
                <a:latin typeface="Microsoft YaHei" panose="020B0503020204020204" pitchFamily="34" charset="-122"/>
                <a:ea typeface="Microsoft YaHei" panose="020B0503020204020204" pitchFamily="34" charset="-122"/>
              </a:rPr>
              <a:t>明确</a:t>
            </a:r>
            <a:r>
              <a:rPr lang="en-US" altLang="zh-CN"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a:t>
            </a:r>
            <a:r>
              <a:rPr lang="en-US" altLang="zh-CN" dirty="0">
                <a:latin typeface="Microsoft YaHei" panose="020B0503020204020204" pitchFamily="34" charset="-122"/>
                <a:ea typeface="Microsoft YaHei" panose="020B0503020204020204" pitchFamily="34" charset="-122"/>
              </a:rPr>
              <a:t>“</a:t>
            </a:r>
            <a:r>
              <a:rPr lang="zh-CN" altLang="zh-CN" dirty="0">
                <a:latin typeface="Microsoft YaHei" panose="020B0503020204020204" pitchFamily="34" charset="-122"/>
                <a:ea typeface="Microsoft YaHei" panose="020B0503020204020204" pitchFamily="34" charset="-122"/>
              </a:rPr>
              <a:t>简单</a:t>
            </a:r>
            <a:r>
              <a:rPr lang="en-US" altLang="zh-CN"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a:t>
            </a:r>
            <a:endParaRPr lang="en-US" altLang="zh-CN" dirty="0">
              <a:latin typeface="Microsoft YaHei" panose="020B0503020204020204" pitchFamily="34" charset="-122"/>
              <a:ea typeface="Microsoft YaHei" panose="020B0503020204020204" pitchFamily="34" charset="-122"/>
            </a:endParaRPr>
          </a:p>
          <a:p>
            <a:pPr>
              <a:buFont typeface="Wingdings" pitchFamily="2" charset="2"/>
              <a:buChar char="p"/>
            </a:pPr>
            <a:r>
              <a:rPr lang="en-US" altLang="zh-CN" dirty="0">
                <a:latin typeface="Microsoft YaHei" panose="020B0503020204020204" pitchFamily="34" charset="-122"/>
                <a:ea typeface="Microsoft YaHei" panose="020B0503020204020204" pitchFamily="34" charset="-122"/>
              </a:rPr>
              <a:t>Python</a:t>
            </a:r>
            <a:r>
              <a:rPr lang="zh-CN" altLang="zh-CN" dirty="0">
                <a:latin typeface="Microsoft YaHei" panose="020B0503020204020204" pitchFamily="34" charset="-122"/>
                <a:ea typeface="Microsoft YaHei" panose="020B0503020204020204" pitchFamily="34" charset="-122"/>
              </a:rPr>
              <a:t>是自由软件之一</a:t>
            </a:r>
            <a:r>
              <a:rPr lang="zh-CN" altLang="en-US" dirty="0">
                <a:latin typeface="Microsoft YaHei" panose="020B0503020204020204" pitchFamily="34" charset="-122"/>
                <a:ea typeface="Microsoft YaHei" panose="020B0503020204020204" pitchFamily="34" charset="-122"/>
              </a:rPr>
              <a:t>，</a:t>
            </a:r>
            <a:r>
              <a:rPr lang="zh-CN" altLang="zh-CN" dirty="0">
                <a:latin typeface="Microsoft YaHei" panose="020B0503020204020204" pitchFamily="34" charset="-122"/>
                <a:ea typeface="Microsoft YaHei" panose="020B0503020204020204" pitchFamily="34" charset="-122"/>
              </a:rPr>
              <a:t>免费、开源</a:t>
            </a:r>
            <a:r>
              <a:rPr lang="zh-CN" altLang="en-US" dirty="0">
                <a:latin typeface="Microsoft YaHei" panose="020B0503020204020204" pitchFamily="34" charset="-122"/>
                <a:ea typeface="Microsoft YaHei" panose="020B0503020204020204" pitchFamily="34" charset="-122"/>
              </a:rPr>
              <a:t>。</a:t>
            </a:r>
            <a:endParaRPr lang="en-US" altLang="zh-CN" dirty="0">
              <a:latin typeface="Microsoft YaHei" panose="020B0503020204020204" pitchFamily="34" charset="-122"/>
              <a:ea typeface="Microsoft YaHei" panose="020B0503020204020204" pitchFamily="34" charset="-122"/>
            </a:endParaRPr>
          </a:p>
          <a:p>
            <a:pPr>
              <a:buFont typeface="Wingdings" pitchFamily="2" charset="2"/>
              <a:buChar char="p"/>
            </a:pPr>
            <a:r>
              <a:rPr lang="en-US" altLang="zh-CN" dirty="0">
                <a:latin typeface="Microsoft YaHei" panose="020B0503020204020204" pitchFamily="34" charset="-122"/>
                <a:ea typeface="Microsoft YaHei" panose="020B0503020204020204" pitchFamily="34" charset="-122"/>
              </a:rPr>
              <a:t>Python</a:t>
            </a:r>
            <a:r>
              <a:rPr lang="zh-CN" altLang="zh-CN" dirty="0">
                <a:latin typeface="Microsoft YaHei" panose="020B0503020204020204" pitchFamily="34" charset="-122"/>
                <a:ea typeface="Microsoft YaHei" panose="020B0503020204020204" pitchFamily="34" charset="-122"/>
              </a:rPr>
              <a:t>已经被移植到许多平台上</a:t>
            </a:r>
            <a:r>
              <a:rPr lang="zh-CN" altLang="en-US" dirty="0">
                <a:latin typeface="Microsoft YaHei" panose="020B0503020204020204" pitchFamily="34" charset="-122"/>
                <a:ea typeface="Microsoft YaHei" panose="020B0503020204020204" pitchFamily="34" charset="-122"/>
              </a:rPr>
              <a:t>，</a:t>
            </a:r>
            <a:r>
              <a:rPr lang="zh-CN" altLang="zh-CN" dirty="0">
                <a:latin typeface="Microsoft YaHei" panose="020B0503020204020204" pitchFamily="34" charset="-122"/>
                <a:ea typeface="Microsoft YaHei" panose="020B0503020204020204" pitchFamily="34" charset="-122"/>
              </a:rPr>
              <a:t>包括</a:t>
            </a:r>
            <a:r>
              <a:rPr lang="en-US" altLang="zh-CN" dirty="0">
                <a:latin typeface="Microsoft YaHei" panose="020B0503020204020204" pitchFamily="34" charset="-122"/>
                <a:ea typeface="Microsoft YaHei" panose="020B0503020204020204" pitchFamily="34" charset="-122"/>
              </a:rPr>
              <a:t>Unix/Linux</a:t>
            </a:r>
            <a:r>
              <a:rPr lang="zh-CN" altLang="zh-CN" dirty="0">
                <a:latin typeface="Microsoft YaHei" panose="020B0503020204020204" pitchFamily="34" charset="-122"/>
                <a:ea typeface="Microsoft YaHei" panose="020B0503020204020204" pitchFamily="34" charset="-122"/>
              </a:rPr>
              <a:t>、</a:t>
            </a:r>
            <a:r>
              <a:rPr lang="en-US" altLang="zh-CN" dirty="0">
                <a:latin typeface="Microsoft YaHei" panose="020B0503020204020204" pitchFamily="34" charset="-122"/>
                <a:ea typeface="Microsoft YaHei" panose="020B0503020204020204" pitchFamily="34" charset="-122"/>
              </a:rPr>
              <a:t>Windows</a:t>
            </a:r>
            <a:r>
              <a:rPr lang="zh-CN" altLang="zh-CN" dirty="0">
                <a:latin typeface="Microsoft YaHei" panose="020B0503020204020204" pitchFamily="34" charset="-122"/>
                <a:ea typeface="Microsoft YaHei" panose="020B0503020204020204" pitchFamily="34" charset="-122"/>
              </a:rPr>
              <a:t>、</a:t>
            </a:r>
            <a:r>
              <a:rPr lang="en-US" altLang="zh-CN" dirty="0">
                <a:latin typeface="Microsoft YaHei" panose="020B0503020204020204" pitchFamily="34" charset="-122"/>
                <a:ea typeface="Microsoft YaHei" panose="020B0503020204020204" pitchFamily="34" charset="-122"/>
              </a:rPr>
              <a:t>Mac OS</a:t>
            </a:r>
            <a:r>
              <a:rPr lang="zh-CN" altLang="zh-CN" dirty="0">
                <a:latin typeface="Microsoft YaHei" panose="020B0503020204020204" pitchFamily="34" charset="-122"/>
                <a:ea typeface="Microsoft YaHei" panose="020B0503020204020204" pitchFamily="34" charset="-122"/>
              </a:rPr>
              <a:t>。</a:t>
            </a:r>
            <a:endParaRPr lang="en-US" altLang="zh-CN" dirty="0">
              <a:latin typeface="Microsoft YaHei" panose="020B0503020204020204" pitchFamily="34" charset="-122"/>
              <a:ea typeface="Microsoft YaHei" panose="020B0503020204020204" pitchFamily="34" charset="-122"/>
            </a:endParaRPr>
          </a:p>
        </p:txBody>
      </p:sp>
      <p:pic>
        <p:nvPicPr>
          <p:cNvPr id="4" name="图片 5">
            <a:extLst>
              <a:ext uri="{FF2B5EF4-FFF2-40B4-BE49-F238E27FC236}">
                <a16:creationId xmlns:a16="http://schemas.microsoft.com/office/drawing/2014/main" id="{19BEC12B-1EE2-90ED-590E-8E5F5D36F5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36609" y="1189941"/>
            <a:ext cx="3752314" cy="4271453"/>
          </a:xfrm>
          <a:prstGeom prst="rect">
            <a:avLst/>
          </a:prstGeom>
        </p:spPr>
      </p:pic>
      <p:sp>
        <p:nvSpPr>
          <p:cNvPr id="5" name="TextBox 4">
            <a:extLst>
              <a:ext uri="{FF2B5EF4-FFF2-40B4-BE49-F238E27FC236}">
                <a16:creationId xmlns:a16="http://schemas.microsoft.com/office/drawing/2014/main" id="{596AB6BF-EAD4-767D-48C1-E6936F2F8048}"/>
              </a:ext>
            </a:extLst>
          </p:cNvPr>
          <p:cNvSpPr txBox="1"/>
          <p:nvPr/>
        </p:nvSpPr>
        <p:spPr>
          <a:xfrm>
            <a:off x="439615" y="5618894"/>
            <a:ext cx="8018542" cy="584775"/>
          </a:xfrm>
          <a:prstGeom prst="rect">
            <a:avLst/>
          </a:prstGeom>
          <a:noFill/>
        </p:spPr>
        <p:txBody>
          <a:bodyPr wrap="none" rtlCol="0">
            <a:spAutoFit/>
          </a:bodyPr>
          <a:lstStyle/>
          <a:p>
            <a:r>
              <a:rPr lang="en-CN" sz="3200" dirty="0">
                <a:latin typeface="Georgia" panose="02040502050405020303" pitchFamily="18" charset="0"/>
              </a:rPr>
              <a:t>尝试在Python命令行中输入</a:t>
            </a:r>
            <a:r>
              <a:rPr lang="zh-CN" altLang="en-US" sz="3200" dirty="0">
                <a:latin typeface="Georgia" panose="02040502050405020303" pitchFamily="18" charset="0"/>
              </a:rPr>
              <a:t>“</a:t>
            </a:r>
            <a:r>
              <a:rPr lang="en-US" altLang="zh-CN" sz="3200" dirty="0">
                <a:latin typeface="Georgia" panose="02040502050405020303" pitchFamily="18" charset="0"/>
              </a:rPr>
              <a:t>import</a:t>
            </a:r>
            <a:r>
              <a:rPr lang="zh-CN" altLang="en-US" sz="3200" dirty="0">
                <a:latin typeface="Georgia" panose="02040502050405020303" pitchFamily="18" charset="0"/>
              </a:rPr>
              <a:t> </a:t>
            </a:r>
            <a:r>
              <a:rPr lang="en-US" altLang="zh-CN" sz="3200" dirty="0">
                <a:latin typeface="Georgia" panose="02040502050405020303" pitchFamily="18" charset="0"/>
              </a:rPr>
              <a:t>this</a:t>
            </a:r>
            <a:r>
              <a:rPr lang="zh-CN" altLang="en-US" sz="3200" dirty="0">
                <a:latin typeface="Georgia" panose="02040502050405020303" pitchFamily="18" charset="0"/>
              </a:rPr>
              <a:t>”</a:t>
            </a:r>
            <a:endParaRPr lang="en-CN" sz="3200" dirty="0">
              <a:latin typeface="Georgia" panose="02040502050405020303" pitchFamily="18" charset="0"/>
            </a:endParaRPr>
          </a:p>
        </p:txBody>
      </p:sp>
      <p:sp>
        <p:nvSpPr>
          <p:cNvPr id="6" name="TextBox 5">
            <a:extLst>
              <a:ext uri="{FF2B5EF4-FFF2-40B4-BE49-F238E27FC236}">
                <a16:creationId xmlns:a16="http://schemas.microsoft.com/office/drawing/2014/main" id="{7B441A8C-6EFB-6836-3D1F-5C498D1C3F58}"/>
              </a:ext>
            </a:extLst>
          </p:cNvPr>
          <p:cNvSpPr txBox="1"/>
          <p:nvPr/>
        </p:nvSpPr>
        <p:spPr>
          <a:xfrm>
            <a:off x="439615" y="4986720"/>
            <a:ext cx="4352474" cy="584775"/>
          </a:xfrm>
          <a:prstGeom prst="rect">
            <a:avLst/>
          </a:prstGeom>
          <a:noFill/>
        </p:spPr>
        <p:txBody>
          <a:bodyPr wrap="none" rtlCol="0">
            <a:spAutoFit/>
          </a:bodyPr>
          <a:lstStyle/>
          <a:p>
            <a:r>
              <a:rPr lang="en-CN" sz="3200" dirty="0">
                <a:latin typeface="Georgia" panose="02040502050405020303" pitchFamily="18" charset="0"/>
              </a:rPr>
              <a:t>人生苦短</a:t>
            </a:r>
            <a:r>
              <a:rPr lang="zh-CN" altLang="en-US" sz="3200" dirty="0">
                <a:latin typeface="Georgia" panose="02040502050405020303" pitchFamily="18" charset="0"/>
              </a:rPr>
              <a:t>，我用</a:t>
            </a:r>
            <a:r>
              <a:rPr lang="en-US" altLang="zh-CN" sz="3200" dirty="0">
                <a:latin typeface="Georgia" panose="02040502050405020303" pitchFamily="18" charset="0"/>
              </a:rPr>
              <a:t>Python</a:t>
            </a:r>
            <a:endParaRPr lang="en-CN" sz="3200" dirty="0">
              <a:latin typeface="Georgia" panose="02040502050405020303" pitchFamily="18" charset="0"/>
            </a:endParaRPr>
          </a:p>
        </p:txBody>
      </p:sp>
    </p:spTree>
    <p:extLst>
      <p:ext uri="{BB962C8B-B14F-4D97-AF65-F5344CB8AC3E}">
        <p14:creationId xmlns:p14="http://schemas.microsoft.com/office/powerpoint/2010/main" val="168089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checkerboard(across)">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a:t>
            </a:r>
            <a:r>
              <a:rPr lang="zh-CN" altLang="en-US" dirty="0"/>
              <a:t> 学习</a:t>
            </a:r>
            <a:r>
              <a:rPr lang="en-US" altLang="zh-CN" dirty="0"/>
              <a:t>Python</a:t>
            </a:r>
            <a:r>
              <a:rPr lang="zh-CN" altLang="en-US" dirty="0"/>
              <a:t>工具</a:t>
            </a:r>
            <a:r>
              <a:rPr lang="en-US" altLang="zh-CN" dirty="0"/>
              <a:t>——</a:t>
            </a:r>
            <a:r>
              <a:rPr lang="en-US" altLang="zh-CN" dirty="0" err="1"/>
              <a:t>Jupyter</a:t>
            </a:r>
            <a:r>
              <a:rPr lang="zh-CN" altLang="en-US" dirty="0"/>
              <a:t> </a:t>
            </a:r>
            <a:r>
              <a:rPr lang="en-US" altLang="zh-CN" dirty="0"/>
              <a:t>Notebook</a:t>
            </a:r>
            <a:endParaRPr lang="zh-CN" altLang="en-US" dirty="0"/>
          </a:p>
        </p:txBody>
      </p:sp>
      <p:sp>
        <p:nvSpPr>
          <p:cNvPr id="4" name="内容占位符 2">
            <a:extLst>
              <a:ext uri="{FF2B5EF4-FFF2-40B4-BE49-F238E27FC236}">
                <a16:creationId xmlns:a16="http://schemas.microsoft.com/office/drawing/2014/main" id="{51014135-39F1-C38C-73CC-6A15C3FCDA84}"/>
              </a:ext>
            </a:extLst>
          </p:cNvPr>
          <p:cNvSpPr txBox="1">
            <a:spLocks/>
          </p:cNvSpPr>
          <p:nvPr/>
        </p:nvSpPr>
        <p:spPr>
          <a:xfrm>
            <a:off x="117881" y="806412"/>
            <a:ext cx="11809076" cy="4176406"/>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100000"/>
              </a:lnSpc>
              <a:spcBef>
                <a:spcPts val="1000"/>
              </a:spcBef>
              <a:buFont typeface="Wingdings" pitchFamily="2" charset="2"/>
              <a:buChar char="n"/>
              <a:defRPr sz="2800" b="0" i="0" kern="1200">
                <a:solidFill>
                  <a:schemeClr val="tx1"/>
                </a:solidFill>
                <a:latin typeface="Lantinghei SC Extralight" panose="02000000000000000000" pitchFamily="2" charset="-122"/>
                <a:ea typeface="Lantinghei SC Extralight" panose="02000000000000000000" pitchFamily="2" charset="-122"/>
                <a:cs typeface="+mn-cs"/>
              </a:defRPr>
            </a:lvl1pPr>
            <a:lvl2pPr marL="685800" indent="-228600" algn="l" defTabSz="914400" rtl="0" eaLnBrk="1" latinLnBrk="0" hangingPunct="1">
              <a:lnSpc>
                <a:spcPct val="100000"/>
              </a:lnSpc>
              <a:spcBef>
                <a:spcPts val="500"/>
              </a:spcBef>
              <a:buFont typeface="Wingdings" pitchFamily="2" charset="2"/>
              <a:buChar char="n"/>
              <a:defRPr sz="2400" b="0" i="0" kern="1200">
                <a:solidFill>
                  <a:schemeClr val="tx1"/>
                </a:solidFill>
                <a:latin typeface="Lantinghei SC Extralight" panose="02000000000000000000" pitchFamily="2" charset="-122"/>
                <a:ea typeface="Lantinghei SC Extralight" panose="02000000000000000000" pitchFamily="2" charset="-122"/>
                <a:cs typeface="+mn-cs"/>
              </a:defRPr>
            </a:lvl2pPr>
            <a:lvl3pPr marL="1143000" indent="-228600" algn="l" defTabSz="914400" rtl="0" eaLnBrk="1" latinLnBrk="0" hangingPunct="1">
              <a:lnSpc>
                <a:spcPct val="100000"/>
              </a:lnSpc>
              <a:spcBef>
                <a:spcPts val="500"/>
              </a:spcBef>
              <a:buFont typeface="Wingdings" pitchFamily="2" charset="2"/>
              <a:buChar char="n"/>
              <a:defRPr sz="2000" kern="1200">
                <a:solidFill>
                  <a:schemeClr val="tx1"/>
                </a:solidFill>
                <a:latin typeface="KaiTi" panose="02010609060101010101" pitchFamily="49" charset="-122"/>
                <a:ea typeface="KaiTi" panose="02010609060101010101" pitchFamily="49" charset="-122"/>
                <a:cs typeface="+mn-cs"/>
              </a:defRPr>
            </a:lvl3pPr>
            <a:lvl4pPr marL="1600200" indent="-228600" algn="l" defTabSz="914400" rtl="0" eaLnBrk="1" latinLnBrk="0" hangingPunct="1">
              <a:lnSpc>
                <a:spcPct val="100000"/>
              </a:lnSpc>
              <a:spcBef>
                <a:spcPts val="500"/>
              </a:spcBef>
              <a:buFont typeface="Wingdings" pitchFamily="2" charset="2"/>
              <a:buChar char="n"/>
              <a:defRPr sz="1800" kern="1200">
                <a:solidFill>
                  <a:schemeClr val="tx1"/>
                </a:solidFill>
                <a:latin typeface="KaiTi" panose="02010609060101010101" pitchFamily="49" charset="-122"/>
                <a:ea typeface="KaiTi" panose="02010609060101010101" pitchFamily="49" charset="-122"/>
                <a:cs typeface="+mn-cs"/>
              </a:defRPr>
            </a:lvl4pPr>
            <a:lvl5pPr marL="2057400" indent="-228600" algn="l" defTabSz="914400" rtl="0" eaLnBrk="1" latinLnBrk="0" hangingPunct="1">
              <a:lnSpc>
                <a:spcPct val="100000"/>
              </a:lnSpc>
              <a:spcBef>
                <a:spcPts val="500"/>
              </a:spcBef>
              <a:buFont typeface="Wingdings" pitchFamily="2" charset="2"/>
              <a:buChar char="n"/>
              <a:defRPr sz="1800" kern="1200">
                <a:solidFill>
                  <a:schemeClr val="tx1"/>
                </a:solidFill>
                <a:latin typeface="KaiTi" panose="02010609060101010101" pitchFamily="49" charset="-122"/>
                <a:ea typeface="KaiTi"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p"/>
            </a:pPr>
            <a:r>
              <a:rPr lang="zh-CN" altLang="en-US" dirty="0">
                <a:latin typeface="Microsoft YaHei" panose="020B0503020204020204" pitchFamily="34" charset="-122"/>
                <a:ea typeface="Microsoft YaHei" panose="020B0503020204020204" pitchFamily="34" charset="-122"/>
              </a:rPr>
              <a:t>什么是 </a:t>
            </a:r>
            <a:r>
              <a:rPr lang="en" altLang="zh-CN" dirty="0" err="1">
                <a:latin typeface="Microsoft YaHei" panose="020B0503020204020204" pitchFamily="34" charset="-122"/>
                <a:ea typeface="Microsoft YaHei" panose="020B0503020204020204" pitchFamily="34" charset="-122"/>
              </a:rPr>
              <a:t>Jupyter</a:t>
            </a:r>
            <a:r>
              <a:rPr lang="en" altLang="zh-CN" dirty="0">
                <a:latin typeface="Microsoft YaHei" panose="020B0503020204020204" pitchFamily="34" charset="-122"/>
                <a:ea typeface="Microsoft YaHei" panose="020B0503020204020204" pitchFamily="34" charset="-122"/>
              </a:rPr>
              <a:t> Notebook?</a:t>
            </a:r>
          </a:p>
          <a:p>
            <a:pPr lvl="1">
              <a:buFont typeface="Wingdings" pitchFamily="2" charset="2"/>
              <a:buChar char="p"/>
            </a:pPr>
            <a:r>
              <a:rPr lang="en" altLang="zh-CN" dirty="0" err="1">
                <a:latin typeface="Microsoft YaHei" panose="020B0503020204020204" pitchFamily="34" charset="-122"/>
                <a:ea typeface="Microsoft YaHei" panose="020B0503020204020204" pitchFamily="34" charset="-122"/>
              </a:rPr>
              <a:t>Jupyter</a:t>
            </a:r>
            <a:r>
              <a:rPr lang="en" altLang="zh-CN" dirty="0">
                <a:latin typeface="Microsoft YaHei" panose="020B0503020204020204" pitchFamily="34" charset="-122"/>
                <a:ea typeface="Microsoft YaHei" panose="020B0503020204020204" pitchFamily="34" charset="-122"/>
              </a:rPr>
              <a:t> Notebook </a:t>
            </a:r>
            <a:r>
              <a:rPr lang="zh-CN" altLang="en-US" dirty="0">
                <a:latin typeface="Microsoft YaHei" panose="020B0503020204020204" pitchFamily="34" charset="-122"/>
                <a:ea typeface="Microsoft YaHei" panose="020B0503020204020204" pitchFamily="34" charset="-122"/>
              </a:rPr>
              <a:t>是一个开源的 </a:t>
            </a:r>
            <a:r>
              <a:rPr lang="en" altLang="zh-CN" dirty="0">
                <a:latin typeface="Microsoft YaHei" panose="020B0503020204020204" pitchFamily="34" charset="-122"/>
                <a:ea typeface="Microsoft YaHei" panose="020B0503020204020204" pitchFamily="34" charset="-122"/>
              </a:rPr>
              <a:t>web </a:t>
            </a:r>
            <a:r>
              <a:rPr lang="zh-CN" altLang="en-US" dirty="0">
                <a:latin typeface="Microsoft YaHei" panose="020B0503020204020204" pitchFamily="34" charset="-122"/>
                <a:ea typeface="Microsoft YaHei" panose="020B0503020204020204" pitchFamily="34" charset="-122"/>
              </a:rPr>
              <a:t>应用程序，可以创建和共享包含代码、方程式、可视化和文本的文档，</a:t>
            </a:r>
            <a:r>
              <a:rPr lang="zh-CN" altLang="en-US" sz="2400" dirty="0">
                <a:latin typeface="Microsoft YaHei" panose="020B0503020204020204" pitchFamily="34" charset="-122"/>
                <a:ea typeface="Microsoft YaHei" panose="020B0503020204020204" pitchFamily="34" charset="-122"/>
              </a:rPr>
              <a:t>广泛用于数据分析、机器学习、数据可视化和教育。</a:t>
            </a:r>
            <a:endParaRPr lang="en-US" altLang="zh-CN" dirty="0">
              <a:latin typeface="Microsoft YaHei" panose="020B0503020204020204" pitchFamily="34" charset="-122"/>
              <a:ea typeface="Microsoft YaHei" panose="020B0503020204020204" pitchFamily="34" charset="-122"/>
            </a:endParaRPr>
          </a:p>
          <a:p>
            <a:pPr lvl="1">
              <a:buFont typeface="Wingdings" pitchFamily="2" charset="2"/>
              <a:buChar char="p"/>
            </a:pPr>
            <a:r>
              <a:rPr kumimoji="1" lang="zh-CN" altLang="en-US" sz="2400" dirty="0">
                <a:latin typeface="Microsoft YaHei" panose="020B0503020204020204" pitchFamily="34" charset="-122"/>
                <a:ea typeface="Microsoft YaHei" panose="020B0503020204020204" pitchFamily="34" charset="-122"/>
              </a:rPr>
              <a:t>执行</a:t>
            </a:r>
            <a:r>
              <a:rPr kumimoji="1" lang="en-US" altLang="zh-CN" sz="2400" dirty="0">
                <a:latin typeface="Microsoft YaHei" panose="020B0503020204020204" pitchFamily="34" charset="-122"/>
                <a:ea typeface="Microsoft YaHei" panose="020B0503020204020204" pitchFamily="34" charset="-122"/>
              </a:rPr>
              <a:t>python</a:t>
            </a:r>
            <a:r>
              <a:rPr kumimoji="1" lang="zh-CN" altLang="en-US" sz="2400" dirty="0">
                <a:latin typeface="Microsoft YaHei" panose="020B0503020204020204" pitchFamily="34" charset="-122"/>
                <a:ea typeface="Microsoft YaHei" panose="020B0503020204020204" pitchFamily="34" charset="-122"/>
              </a:rPr>
              <a:t>命令所见即所得</a:t>
            </a:r>
            <a:endParaRPr kumimoji="1" lang="en-US" altLang="zh-CN" dirty="0">
              <a:latin typeface="Microsoft YaHei" panose="020B0503020204020204" pitchFamily="34" charset="-122"/>
              <a:ea typeface="Microsoft YaHei" panose="020B0503020204020204" pitchFamily="34" charset="-122"/>
            </a:endParaRPr>
          </a:p>
          <a:p>
            <a:pPr marL="0" indent="0">
              <a:buNone/>
            </a:pPr>
            <a:endParaRPr kumimoji="1" lang="en-US" altLang="zh-CN" sz="2400" dirty="0">
              <a:latin typeface="Microsoft YaHei" panose="020B0503020204020204" pitchFamily="34" charset="-122"/>
              <a:ea typeface="Microsoft YaHei" panose="020B0503020204020204" pitchFamily="34" charset="-122"/>
            </a:endParaRPr>
          </a:p>
          <a:p>
            <a:pPr>
              <a:buFont typeface="Wingdings" pitchFamily="2" charset="2"/>
              <a:buChar char="p"/>
            </a:pPr>
            <a:r>
              <a:rPr lang="en-US" altLang="zh-CN" dirty="0" err="1">
                <a:latin typeface="Microsoft YaHei" panose="020B0503020204020204" pitchFamily="34" charset="-122"/>
                <a:ea typeface="Microsoft YaHei" panose="020B0503020204020204" pitchFamily="34" charset="-122"/>
              </a:rPr>
              <a:t>Jupyter</a:t>
            </a:r>
            <a:r>
              <a:rPr lang="zh-CN" altLang="en-US" dirty="0">
                <a:latin typeface="Microsoft YaHei" panose="020B0503020204020204" pitchFamily="34" charset="-122"/>
                <a:ea typeface="Microsoft YaHei" panose="020B0503020204020204" pitchFamily="34" charset="-122"/>
              </a:rPr>
              <a:t>使用</a:t>
            </a:r>
            <a:endParaRPr lang="en-US" altLang="zh-CN" dirty="0">
              <a:latin typeface="Microsoft YaHei" panose="020B0503020204020204" pitchFamily="34" charset="-122"/>
              <a:ea typeface="Microsoft YaHei" panose="020B0503020204020204" pitchFamily="34" charset="-122"/>
            </a:endParaRPr>
          </a:p>
          <a:p>
            <a:pPr lvl="1">
              <a:buFont typeface="Wingdings" pitchFamily="2" charset="2"/>
              <a:buChar char="p"/>
            </a:pPr>
            <a:r>
              <a:rPr kumimoji="1" lang="zh-CN" altLang="en-US" dirty="0">
                <a:latin typeface="Microsoft YaHei" panose="020B0503020204020204" pitchFamily="34" charset="-122"/>
                <a:ea typeface="Microsoft YaHei" panose="020B0503020204020204" pitchFamily="34" charset="-122"/>
              </a:rPr>
              <a:t>安装命令：</a:t>
            </a:r>
            <a:endParaRPr kumimoji="1" lang="en-US" altLang="zh-CN" dirty="0">
              <a:latin typeface="Microsoft YaHei" panose="020B0503020204020204" pitchFamily="34" charset="-122"/>
              <a:ea typeface="Microsoft YaHei" panose="020B0503020204020204" pitchFamily="34" charset="-122"/>
            </a:endParaRPr>
          </a:p>
          <a:p>
            <a:pPr marL="914400" lvl="2" indent="0">
              <a:buNone/>
            </a:pPr>
            <a:r>
              <a:rPr kumimoji="1" lang="en-US" altLang="zh-CN" sz="2400" dirty="0" err="1">
                <a:latin typeface="Microsoft YaHei" panose="020B0503020204020204" pitchFamily="34" charset="-122"/>
                <a:ea typeface="Microsoft YaHei" panose="020B0503020204020204" pitchFamily="34" charset="-122"/>
              </a:rPr>
              <a:t>conda</a:t>
            </a:r>
            <a:r>
              <a:rPr kumimoji="1" lang="zh-CN" altLang="en-US" sz="2400" dirty="0">
                <a:latin typeface="Microsoft YaHei" panose="020B0503020204020204" pitchFamily="34" charset="-122"/>
                <a:ea typeface="Microsoft YaHei" panose="020B0503020204020204" pitchFamily="34" charset="-122"/>
              </a:rPr>
              <a:t> </a:t>
            </a:r>
            <a:r>
              <a:rPr kumimoji="1" lang="en-US" altLang="zh-CN" sz="2400" dirty="0">
                <a:latin typeface="Microsoft YaHei" panose="020B0503020204020204" pitchFamily="34" charset="-122"/>
                <a:ea typeface="Microsoft YaHei" panose="020B0503020204020204" pitchFamily="34" charset="-122"/>
              </a:rPr>
              <a:t>install notebook</a:t>
            </a:r>
          </a:p>
          <a:p>
            <a:pPr lvl="1">
              <a:buFont typeface="Wingdings" pitchFamily="2" charset="2"/>
              <a:buChar char="p"/>
            </a:pPr>
            <a:r>
              <a:rPr lang="zh-CN" altLang="en-US" dirty="0">
                <a:latin typeface="Microsoft YaHei" panose="020B0503020204020204" pitchFamily="34" charset="-122"/>
                <a:ea typeface="Microsoft YaHei" panose="020B0503020204020204" pitchFamily="34" charset="-122"/>
              </a:rPr>
              <a:t>启动命令：</a:t>
            </a:r>
            <a:endParaRPr lang="en-US" altLang="zh-CN" dirty="0">
              <a:latin typeface="Microsoft YaHei" panose="020B0503020204020204" pitchFamily="34" charset="-122"/>
              <a:ea typeface="Microsoft YaHei" panose="020B0503020204020204" pitchFamily="34" charset="-122"/>
            </a:endParaRPr>
          </a:p>
          <a:p>
            <a:pPr marL="457200" lvl="1" indent="0">
              <a:buNone/>
            </a:pPr>
            <a:r>
              <a:rPr lang="en-US" altLang="zh-CN" dirty="0">
                <a:latin typeface="Microsoft YaHei" panose="020B0503020204020204" pitchFamily="34" charset="-122"/>
                <a:ea typeface="Microsoft YaHei" panose="020B0503020204020204" pitchFamily="34" charset="-122"/>
              </a:rPr>
              <a:t>	</a:t>
            </a:r>
            <a:r>
              <a:rPr lang="en-US" altLang="zh-CN" dirty="0" err="1">
                <a:latin typeface="Microsoft YaHei" panose="020B0503020204020204" pitchFamily="34" charset="-122"/>
                <a:ea typeface="Microsoft YaHei" panose="020B0503020204020204" pitchFamily="34" charset="-122"/>
              </a:rPr>
              <a:t>jupyter</a:t>
            </a:r>
            <a:r>
              <a:rPr lang="en-US" altLang="zh-CN" dirty="0">
                <a:latin typeface="Microsoft YaHei" panose="020B0503020204020204" pitchFamily="34" charset="-122"/>
                <a:ea typeface="Microsoft YaHei" panose="020B0503020204020204" pitchFamily="34" charset="-122"/>
              </a:rPr>
              <a:t> notebook</a:t>
            </a:r>
          </a:p>
          <a:p>
            <a:pPr lvl="1">
              <a:buFont typeface="Wingdings" pitchFamily="2" charset="2"/>
              <a:buChar char="p"/>
            </a:pPr>
            <a:r>
              <a:rPr lang="zh-CN" altLang="en-US" dirty="0">
                <a:latin typeface="Microsoft YaHei" panose="020B0503020204020204" pitchFamily="34" charset="-122"/>
                <a:ea typeface="Microsoft YaHei" panose="020B0503020204020204" pitchFamily="34" charset="-122"/>
              </a:rPr>
              <a:t>退出：直接关闭窗口</a:t>
            </a:r>
            <a:endParaRPr lang="en-US" altLang="zh-CN" dirty="0">
              <a:latin typeface="Microsoft YaHei" panose="020B0503020204020204" pitchFamily="34" charset="-122"/>
              <a:ea typeface="Microsoft YaHei" panose="020B0503020204020204" pitchFamily="34" charset="-122"/>
            </a:endParaRPr>
          </a:p>
          <a:p>
            <a:pPr>
              <a:buFont typeface="Wingdings" pitchFamily="2" charset="2"/>
              <a:buChar char="p"/>
            </a:pPr>
            <a:endParaRPr kumimoji="1" lang="en-US" altLang="zh-CN" dirty="0">
              <a:latin typeface="Microsoft YaHei" panose="020B0503020204020204" pitchFamily="34" charset="-122"/>
              <a:ea typeface="Microsoft YaHei" panose="020B0503020204020204" pitchFamily="34" charset="-122"/>
            </a:endParaRPr>
          </a:p>
          <a:p>
            <a:pPr lvl="1">
              <a:buFont typeface="Wingdings" pitchFamily="2" charset="2"/>
              <a:buChar char="p"/>
            </a:pPr>
            <a:endParaRPr kumimoji="1" lang="en-US" altLang="zh-CN" dirty="0">
              <a:latin typeface="Microsoft YaHei" panose="020B0503020204020204" pitchFamily="34" charset="-122"/>
              <a:ea typeface="Microsoft YaHei" panose="020B0503020204020204" pitchFamily="34" charset="-122"/>
            </a:endParaRPr>
          </a:p>
          <a:p>
            <a:pPr lvl="1">
              <a:buFont typeface="Wingdings" pitchFamily="2" charset="2"/>
              <a:buChar char="p"/>
            </a:pPr>
            <a:endParaRPr lang="en-US" altLang="zh-CN" dirty="0">
              <a:latin typeface="Microsoft YaHei" panose="020B0503020204020204" pitchFamily="34" charset="-122"/>
              <a:ea typeface="Microsoft YaHei" panose="020B0503020204020204" pitchFamily="34" charset="-122"/>
            </a:endParaRPr>
          </a:p>
        </p:txBody>
      </p:sp>
      <p:pic>
        <p:nvPicPr>
          <p:cNvPr id="3" name="图片 4">
            <a:extLst>
              <a:ext uri="{FF2B5EF4-FFF2-40B4-BE49-F238E27FC236}">
                <a16:creationId xmlns:a16="http://schemas.microsoft.com/office/drawing/2014/main" id="{8BB29ECF-A689-BAFC-80C4-69DCCC6D2C0A}"/>
              </a:ext>
            </a:extLst>
          </p:cNvPr>
          <p:cNvPicPr>
            <a:picLocks noChangeAspect="1"/>
          </p:cNvPicPr>
          <p:nvPr/>
        </p:nvPicPr>
        <p:blipFill>
          <a:blip r:embed="rId2"/>
          <a:srcRect t="1550"/>
          <a:stretch/>
        </p:blipFill>
        <p:spPr>
          <a:xfrm>
            <a:off x="5651645" y="2979505"/>
            <a:ext cx="6086086" cy="2827017"/>
          </a:xfrm>
          <a:prstGeom prst="rect">
            <a:avLst/>
          </a:prstGeom>
          <a:ln>
            <a:solidFill>
              <a:schemeClr val="tx1"/>
            </a:solidFill>
          </a:ln>
        </p:spPr>
      </p:pic>
    </p:spTree>
    <p:extLst>
      <p:ext uri="{BB962C8B-B14F-4D97-AF65-F5344CB8AC3E}">
        <p14:creationId xmlns:p14="http://schemas.microsoft.com/office/powerpoint/2010/main" val="626624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28628" y="221070"/>
            <a:ext cx="11298116" cy="437186"/>
          </a:xfrm>
        </p:spPr>
        <p:txBody>
          <a:bodyPr/>
          <a:lstStyle/>
          <a:p>
            <a:r>
              <a:rPr lang="en-US" altLang="zh-CN" dirty="0"/>
              <a:t>3.3</a:t>
            </a:r>
            <a:r>
              <a:rPr lang="zh-CN" altLang="en-US" dirty="0"/>
              <a:t> </a:t>
            </a:r>
            <a:r>
              <a:rPr lang="en-US" altLang="zh-CN" dirty="0"/>
              <a:t>Python</a:t>
            </a:r>
            <a:r>
              <a:rPr lang="zh-CN" altLang="en-US" dirty="0"/>
              <a:t> </a:t>
            </a:r>
            <a:r>
              <a:rPr lang="en-US" altLang="zh-CN" dirty="0"/>
              <a:t>IDLE</a:t>
            </a:r>
            <a:r>
              <a:rPr lang="zh-CN" altLang="en-US" dirty="0"/>
              <a:t>开发环境</a:t>
            </a:r>
          </a:p>
        </p:txBody>
      </p:sp>
      <p:sp>
        <p:nvSpPr>
          <p:cNvPr id="3" name="内容占位符 2">
            <a:extLst>
              <a:ext uri="{FF2B5EF4-FFF2-40B4-BE49-F238E27FC236}">
                <a16:creationId xmlns:a16="http://schemas.microsoft.com/office/drawing/2014/main" id="{8479E7E6-80A1-E581-54BB-34CCB36D9F59}"/>
              </a:ext>
            </a:extLst>
          </p:cNvPr>
          <p:cNvSpPr>
            <a:spLocks noGrp="1"/>
          </p:cNvSpPr>
          <p:nvPr>
            <p:ph idx="1"/>
          </p:nvPr>
        </p:nvSpPr>
        <p:spPr>
          <a:xfrm>
            <a:off x="360000" y="1007144"/>
            <a:ext cx="11550363" cy="5099538"/>
          </a:xfrm>
        </p:spPr>
        <p:txBody>
          <a:bodyPr/>
          <a:lstStyle/>
          <a:p>
            <a:pPr>
              <a:buFont typeface="Wingdings" pitchFamily="2" charset="2"/>
              <a:buChar char="p"/>
              <a:defRPr/>
            </a:pPr>
            <a:r>
              <a:rPr lang="en-US" altLang="zh-CN" dirty="0">
                <a:latin typeface="Microsoft YaHei" panose="020B0503020204020204" pitchFamily="34" charset="-122"/>
                <a:ea typeface="Microsoft YaHei" panose="020B0503020204020204" pitchFamily="34" charset="-122"/>
              </a:rPr>
              <a:t>Python </a:t>
            </a:r>
            <a:r>
              <a:rPr lang="zh-CN" altLang="en-US" dirty="0">
                <a:latin typeface="Microsoft YaHei" panose="020B0503020204020204" pitchFamily="34" charset="-122"/>
                <a:ea typeface="Microsoft YaHei" panose="020B0503020204020204" pitchFamily="34" charset="-122"/>
              </a:rPr>
              <a:t>官网：</a:t>
            </a:r>
            <a:r>
              <a:rPr lang="en-US" altLang="zh-CN" dirty="0">
                <a:latin typeface="Microsoft YaHei" panose="020B0503020204020204" pitchFamily="34" charset="-122"/>
                <a:ea typeface="Microsoft YaHei" panose="020B0503020204020204" pitchFamily="34" charset="-122"/>
                <a:hlinkClick r:id="rId2"/>
              </a:rPr>
              <a:t>https://www.python.org/downloads</a:t>
            </a:r>
            <a:endParaRPr lang="en-US" altLang="zh-CN" dirty="0">
              <a:latin typeface="Microsoft YaHei" panose="020B0503020204020204" pitchFamily="34" charset="-122"/>
              <a:ea typeface="Microsoft YaHei" panose="020B0503020204020204" pitchFamily="34" charset="-122"/>
            </a:endParaRPr>
          </a:p>
          <a:p>
            <a:pPr>
              <a:buFont typeface="Wingdings" pitchFamily="2" charset="2"/>
              <a:buChar char="p"/>
              <a:defRPr/>
            </a:pPr>
            <a:r>
              <a:rPr lang="zh-CN" altLang="en-US" dirty="0">
                <a:latin typeface="Microsoft YaHei" panose="020B0503020204020204" pitchFamily="34" charset="-122"/>
                <a:ea typeface="Microsoft YaHei" panose="020B0503020204020204" pitchFamily="34" charset="-122"/>
              </a:rPr>
              <a:t>选择操作系统</a:t>
            </a:r>
            <a:endParaRPr lang="en-US" altLang="zh-CN" dirty="0">
              <a:latin typeface="Microsoft YaHei" panose="020B0503020204020204" pitchFamily="34" charset="-122"/>
              <a:ea typeface="Microsoft YaHei" panose="020B0503020204020204" pitchFamily="34" charset="-122"/>
            </a:endParaRPr>
          </a:p>
          <a:p>
            <a:pPr>
              <a:buFont typeface="Wingdings" pitchFamily="2" charset="2"/>
              <a:buChar char="p"/>
              <a:defRPr/>
            </a:pPr>
            <a:endParaRPr lang="en-US" altLang="zh-CN" dirty="0">
              <a:latin typeface="Microsoft YaHei" panose="020B0503020204020204" pitchFamily="34" charset="-122"/>
              <a:ea typeface="Microsoft YaHei" panose="020B0503020204020204" pitchFamily="34" charset="-122"/>
            </a:endParaRPr>
          </a:p>
          <a:p>
            <a:pPr>
              <a:buFont typeface="Wingdings" pitchFamily="2" charset="2"/>
              <a:buChar char="p"/>
              <a:defRPr/>
            </a:pPr>
            <a:endParaRPr lang="en-US" altLang="zh-CN" dirty="0">
              <a:latin typeface="Microsoft YaHei" panose="020B0503020204020204" pitchFamily="34" charset="-122"/>
              <a:ea typeface="Microsoft YaHei" panose="020B0503020204020204" pitchFamily="34" charset="-122"/>
            </a:endParaRPr>
          </a:p>
          <a:p>
            <a:pPr>
              <a:buFont typeface="Wingdings" pitchFamily="2" charset="2"/>
              <a:buChar char="p"/>
              <a:defRPr/>
            </a:pPr>
            <a:r>
              <a:rPr lang="zh-CN" altLang="en-US" dirty="0">
                <a:latin typeface="Microsoft YaHei" panose="020B0503020204020204" pitchFamily="34" charset="-122"/>
                <a:ea typeface="Microsoft YaHei" panose="020B0503020204020204" pitchFamily="34" charset="-122"/>
              </a:rPr>
              <a:t>选择</a:t>
            </a:r>
            <a:r>
              <a:rPr lang="en-US" altLang="zh-CN" dirty="0">
                <a:latin typeface="Microsoft YaHei" panose="020B0503020204020204" pitchFamily="34" charset="-122"/>
                <a:ea typeface="Microsoft YaHei" panose="020B0503020204020204" pitchFamily="34" charset="-122"/>
              </a:rPr>
              <a:t>Python</a:t>
            </a:r>
            <a:r>
              <a:rPr lang="zh-CN" altLang="en-US" dirty="0">
                <a:latin typeface="Microsoft YaHei" panose="020B0503020204020204" pitchFamily="34" charset="-122"/>
                <a:ea typeface="Microsoft YaHei" panose="020B0503020204020204" pitchFamily="34" charset="-122"/>
              </a:rPr>
              <a:t>版本</a:t>
            </a:r>
            <a:endParaRPr lang="en-US" altLang="zh-CN" dirty="0">
              <a:latin typeface="Microsoft YaHei" panose="020B0503020204020204" pitchFamily="34" charset="-122"/>
              <a:ea typeface="Microsoft YaHei" panose="020B0503020204020204" pitchFamily="34" charset="-122"/>
            </a:endParaRPr>
          </a:p>
        </p:txBody>
      </p:sp>
      <p:pic>
        <p:nvPicPr>
          <p:cNvPr id="4" name="图片 4">
            <a:extLst>
              <a:ext uri="{FF2B5EF4-FFF2-40B4-BE49-F238E27FC236}">
                <a16:creationId xmlns:a16="http://schemas.microsoft.com/office/drawing/2014/main" id="{B174A990-A887-D5C6-F189-6B33B2D3C25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54374" y="1640306"/>
            <a:ext cx="7103576" cy="1671983"/>
          </a:xfrm>
          <a:prstGeom prst="rect">
            <a:avLst/>
          </a:prstGeom>
        </p:spPr>
      </p:pic>
      <p:pic>
        <p:nvPicPr>
          <p:cNvPr id="5" name="图片 5">
            <a:extLst>
              <a:ext uri="{FF2B5EF4-FFF2-40B4-BE49-F238E27FC236}">
                <a16:creationId xmlns:a16="http://schemas.microsoft.com/office/drawing/2014/main" id="{D99D9294-6DEB-8898-66B6-4392071CEAE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53641" r="54450"/>
          <a:stretch/>
        </p:blipFill>
        <p:spPr bwMode="auto">
          <a:xfrm>
            <a:off x="4624805" y="3572879"/>
            <a:ext cx="5762713" cy="2776654"/>
          </a:xfrm>
          <a:prstGeom prst="rect">
            <a:avLst/>
          </a:prstGeom>
          <a:ln w="6350" cap="flat" cmpd="sng" algn="ctr">
            <a:solidFill>
              <a:sysClr val="windowText" lastClr="000000"/>
            </a:solid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51737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a:t>
            </a:r>
            <a:r>
              <a:rPr lang="zh-CN" altLang="en-US" dirty="0"/>
              <a:t> 运行程序的方式</a:t>
            </a:r>
          </a:p>
        </p:txBody>
      </p:sp>
      <p:pic>
        <p:nvPicPr>
          <p:cNvPr id="3" name="图片 20">
            <a:extLst>
              <a:ext uri="{FF2B5EF4-FFF2-40B4-BE49-F238E27FC236}">
                <a16:creationId xmlns:a16="http://schemas.microsoft.com/office/drawing/2014/main" id="{144D926E-9D89-E9AB-67DA-A167F54BAA7F}"/>
              </a:ext>
            </a:extLst>
          </p:cNvPr>
          <p:cNvPicPr>
            <a:picLocks noChangeAspect="1"/>
          </p:cNvPicPr>
          <p:nvPr/>
        </p:nvPicPr>
        <p:blipFill>
          <a:blip r:embed="rId2"/>
          <a:stretch>
            <a:fillRect/>
          </a:stretch>
        </p:blipFill>
        <p:spPr>
          <a:xfrm>
            <a:off x="5771521" y="1650374"/>
            <a:ext cx="5563835" cy="4221718"/>
          </a:xfrm>
          <a:prstGeom prst="rect">
            <a:avLst/>
          </a:prstGeom>
        </p:spPr>
      </p:pic>
      <p:sp>
        <p:nvSpPr>
          <p:cNvPr id="4" name="文本框 5">
            <a:extLst>
              <a:ext uri="{FF2B5EF4-FFF2-40B4-BE49-F238E27FC236}">
                <a16:creationId xmlns:a16="http://schemas.microsoft.com/office/drawing/2014/main" id="{68A2A93C-AB40-B957-D8FB-A5691001CCB7}"/>
              </a:ext>
            </a:extLst>
          </p:cNvPr>
          <p:cNvSpPr txBox="1"/>
          <p:nvPr/>
        </p:nvSpPr>
        <p:spPr>
          <a:xfrm>
            <a:off x="240321" y="845439"/>
            <a:ext cx="4839786" cy="523220"/>
          </a:xfrm>
          <a:prstGeom prst="rect">
            <a:avLst/>
          </a:prstGeom>
          <a:noFill/>
        </p:spPr>
        <p:txBody>
          <a:bodyPr wrap="none" rtlCol="0">
            <a:spAutoFit/>
          </a:bodyPr>
          <a:lstStyle/>
          <a:p>
            <a:pPr marL="342900" indent="-342900">
              <a:buFont typeface="Wingdings" pitchFamily="2" charset="2"/>
              <a:buChar char="p"/>
            </a:pPr>
            <a:r>
              <a:rPr kumimoji="1" lang="zh-CN" altLang="en-US" sz="2800" dirty="0">
                <a:latin typeface="Microsoft YaHei" panose="020B0503020204020204" pitchFamily="34" charset="-122"/>
                <a:ea typeface="Microsoft YaHei" panose="020B0503020204020204" pitchFamily="34" charset="-122"/>
              </a:rPr>
              <a:t>方式一：交互式解释器执行</a:t>
            </a:r>
          </a:p>
        </p:txBody>
      </p:sp>
      <p:sp>
        <p:nvSpPr>
          <p:cNvPr id="5" name="文本框 6">
            <a:extLst>
              <a:ext uri="{FF2B5EF4-FFF2-40B4-BE49-F238E27FC236}">
                <a16:creationId xmlns:a16="http://schemas.microsoft.com/office/drawing/2014/main" id="{3F3A0671-7419-EFBD-0BE2-AFAA976FF2D7}"/>
              </a:ext>
            </a:extLst>
          </p:cNvPr>
          <p:cNvSpPr txBox="1"/>
          <p:nvPr/>
        </p:nvSpPr>
        <p:spPr>
          <a:xfrm>
            <a:off x="5592864" y="1008000"/>
            <a:ext cx="5480924" cy="523220"/>
          </a:xfrm>
          <a:prstGeom prst="rect">
            <a:avLst/>
          </a:prstGeom>
          <a:noFill/>
        </p:spPr>
        <p:txBody>
          <a:bodyPr wrap="none" rtlCol="0">
            <a:spAutoFit/>
          </a:bodyPr>
          <a:lstStyle/>
          <a:p>
            <a:pPr marL="342900" indent="-342900">
              <a:buFont typeface="Wingdings" pitchFamily="2" charset="2"/>
              <a:buChar char="p"/>
            </a:pPr>
            <a:r>
              <a:rPr kumimoji="1" lang="zh-CN" altLang="en-US" sz="2800" dirty="0">
                <a:latin typeface="Microsoft YaHei" panose="020B0503020204020204" pitchFamily="34" charset="-122"/>
                <a:ea typeface="Microsoft YaHei" panose="020B0503020204020204" pitchFamily="34" charset="-122"/>
              </a:rPr>
              <a:t>方式三：</a:t>
            </a:r>
            <a:r>
              <a:rPr kumimoji="1" lang="en" altLang="zh-CN" sz="2800" dirty="0">
                <a:latin typeface="Microsoft YaHei" panose="020B0503020204020204" pitchFamily="34" charset="-122"/>
                <a:ea typeface="Microsoft YaHei" panose="020B0503020204020204" pitchFamily="34" charset="-122"/>
              </a:rPr>
              <a:t>File</a:t>
            </a:r>
            <a:r>
              <a:rPr kumimoji="1" lang="zh-CN" altLang="en-US" sz="2800" dirty="0">
                <a:latin typeface="Microsoft YaHei" panose="020B0503020204020204" pitchFamily="34" charset="-122"/>
                <a:ea typeface="Microsoft YaHei" panose="020B0503020204020204" pitchFamily="34" charset="-122"/>
              </a:rPr>
              <a:t> </a:t>
            </a:r>
            <a:r>
              <a:rPr kumimoji="1" lang="en" altLang="zh-CN" sz="2800" dirty="0">
                <a:latin typeface="Microsoft YaHei" panose="020B0503020204020204" pitchFamily="34" charset="-122"/>
                <a:ea typeface="Microsoft YaHei" panose="020B0503020204020204" pitchFamily="34" charset="-122"/>
              </a:rPr>
              <a:t>|</a:t>
            </a:r>
            <a:r>
              <a:rPr kumimoji="1" lang="zh-CN" altLang="en-US" sz="2800" dirty="0">
                <a:latin typeface="Microsoft YaHei" panose="020B0503020204020204" pitchFamily="34" charset="-122"/>
                <a:ea typeface="Microsoft YaHei" panose="020B0503020204020204" pitchFamily="34" charset="-122"/>
              </a:rPr>
              <a:t> </a:t>
            </a:r>
            <a:r>
              <a:rPr kumimoji="1" lang="en" altLang="zh-CN" sz="2800" dirty="0">
                <a:latin typeface="Microsoft YaHei" panose="020B0503020204020204" pitchFamily="34" charset="-122"/>
                <a:ea typeface="Microsoft YaHei" panose="020B0503020204020204" pitchFamily="34" charset="-122"/>
              </a:rPr>
              <a:t>New,</a:t>
            </a:r>
            <a:r>
              <a:rPr kumimoji="1" lang="zh-CN" altLang="en-US" sz="2800" dirty="0">
                <a:latin typeface="Microsoft YaHei" panose="020B0503020204020204" pitchFamily="34" charset="-122"/>
                <a:ea typeface="Microsoft YaHei" panose="020B0503020204020204" pitchFamily="34" charset="-122"/>
              </a:rPr>
              <a:t> </a:t>
            </a:r>
            <a:r>
              <a:rPr kumimoji="1" lang="en" altLang="zh-CN" sz="2800" dirty="0">
                <a:latin typeface="Microsoft YaHei" panose="020B0503020204020204" pitchFamily="34" charset="-122"/>
                <a:ea typeface="Microsoft YaHei" panose="020B0503020204020204" pitchFamily="34" charset="-122"/>
              </a:rPr>
              <a:t>Save,</a:t>
            </a:r>
            <a:r>
              <a:rPr kumimoji="1" lang="zh-CN" altLang="en-US" sz="2800" dirty="0">
                <a:latin typeface="Microsoft YaHei" panose="020B0503020204020204" pitchFamily="34" charset="-122"/>
                <a:ea typeface="Microsoft YaHei" panose="020B0503020204020204" pitchFamily="34" charset="-122"/>
              </a:rPr>
              <a:t> </a:t>
            </a:r>
            <a:r>
              <a:rPr kumimoji="1" lang="en" altLang="zh-CN" sz="2800" dirty="0">
                <a:latin typeface="Microsoft YaHei" panose="020B0503020204020204" pitchFamily="34" charset="-122"/>
                <a:ea typeface="Microsoft YaHei" panose="020B0503020204020204" pitchFamily="34" charset="-122"/>
              </a:rPr>
              <a:t>Run</a:t>
            </a:r>
            <a:endParaRPr kumimoji="1" lang="zh-CN" altLang="en-US" sz="2800" dirty="0">
              <a:latin typeface="Microsoft YaHei" panose="020B0503020204020204" pitchFamily="34" charset="-122"/>
              <a:ea typeface="Microsoft YaHei" panose="020B0503020204020204" pitchFamily="34" charset="-122"/>
            </a:endParaRPr>
          </a:p>
        </p:txBody>
      </p:sp>
      <p:sp>
        <p:nvSpPr>
          <p:cNvPr id="6" name="内容占位符 2">
            <a:extLst>
              <a:ext uri="{FF2B5EF4-FFF2-40B4-BE49-F238E27FC236}">
                <a16:creationId xmlns:a16="http://schemas.microsoft.com/office/drawing/2014/main" id="{68E2B109-E493-9400-57EC-77025136C483}"/>
              </a:ext>
            </a:extLst>
          </p:cNvPr>
          <p:cNvSpPr txBox="1">
            <a:spLocks/>
          </p:cNvSpPr>
          <p:nvPr/>
        </p:nvSpPr>
        <p:spPr>
          <a:xfrm>
            <a:off x="118383" y="3632257"/>
            <a:ext cx="5044575" cy="2473440"/>
          </a:xfrm>
          <a:prstGeom prst="rect">
            <a:avLst/>
          </a:prstGeom>
          <a:solidFill>
            <a:schemeClr val="bg1">
              <a:lumMod val="85000"/>
            </a:schemeClr>
          </a:solidFill>
        </p:spPr>
        <p:txBody>
          <a:bodyPr vert="horz" lIns="91440" tIns="45720" rIns="91440" bIns="45720" rtlCol="0">
            <a:normAutofit/>
          </a:bodyPr>
          <a:lstStyle>
            <a:lvl1pPr marL="228600" indent="-228600" algn="l" defTabSz="914400" rtl="0" eaLnBrk="1" latinLnBrk="0" hangingPunct="1">
              <a:lnSpc>
                <a:spcPct val="100000"/>
              </a:lnSpc>
              <a:spcBef>
                <a:spcPts val="1000"/>
              </a:spcBef>
              <a:buFont typeface="Wingdings" pitchFamily="2" charset="2"/>
              <a:buChar char="n"/>
              <a:defRPr sz="2800" b="0" i="0" kern="1200">
                <a:solidFill>
                  <a:schemeClr val="tx1"/>
                </a:solidFill>
                <a:latin typeface="Lantinghei SC Extralight" panose="02000000000000000000" pitchFamily="2" charset="-122"/>
                <a:ea typeface="Lantinghei SC Extralight" panose="02000000000000000000" pitchFamily="2" charset="-122"/>
                <a:cs typeface="+mn-cs"/>
              </a:defRPr>
            </a:lvl1pPr>
            <a:lvl2pPr marL="685800" indent="-228600" algn="l" defTabSz="914400" rtl="0" eaLnBrk="1" latinLnBrk="0" hangingPunct="1">
              <a:lnSpc>
                <a:spcPct val="100000"/>
              </a:lnSpc>
              <a:spcBef>
                <a:spcPts val="500"/>
              </a:spcBef>
              <a:buFont typeface="Wingdings" pitchFamily="2" charset="2"/>
              <a:buChar char="n"/>
              <a:defRPr sz="2400" b="0" i="0" kern="1200">
                <a:solidFill>
                  <a:schemeClr val="tx1"/>
                </a:solidFill>
                <a:latin typeface="Lantinghei SC Extralight" panose="02000000000000000000" pitchFamily="2" charset="-122"/>
                <a:ea typeface="Lantinghei SC Extralight" panose="02000000000000000000" pitchFamily="2" charset="-122"/>
                <a:cs typeface="+mn-cs"/>
              </a:defRPr>
            </a:lvl2pPr>
            <a:lvl3pPr marL="1143000" indent="-228600" algn="l" defTabSz="914400" rtl="0" eaLnBrk="1" latinLnBrk="0" hangingPunct="1">
              <a:lnSpc>
                <a:spcPct val="100000"/>
              </a:lnSpc>
              <a:spcBef>
                <a:spcPts val="500"/>
              </a:spcBef>
              <a:buFont typeface="Wingdings" pitchFamily="2" charset="2"/>
              <a:buChar char="n"/>
              <a:defRPr sz="2000" kern="1200">
                <a:solidFill>
                  <a:schemeClr val="tx1"/>
                </a:solidFill>
                <a:latin typeface="KaiTi" panose="02010609060101010101" pitchFamily="49" charset="-122"/>
                <a:ea typeface="KaiTi" panose="02010609060101010101" pitchFamily="49" charset="-122"/>
                <a:cs typeface="+mn-cs"/>
              </a:defRPr>
            </a:lvl3pPr>
            <a:lvl4pPr marL="1600200" indent="-228600" algn="l" defTabSz="914400" rtl="0" eaLnBrk="1" latinLnBrk="0" hangingPunct="1">
              <a:lnSpc>
                <a:spcPct val="100000"/>
              </a:lnSpc>
              <a:spcBef>
                <a:spcPts val="500"/>
              </a:spcBef>
              <a:buFont typeface="Wingdings" pitchFamily="2" charset="2"/>
              <a:buChar char="n"/>
              <a:defRPr sz="1800" kern="1200">
                <a:solidFill>
                  <a:schemeClr val="tx1"/>
                </a:solidFill>
                <a:latin typeface="KaiTi" panose="02010609060101010101" pitchFamily="49" charset="-122"/>
                <a:ea typeface="KaiTi" panose="02010609060101010101" pitchFamily="49" charset="-122"/>
                <a:cs typeface="+mn-cs"/>
              </a:defRPr>
            </a:lvl4pPr>
            <a:lvl5pPr marL="2057400" indent="-228600" algn="l" defTabSz="914400" rtl="0" eaLnBrk="1" latinLnBrk="0" hangingPunct="1">
              <a:lnSpc>
                <a:spcPct val="100000"/>
              </a:lnSpc>
              <a:spcBef>
                <a:spcPts val="500"/>
              </a:spcBef>
              <a:buFont typeface="Wingdings" pitchFamily="2" charset="2"/>
              <a:buChar char="n"/>
              <a:defRPr sz="1800" kern="1200">
                <a:solidFill>
                  <a:schemeClr val="tx1"/>
                </a:solidFill>
                <a:latin typeface="KaiTi" panose="02010609060101010101" pitchFamily="49" charset="-122"/>
                <a:ea typeface="KaiTi"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endParaRPr lang="en-US" altLang="zh-CN" sz="2400" dirty="0">
              <a:latin typeface="Microsoft YaHei" panose="020B0503020204020204" pitchFamily="34" charset="-122"/>
              <a:ea typeface="Microsoft YaHei" panose="020B0503020204020204" pitchFamily="34" charset="-122"/>
            </a:endParaRPr>
          </a:p>
          <a:p>
            <a:pPr marL="0" indent="0">
              <a:spcBef>
                <a:spcPts val="0"/>
              </a:spcBef>
              <a:buNone/>
            </a:pPr>
            <a:endParaRPr lang="en-US" altLang="zh-CN" sz="2400" dirty="0">
              <a:latin typeface="Microsoft YaHei" panose="020B0503020204020204" pitchFamily="34" charset="-122"/>
              <a:ea typeface="Microsoft YaHei" panose="020B0503020204020204" pitchFamily="34" charset="-122"/>
            </a:endParaRPr>
          </a:p>
          <a:p>
            <a:pPr marL="0" indent="0">
              <a:spcBef>
                <a:spcPts val="0"/>
              </a:spcBef>
              <a:buNone/>
            </a:pPr>
            <a:endParaRPr lang="en-US" altLang="zh-CN" sz="2400" dirty="0">
              <a:latin typeface="Microsoft YaHei" panose="020B0503020204020204" pitchFamily="34" charset="-122"/>
              <a:ea typeface="Microsoft YaHei" panose="020B0503020204020204" pitchFamily="34" charset="-122"/>
            </a:endParaRPr>
          </a:p>
          <a:p>
            <a:pPr marL="0" indent="0">
              <a:spcBef>
                <a:spcPts val="0"/>
              </a:spcBef>
              <a:buNone/>
            </a:pPr>
            <a:r>
              <a:rPr lang="en-US" altLang="zh-CN" sz="2400" dirty="0" err="1">
                <a:latin typeface="Microsoft YaHei" panose="020B0503020204020204" pitchFamily="34" charset="-122"/>
                <a:ea typeface="Microsoft YaHei" panose="020B0503020204020204" pitchFamily="34" charset="-122"/>
              </a:rPr>
              <a:t>hello.py</a:t>
            </a:r>
            <a:r>
              <a:rPr lang="zh-CN" altLang="en-US" sz="2400" dirty="0">
                <a:latin typeface="Microsoft YaHei" panose="020B0503020204020204" pitchFamily="34" charset="-122"/>
                <a:ea typeface="Microsoft YaHei" panose="020B0503020204020204" pitchFamily="34" charset="-122"/>
              </a:rPr>
              <a:t>是</a:t>
            </a:r>
            <a:r>
              <a:rPr lang="en-US" altLang="zh-CN" sz="2400" dirty="0">
                <a:latin typeface="Microsoft YaHei" panose="020B0503020204020204" pitchFamily="34" charset="-122"/>
                <a:ea typeface="Microsoft YaHei" panose="020B0503020204020204" pitchFamily="34" charset="-122"/>
              </a:rPr>
              <a:t>python</a:t>
            </a:r>
            <a:r>
              <a:rPr lang="zh-CN" altLang="en-US" sz="2400" dirty="0">
                <a:latin typeface="Microsoft YaHei" panose="020B0503020204020204" pitchFamily="34" charset="-122"/>
                <a:ea typeface="Microsoft YaHei" panose="020B0503020204020204" pitchFamily="34" charset="-122"/>
              </a:rPr>
              <a:t>程序</a:t>
            </a:r>
            <a:endParaRPr lang="en-US" altLang="zh-CN" sz="2400" dirty="0">
              <a:latin typeface="Microsoft YaHei" panose="020B0503020204020204" pitchFamily="34" charset="-122"/>
              <a:ea typeface="Microsoft YaHei" panose="020B0503020204020204" pitchFamily="34" charset="-122"/>
            </a:endParaRPr>
          </a:p>
          <a:p>
            <a:pPr marL="0" indent="0">
              <a:spcBef>
                <a:spcPts val="0"/>
              </a:spcBef>
              <a:buNone/>
            </a:pPr>
            <a:r>
              <a:rPr lang="en-US" altLang="zh-CN" sz="2400" dirty="0" err="1">
                <a:latin typeface="Microsoft YaHei" panose="020B0503020204020204" pitchFamily="34" charset="-122"/>
                <a:ea typeface="Microsoft YaHei" panose="020B0503020204020204" pitchFamily="34" charset="-122"/>
              </a:rPr>
              <a:t>hello.py</a:t>
            </a:r>
            <a:r>
              <a:rPr lang="en-US" altLang="zh-CN" sz="2400" dirty="0">
                <a:latin typeface="Microsoft YaHei" panose="020B0503020204020204" pitchFamily="34" charset="-122"/>
                <a:ea typeface="Microsoft YaHei" panose="020B0503020204020204" pitchFamily="34" charset="-122"/>
              </a:rPr>
              <a:t>:</a:t>
            </a:r>
          </a:p>
          <a:p>
            <a:pPr marL="36576" indent="0">
              <a:spcBef>
                <a:spcPts val="0"/>
              </a:spcBef>
              <a:buNone/>
            </a:pPr>
            <a:r>
              <a:rPr lang="en-US" altLang="zh-CN" sz="2400" dirty="0">
                <a:latin typeface="Microsoft YaHei" panose="020B0503020204020204" pitchFamily="34" charset="-122"/>
                <a:ea typeface="Microsoft YaHei" panose="020B0503020204020204" pitchFamily="34" charset="-122"/>
              </a:rPr>
              <a:t>     print("hello world")</a:t>
            </a:r>
          </a:p>
        </p:txBody>
      </p:sp>
      <p:sp>
        <p:nvSpPr>
          <p:cNvPr id="7" name="文本框 9">
            <a:extLst>
              <a:ext uri="{FF2B5EF4-FFF2-40B4-BE49-F238E27FC236}">
                <a16:creationId xmlns:a16="http://schemas.microsoft.com/office/drawing/2014/main" id="{FBF95BAD-9C9E-D22A-2007-D7E56A12E8AF}"/>
              </a:ext>
            </a:extLst>
          </p:cNvPr>
          <p:cNvSpPr txBox="1"/>
          <p:nvPr/>
        </p:nvSpPr>
        <p:spPr>
          <a:xfrm>
            <a:off x="179352" y="3170593"/>
            <a:ext cx="4463081" cy="523220"/>
          </a:xfrm>
          <a:prstGeom prst="rect">
            <a:avLst/>
          </a:prstGeom>
          <a:noFill/>
        </p:spPr>
        <p:txBody>
          <a:bodyPr wrap="none" rtlCol="0">
            <a:spAutoFit/>
          </a:bodyPr>
          <a:lstStyle/>
          <a:p>
            <a:pPr marL="342900" indent="-342900">
              <a:buFont typeface="Wingdings" pitchFamily="2" charset="2"/>
              <a:buChar char="p"/>
            </a:pPr>
            <a:r>
              <a:rPr kumimoji="1" lang="zh-CN" altLang="en-US" sz="2800" dirty="0">
                <a:latin typeface="Microsoft YaHei" panose="020B0503020204020204" pitchFamily="34" charset="-122"/>
                <a:ea typeface="Microsoft YaHei" panose="020B0503020204020204" pitchFamily="34" charset="-122"/>
              </a:rPr>
              <a:t>方式二：命令行环境运行</a:t>
            </a:r>
          </a:p>
        </p:txBody>
      </p:sp>
      <p:sp>
        <p:nvSpPr>
          <p:cNvPr id="8" name="文本框 10">
            <a:extLst>
              <a:ext uri="{FF2B5EF4-FFF2-40B4-BE49-F238E27FC236}">
                <a16:creationId xmlns:a16="http://schemas.microsoft.com/office/drawing/2014/main" id="{1798711A-5130-5410-5017-B8A373421084}"/>
              </a:ext>
            </a:extLst>
          </p:cNvPr>
          <p:cNvSpPr txBox="1"/>
          <p:nvPr/>
        </p:nvSpPr>
        <p:spPr>
          <a:xfrm>
            <a:off x="9298744" y="4159135"/>
            <a:ext cx="595035" cy="369332"/>
          </a:xfrm>
          <a:prstGeom prst="rect">
            <a:avLst/>
          </a:prstGeom>
          <a:noFill/>
        </p:spPr>
        <p:txBody>
          <a:bodyPr wrap="none" rtlCol="0">
            <a:spAutoFit/>
          </a:bodyPr>
          <a:lstStyle/>
          <a:p>
            <a:r>
              <a:rPr kumimoji="1" lang="en-US" altLang="zh-CN" dirty="0"/>
              <a:t>IDLE</a:t>
            </a:r>
          </a:p>
        </p:txBody>
      </p:sp>
      <p:sp>
        <p:nvSpPr>
          <p:cNvPr id="9" name="文本框 4">
            <a:extLst>
              <a:ext uri="{FF2B5EF4-FFF2-40B4-BE49-F238E27FC236}">
                <a16:creationId xmlns:a16="http://schemas.microsoft.com/office/drawing/2014/main" id="{3FC2DD71-43B5-A264-B7D4-2835618A665E}"/>
              </a:ext>
            </a:extLst>
          </p:cNvPr>
          <p:cNvSpPr txBox="1"/>
          <p:nvPr/>
        </p:nvSpPr>
        <p:spPr>
          <a:xfrm>
            <a:off x="5960070" y="2932723"/>
            <a:ext cx="2865336" cy="369332"/>
          </a:xfrm>
          <a:prstGeom prst="rect">
            <a:avLst/>
          </a:prstGeom>
          <a:noFill/>
        </p:spPr>
        <p:txBody>
          <a:bodyPr wrap="none" rtlCol="0">
            <a:spAutoFit/>
          </a:bodyPr>
          <a:lstStyle/>
          <a:p>
            <a:r>
              <a:rPr kumimoji="1" lang="zh-CN" altLang="en-US" b="1" dirty="0">
                <a:solidFill>
                  <a:srgbClr val="C00000"/>
                </a:solidFill>
                <a:latin typeface="Microsoft YaHei" panose="020B0503020204020204" pitchFamily="34" charset="-122"/>
                <a:ea typeface="Microsoft YaHei" panose="020B0503020204020204" pitchFamily="34" charset="-122"/>
              </a:rPr>
              <a:t>安装完成</a:t>
            </a:r>
            <a:r>
              <a:rPr kumimoji="1" lang="en-US" altLang="zh-CN" b="1" dirty="0">
                <a:solidFill>
                  <a:srgbClr val="C00000"/>
                </a:solidFill>
                <a:latin typeface="Microsoft YaHei" panose="020B0503020204020204" pitchFamily="34" charset="-122"/>
                <a:ea typeface="Microsoft YaHei" panose="020B0503020204020204" pitchFamily="34" charset="-122"/>
              </a:rPr>
              <a:t>python</a:t>
            </a:r>
            <a:r>
              <a:rPr kumimoji="1" lang="zh-CN" altLang="en-US" b="1" dirty="0">
                <a:solidFill>
                  <a:srgbClr val="C00000"/>
                </a:solidFill>
                <a:latin typeface="Microsoft YaHei" panose="020B0503020204020204" pitchFamily="34" charset="-122"/>
                <a:ea typeface="Microsoft YaHei" panose="020B0503020204020204" pitchFamily="34" charset="-122"/>
              </a:rPr>
              <a:t>官网的包</a:t>
            </a:r>
          </a:p>
        </p:txBody>
      </p:sp>
      <p:pic>
        <p:nvPicPr>
          <p:cNvPr id="10" name="图片 15">
            <a:extLst>
              <a:ext uri="{FF2B5EF4-FFF2-40B4-BE49-F238E27FC236}">
                <a16:creationId xmlns:a16="http://schemas.microsoft.com/office/drawing/2014/main" id="{DC598D6D-9858-A5E6-4403-DAFBB3F45145}"/>
              </a:ext>
            </a:extLst>
          </p:cNvPr>
          <p:cNvPicPr>
            <a:picLocks noChangeAspect="1"/>
          </p:cNvPicPr>
          <p:nvPr/>
        </p:nvPicPr>
        <p:blipFill>
          <a:blip r:embed="rId3"/>
          <a:stretch>
            <a:fillRect/>
          </a:stretch>
        </p:blipFill>
        <p:spPr>
          <a:xfrm>
            <a:off x="201298" y="3774822"/>
            <a:ext cx="4207546" cy="940928"/>
          </a:xfrm>
          <a:prstGeom prst="rect">
            <a:avLst/>
          </a:prstGeom>
        </p:spPr>
      </p:pic>
      <p:pic>
        <p:nvPicPr>
          <p:cNvPr id="11" name="图片 12">
            <a:extLst>
              <a:ext uri="{FF2B5EF4-FFF2-40B4-BE49-F238E27FC236}">
                <a16:creationId xmlns:a16="http://schemas.microsoft.com/office/drawing/2014/main" id="{55B7DCE3-CE67-9EE3-5C84-C5A4703325D5}"/>
              </a:ext>
            </a:extLst>
          </p:cNvPr>
          <p:cNvPicPr>
            <a:picLocks noChangeAspect="1"/>
          </p:cNvPicPr>
          <p:nvPr/>
        </p:nvPicPr>
        <p:blipFill>
          <a:blip r:embed="rId4"/>
          <a:srcRect r="37642"/>
          <a:stretch/>
        </p:blipFill>
        <p:spPr>
          <a:xfrm>
            <a:off x="179352" y="1369488"/>
            <a:ext cx="5044575" cy="1711276"/>
          </a:xfrm>
          <a:prstGeom prst="rect">
            <a:avLst/>
          </a:prstGeom>
        </p:spPr>
      </p:pic>
      <p:sp>
        <p:nvSpPr>
          <p:cNvPr id="12" name="矩形 21">
            <a:extLst>
              <a:ext uri="{FF2B5EF4-FFF2-40B4-BE49-F238E27FC236}">
                <a16:creationId xmlns:a16="http://schemas.microsoft.com/office/drawing/2014/main" id="{695948D6-CF9B-4A84-0777-EF77F19A0C2C}"/>
              </a:ext>
            </a:extLst>
          </p:cNvPr>
          <p:cNvSpPr/>
          <p:nvPr/>
        </p:nvSpPr>
        <p:spPr>
          <a:xfrm>
            <a:off x="6848396" y="1914769"/>
            <a:ext cx="279235" cy="132862"/>
          </a:xfrm>
          <a:prstGeom prst="rect">
            <a:avLst/>
          </a:prstGeom>
          <a:noFill/>
          <a:ln w="127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3" name="直线箭头连接符 25">
            <a:extLst>
              <a:ext uri="{FF2B5EF4-FFF2-40B4-BE49-F238E27FC236}">
                <a16:creationId xmlns:a16="http://schemas.microsoft.com/office/drawing/2014/main" id="{B6141D77-8B40-D8BE-CE9E-60C0C94209CF}"/>
              </a:ext>
            </a:extLst>
          </p:cNvPr>
          <p:cNvCxnSpPr/>
          <p:nvPr/>
        </p:nvCxnSpPr>
        <p:spPr>
          <a:xfrm flipH="1" flipV="1">
            <a:off x="7127631" y="2047631"/>
            <a:ext cx="265107" cy="530031"/>
          </a:xfrm>
          <a:prstGeom prst="straightConnector1">
            <a:avLst/>
          </a:prstGeom>
          <a:ln w="19050">
            <a:solidFill>
              <a:srgbClr val="C00000"/>
            </a:solidFill>
            <a:tailEnd type="stealth"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2622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a:t>
            </a:r>
            <a:r>
              <a:rPr lang="zh-CN" altLang="en-US" dirty="0"/>
              <a:t> </a:t>
            </a:r>
            <a:r>
              <a:rPr lang="en-US" altLang="zh-CN" dirty="0"/>
              <a:t>Python</a:t>
            </a:r>
            <a:r>
              <a:rPr lang="zh-CN" altLang="en-US" dirty="0"/>
              <a:t>基础语法</a:t>
            </a:r>
          </a:p>
        </p:txBody>
      </p:sp>
      <p:sp>
        <p:nvSpPr>
          <p:cNvPr id="3" name="内容占位符 2">
            <a:extLst>
              <a:ext uri="{FF2B5EF4-FFF2-40B4-BE49-F238E27FC236}">
                <a16:creationId xmlns:a16="http://schemas.microsoft.com/office/drawing/2014/main" id="{DA0CE8FA-0B12-3AE4-5554-FA549620BBFA}"/>
              </a:ext>
            </a:extLst>
          </p:cNvPr>
          <p:cNvSpPr txBox="1">
            <a:spLocks/>
          </p:cNvSpPr>
          <p:nvPr/>
        </p:nvSpPr>
        <p:spPr>
          <a:xfrm>
            <a:off x="271824" y="843669"/>
            <a:ext cx="11648352" cy="4892229"/>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buFont typeface="Wingdings" pitchFamily="2" charset="2"/>
              <a:buChar char="n"/>
              <a:defRPr sz="2800" b="0" i="0" kern="1200">
                <a:solidFill>
                  <a:schemeClr val="tx1"/>
                </a:solidFill>
                <a:latin typeface="Lantinghei SC Extralight" panose="02000000000000000000" pitchFamily="2" charset="-122"/>
                <a:ea typeface="Lantinghei SC Extralight" panose="02000000000000000000" pitchFamily="2" charset="-122"/>
                <a:cs typeface="+mn-cs"/>
              </a:defRPr>
            </a:lvl1pPr>
            <a:lvl2pPr marL="685800" indent="-228600" algn="l" defTabSz="914400" rtl="0" eaLnBrk="1" latinLnBrk="0" hangingPunct="1">
              <a:lnSpc>
                <a:spcPct val="100000"/>
              </a:lnSpc>
              <a:spcBef>
                <a:spcPts val="500"/>
              </a:spcBef>
              <a:buFont typeface="Wingdings" pitchFamily="2" charset="2"/>
              <a:buChar char="n"/>
              <a:defRPr sz="2400" b="0" i="0" kern="1200">
                <a:solidFill>
                  <a:schemeClr val="tx1"/>
                </a:solidFill>
                <a:latin typeface="Lantinghei SC Extralight" panose="02000000000000000000" pitchFamily="2" charset="-122"/>
                <a:ea typeface="Lantinghei SC Extralight" panose="02000000000000000000" pitchFamily="2" charset="-122"/>
                <a:cs typeface="+mn-cs"/>
              </a:defRPr>
            </a:lvl2pPr>
            <a:lvl3pPr marL="1143000" indent="-228600" algn="l" defTabSz="914400" rtl="0" eaLnBrk="1" latinLnBrk="0" hangingPunct="1">
              <a:lnSpc>
                <a:spcPct val="100000"/>
              </a:lnSpc>
              <a:spcBef>
                <a:spcPts val="500"/>
              </a:spcBef>
              <a:buFont typeface="Wingdings" pitchFamily="2" charset="2"/>
              <a:buChar char="n"/>
              <a:defRPr sz="2000" kern="1200">
                <a:solidFill>
                  <a:schemeClr val="tx1"/>
                </a:solidFill>
                <a:latin typeface="KaiTi" panose="02010609060101010101" pitchFamily="49" charset="-122"/>
                <a:ea typeface="KaiTi" panose="02010609060101010101" pitchFamily="49" charset="-122"/>
                <a:cs typeface="+mn-cs"/>
              </a:defRPr>
            </a:lvl3pPr>
            <a:lvl4pPr marL="1600200" indent="-228600" algn="l" defTabSz="914400" rtl="0" eaLnBrk="1" latinLnBrk="0" hangingPunct="1">
              <a:lnSpc>
                <a:spcPct val="100000"/>
              </a:lnSpc>
              <a:spcBef>
                <a:spcPts val="500"/>
              </a:spcBef>
              <a:buFont typeface="Wingdings" pitchFamily="2" charset="2"/>
              <a:buChar char="n"/>
              <a:defRPr sz="1800" kern="1200">
                <a:solidFill>
                  <a:schemeClr val="tx1"/>
                </a:solidFill>
                <a:latin typeface="KaiTi" panose="02010609060101010101" pitchFamily="49" charset="-122"/>
                <a:ea typeface="KaiTi" panose="02010609060101010101" pitchFamily="49" charset="-122"/>
                <a:cs typeface="+mn-cs"/>
              </a:defRPr>
            </a:lvl4pPr>
            <a:lvl5pPr marL="2057400" indent="-228600" algn="l" defTabSz="914400" rtl="0" eaLnBrk="1" latinLnBrk="0" hangingPunct="1">
              <a:lnSpc>
                <a:spcPct val="100000"/>
              </a:lnSpc>
              <a:spcBef>
                <a:spcPts val="500"/>
              </a:spcBef>
              <a:buFont typeface="Wingdings" pitchFamily="2" charset="2"/>
              <a:buChar char="n"/>
              <a:defRPr sz="1800" kern="1200">
                <a:solidFill>
                  <a:schemeClr val="tx1"/>
                </a:solidFill>
                <a:latin typeface="KaiTi" panose="02010609060101010101" pitchFamily="49" charset="-122"/>
                <a:ea typeface="KaiTi"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p"/>
            </a:pPr>
            <a:r>
              <a:rPr lang="zh-CN" altLang="en-US" dirty="0">
                <a:latin typeface="Microsoft YaHei" panose="020B0503020204020204" pitchFamily="34" charset="-122"/>
                <a:ea typeface="Microsoft YaHei" panose="020B0503020204020204" pitchFamily="34" charset="-122"/>
              </a:rPr>
              <a:t>菜鸟教程：</a:t>
            </a:r>
            <a:r>
              <a:rPr lang="en-US" altLang="zh-CN" sz="2400" dirty="0">
                <a:latin typeface="Microsoft YaHei" panose="020B0503020204020204" pitchFamily="34" charset="-122"/>
                <a:ea typeface="Microsoft YaHei" panose="020B0503020204020204" pitchFamily="34" charset="-122"/>
              </a:rPr>
              <a:t>https://</a:t>
            </a:r>
            <a:r>
              <a:rPr lang="en-US" altLang="zh-CN" sz="2400" dirty="0" err="1">
                <a:latin typeface="Microsoft YaHei" panose="020B0503020204020204" pitchFamily="34" charset="-122"/>
                <a:ea typeface="Microsoft YaHei" panose="020B0503020204020204" pitchFamily="34" charset="-122"/>
              </a:rPr>
              <a:t>www.runoob.com</a:t>
            </a:r>
            <a:r>
              <a:rPr lang="en-US" altLang="zh-CN" sz="2400" dirty="0">
                <a:latin typeface="Microsoft YaHei" panose="020B0503020204020204" pitchFamily="34" charset="-122"/>
                <a:ea typeface="Microsoft YaHei" panose="020B0503020204020204" pitchFamily="34" charset="-122"/>
              </a:rPr>
              <a:t>/python/python-basic-</a:t>
            </a:r>
            <a:r>
              <a:rPr lang="en-US" altLang="zh-CN" sz="2400" dirty="0" err="1">
                <a:latin typeface="Microsoft YaHei" panose="020B0503020204020204" pitchFamily="34" charset="-122"/>
                <a:ea typeface="Microsoft YaHei" panose="020B0503020204020204" pitchFamily="34" charset="-122"/>
              </a:rPr>
              <a:t>syntax.html</a:t>
            </a:r>
            <a:endParaRPr lang="en-US" altLang="zh-CN" sz="2800" dirty="0">
              <a:latin typeface="Microsoft YaHei" panose="020B0503020204020204" pitchFamily="34" charset="-122"/>
              <a:ea typeface="Microsoft YaHei" panose="020B0503020204020204" pitchFamily="34" charset="-122"/>
            </a:endParaRPr>
          </a:p>
          <a:p>
            <a:pPr>
              <a:buFont typeface="Wingdings" pitchFamily="2" charset="2"/>
              <a:buChar char="p"/>
            </a:pPr>
            <a:r>
              <a:rPr lang="zh-CN" altLang="en-US" dirty="0">
                <a:latin typeface="Microsoft YaHei" panose="020B0503020204020204" pitchFamily="34" charset="-122"/>
                <a:ea typeface="Microsoft YaHei" panose="020B0503020204020204" pitchFamily="34" charset="-122"/>
              </a:rPr>
              <a:t>基础语法</a:t>
            </a:r>
            <a:endParaRPr lang="en-US" altLang="zh-CN" dirty="0">
              <a:latin typeface="Microsoft YaHei" panose="020B0503020204020204" pitchFamily="34" charset="-122"/>
              <a:ea typeface="Microsoft YaHei" panose="020B0503020204020204" pitchFamily="34" charset="-122"/>
            </a:endParaRPr>
          </a:p>
          <a:p>
            <a:pPr lvl="1">
              <a:buFont typeface="Wingdings" pitchFamily="2" charset="2"/>
              <a:buChar char="p"/>
            </a:pPr>
            <a:r>
              <a:rPr lang="en-US" altLang="zh-CN" dirty="0">
                <a:latin typeface="Microsoft YaHei" panose="020B0503020204020204" pitchFamily="34" charset="-122"/>
                <a:ea typeface="Microsoft YaHei" panose="020B0503020204020204" pitchFamily="34" charset="-122"/>
              </a:rPr>
              <a:t>python</a:t>
            </a:r>
            <a:r>
              <a:rPr lang="zh-CN" altLang="en-US" dirty="0">
                <a:latin typeface="Microsoft YaHei" panose="020B0503020204020204" pitchFamily="34" charset="-122"/>
                <a:ea typeface="Microsoft YaHei" panose="020B0503020204020204" pitchFamily="34" charset="-122"/>
              </a:rPr>
              <a:t>变量</a:t>
            </a:r>
            <a:endParaRPr lang="en-US" altLang="zh-CN" dirty="0">
              <a:latin typeface="Microsoft YaHei" panose="020B0503020204020204" pitchFamily="34" charset="-122"/>
              <a:ea typeface="Microsoft YaHei" panose="020B0503020204020204" pitchFamily="34" charset="-122"/>
            </a:endParaRPr>
          </a:p>
          <a:p>
            <a:pPr lvl="1">
              <a:buFont typeface="Wingdings" pitchFamily="2" charset="2"/>
              <a:buChar char="p"/>
            </a:pPr>
            <a:r>
              <a:rPr lang="en-US" altLang="zh-CN" dirty="0">
                <a:latin typeface="Microsoft YaHei" panose="020B0503020204020204" pitchFamily="34" charset="-122"/>
                <a:ea typeface="Microsoft YaHei" panose="020B0503020204020204" pitchFamily="34" charset="-122"/>
              </a:rPr>
              <a:t>python</a:t>
            </a:r>
            <a:r>
              <a:rPr lang="zh-CN" altLang="en-US" dirty="0">
                <a:latin typeface="Microsoft YaHei" panose="020B0503020204020204" pitchFamily="34" charset="-122"/>
                <a:ea typeface="Microsoft YaHei" panose="020B0503020204020204" pitchFamily="34" charset="-122"/>
              </a:rPr>
              <a:t>运算符</a:t>
            </a:r>
            <a:endParaRPr lang="en-US" altLang="zh-CN" dirty="0">
              <a:latin typeface="Microsoft YaHei" panose="020B0503020204020204" pitchFamily="34" charset="-122"/>
              <a:ea typeface="Microsoft YaHei" panose="020B0503020204020204" pitchFamily="34" charset="-122"/>
            </a:endParaRPr>
          </a:p>
          <a:p>
            <a:pPr lvl="1">
              <a:buFont typeface="Wingdings" pitchFamily="2" charset="2"/>
              <a:buChar char="p"/>
            </a:pPr>
            <a:r>
              <a:rPr lang="en-US" altLang="zh-CN" dirty="0">
                <a:latin typeface="Microsoft YaHei" panose="020B0503020204020204" pitchFamily="34" charset="-122"/>
                <a:ea typeface="Microsoft YaHei" panose="020B0503020204020204" pitchFamily="34" charset="-122"/>
              </a:rPr>
              <a:t>python</a:t>
            </a:r>
            <a:r>
              <a:rPr lang="zh-CN" altLang="en-US" dirty="0">
                <a:latin typeface="Microsoft YaHei" panose="020B0503020204020204" pitchFamily="34" charset="-122"/>
                <a:ea typeface="Microsoft YaHei" panose="020B0503020204020204" pitchFamily="34" charset="-122"/>
              </a:rPr>
              <a:t>语句：条件语句、循环语句（</a:t>
            </a:r>
            <a:r>
              <a:rPr lang="en-US" altLang="zh-CN" dirty="0">
                <a:latin typeface="Microsoft YaHei" panose="020B0503020204020204" pitchFamily="34" charset="-122"/>
                <a:ea typeface="Microsoft YaHei" panose="020B0503020204020204" pitchFamily="34" charset="-122"/>
              </a:rPr>
              <a:t>While</a:t>
            </a:r>
            <a:r>
              <a:rPr lang="zh-CN" altLang="en-US" dirty="0">
                <a:latin typeface="Microsoft YaHei" panose="020B0503020204020204" pitchFamily="34" charset="-122"/>
                <a:ea typeface="Microsoft YaHei" panose="020B0503020204020204" pitchFamily="34" charset="-122"/>
              </a:rPr>
              <a:t>、</a:t>
            </a:r>
            <a:r>
              <a:rPr lang="en-US" altLang="zh-CN" dirty="0">
                <a:latin typeface="Microsoft YaHei" panose="020B0503020204020204" pitchFamily="34" charset="-122"/>
                <a:ea typeface="Microsoft YaHei" panose="020B0503020204020204" pitchFamily="34" charset="-122"/>
              </a:rPr>
              <a:t>for</a:t>
            </a:r>
            <a:r>
              <a:rPr lang="zh-CN" altLang="en-US" dirty="0">
                <a:latin typeface="Microsoft YaHei" panose="020B0503020204020204" pitchFamily="34" charset="-122"/>
                <a:ea typeface="Microsoft YaHei" panose="020B0503020204020204" pitchFamily="34" charset="-122"/>
              </a:rPr>
              <a:t>）、</a:t>
            </a:r>
            <a:r>
              <a:rPr lang="en-US" altLang="zh-CN" dirty="0">
                <a:latin typeface="Microsoft YaHei" panose="020B0503020204020204" pitchFamily="34" charset="-122"/>
                <a:ea typeface="Microsoft YaHei" panose="020B0503020204020204" pitchFamily="34" charset="-122"/>
              </a:rPr>
              <a:t>break</a:t>
            </a:r>
            <a:r>
              <a:rPr lang="zh-CN" altLang="en-US" dirty="0">
                <a:latin typeface="Microsoft YaHei" panose="020B0503020204020204" pitchFamily="34" charset="-122"/>
                <a:ea typeface="Microsoft YaHei" panose="020B0503020204020204" pitchFamily="34" charset="-122"/>
              </a:rPr>
              <a:t>、</a:t>
            </a:r>
            <a:r>
              <a:rPr lang="en-US" altLang="zh-CN" dirty="0">
                <a:latin typeface="Microsoft YaHei" panose="020B0503020204020204" pitchFamily="34" charset="-122"/>
                <a:ea typeface="Microsoft YaHei" panose="020B0503020204020204" pitchFamily="34" charset="-122"/>
              </a:rPr>
              <a:t>continue</a:t>
            </a:r>
            <a:r>
              <a:rPr lang="zh-CN" altLang="en-US" dirty="0">
                <a:latin typeface="Microsoft YaHei" panose="020B0503020204020204" pitchFamily="34" charset="-122"/>
                <a:ea typeface="Microsoft YaHei" panose="020B0503020204020204" pitchFamily="34" charset="-122"/>
              </a:rPr>
              <a:t>语句</a:t>
            </a:r>
            <a:endParaRPr lang="en-US" altLang="zh-CN" dirty="0">
              <a:latin typeface="Microsoft YaHei" panose="020B0503020204020204" pitchFamily="34" charset="-122"/>
              <a:ea typeface="Microsoft YaHei" panose="020B0503020204020204" pitchFamily="34" charset="-122"/>
            </a:endParaRPr>
          </a:p>
          <a:p>
            <a:pPr lvl="1">
              <a:buFont typeface="Wingdings" pitchFamily="2" charset="2"/>
              <a:buChar char="p"/>
            </a:pPr>
            <a:r>
              <a:rPr lang="en-US" altLang="zh-CN" dirty="0">
                <a:latin typeface="Microsoft YaHei" panose="020B0503020204020204" pitchFamily="34" charset="-122"/>
                <a:ea typeface="Microsoft YaHei" panose="020B0503020204020204" pitchFamily="34" charset="-122"/>
              </a:rPr>
              <a:t>python</a:t>
            </a:r>
            <a:r>
              <a:rPr lang="zh-CN" altLang="en-US" dirty="0">
                <a:latin typeface="Microsoft YaHei" panose="020B0503020204020204" pitchFamily="34" charset="-122"/>
                <a:ea typeface="Microsoft YaHei" panose="020B0503020204020204" pitchFamily="34" charset="-122"/>
              </a:rPr>
              <a:t>列表（数组）</a:t>
            </a:r>
            <a:endParaRPr lang="en-US" altLang="zh-CN" dirty="0">
              <a:latin typeface="Microsoft YaHei" panose="020B0503020204020204" pitchFamily="34" charset="-122"/>
              <a:ea typeface="Microsoft YaHei" panose="020B0503020204020204" pitchFamily="34" charset="-122"/>
            </a:endParaRPr>
          </a:p>
          <a:p>
            <a:pPr lvl="1">
              <a:buFont typeface="Wingdings" pitchFamily="2" charset="2"/>
              <a:buChar char="p"/>
            </a:pPr>
            <a:r>
              <a:rPr lang="en-US" altLang="zh-CN" dirty="0">
                <a:latin typeface="Microsoft YaHei" panose="020B0503020204020204" pitchFamily="34" charset="-122"/>
                <a:ea typeface="Microsoft YaHei" panose="020B0503020204020204" pitchFamily="34" charset="-122"/>
              </a:rPr>
              <a:t>python</a:t>
            </a:r>
            <a:r>
              <a:rPr lang="zh-CN" altLang="en-US" dirty="0">
                <a:latin typeface="Microsoft YaHei" panose="020B0503020204020204" pitchFamily="34" charset="-122"/>
                <a:ea typeface="Microsoft YaHei" panose="020B0503020204020204" pitchFamily="34" charset="-122"/>
              </a:rPr>
              <a:t>字符串</a:t>
            </a:r>
            <a:endParaRPr lang="en-US" altLang="zh-CN" dirty="0">
              <a:latin typeface="Microsoft YaHei" panose="020B0503020204020204" pitchFamily="34" charset="-122"/>
              <a:ea typeface="Microsoft YaHei" panose="020B0503020204020204" pitchFamily="34" charset="-122"/>
            </a:endParaRPr>
          </a:p>
          <a:p>
            <a:pPr lvl="1">
              <a:buFont typeface="Wingdings" pitchFamily="2" charset="2"/>
              <a:buChar char="p"/>
            </a:pPr>
            <a:r>
              <a:rPr lang="en-US" altLang="zh-CN" dirty="0">
                <a:latin typeface="Microsoft YaHei" panose="020B0503020204020204" pitchFamily="34" charset="-122"/>
                <a:ea typeface="Microsoft YaHei" panose="020B0503020204020204" pitchFamily="34" charset="-122"/>
              </a:rPr>
              <a:t>python</a:t>
            </a:r>
            <a:r>
              <a:rPr lang="zh-CN" altLang="en-US" dirty="0">
                <a:latin typeface="Microsoft YaHei" panose="020B0503020204020204" pitchFamily="34" charset="-122"/>
                <a:ea typeface="Microsoft YaHei" panose="020B0503020204020204" pitchFamily="34" charset="-122"/>
              </a:rPr>
              <a:t>函数</a:t>
            </a:r>
            <a:endParaRPr lang="en-US" altLang="zh-CN" dirty="0">
              <a:latin typeface="Microsoft YaHei" panose="020B0503020204020204" pitchFamily="34" charset="-122"/>
              <a:ea typeface="Microsoft YaHei" panose="020B0503020204020204" pitchFamily="34" charset="-122"/>
            </a:endParaRPr>
          </a:p>
          <a:p>
            <a:pPr>
              <a:buFont typeface="Wingdings" pitchFamily="2" charset="2"/>
              <a:buChar char="p"/>
            </a:pPr>
            <a:r>
              <a:rPr lang="zh-CN" altLang="en-US" dirty="0">
                <a:latin typeface="Microsoft YaHei" panose="020B0503020204020204" pitchFamily="34" charset="-122"/>
                <a:ea typeface="Microsoft YaHei" panose="020B0503020204020204" pitchFamily="34" charset="-122"/>
              </a:rPr>
              <a:t>高级编程</a:t>
            </a:r>
            <a:endParaRPr lang="en-US" altLang="zh-CN" dirty="0">
              <a:latin typeface="Microsoft YaHei" panose="020B0503020204020204" pitchFamily="34" charset="-122"/>
              <a:ea typeface="Microsoft YaHei" panose="020B0503020204020204" pitchFamily="34" charset="-122"/>
            </a:endParaRPr>
          </a:p>
          <a:p>
            <a:pPr lvl="1">
              <a:buFont typeface="Wingdings" pitchFamily="2" charset="2"/>
              <a:buChar char="p"/>
            </a:pPr>
            <a:r>
              <a:rPr lang="zh-CN" altLang="en-US" dirty="0">
                <a:latin typeface="Microsoft YaHei" panose="020B0503020204020204" pitchFamily="34" charset="-122"/>
                <a:ea typeface="Microsoft YaHei" panose="020B0503020204020204" pitchFamily="34" charset="-122"/>
              </a:rPr>
              <a:t>面向对象</a:t>
            </a:r>
            <a:endParaRPr lang="en-US" altLang="zh-CN" dirty="0">
              <a:latin typeface="Microsoft YaHei" panose="020B0503020204020204" pitchFamily="34" charset="-122"/>
              <a:ea typeface="Microsoft YaHei" panose="020B0503020204020204" pitchFamily="34" charset="-122"/>
            </a:endParaRPr>
          </a:p>
          <a:p>
            <a:pPr lvl="1">
              <a:buFont typeface="Wingdings" pitchFamily="2" charset="2"/>
              <a:buChar char="p"/>
            </a:pPr>
            <a:r>
              <a:rPr lang="zh-CN" altLang="en-US" dirty="0">
                <a:latin typeface="Microsoft YaHei" panose="020B0503020204020204" pitchFamily="34" charset="-122"/>
                <a:ea typeface="Microsoft YaHei" panose="020B0503020204020204" pitchFamily="34" charset="-122"/>
              </a:rPr>
              <a:t>正则表达式</a:t>
            </a:r>
            <a:endParaRPr lang="en-US" altLang="zh-CN" dirty="0">
              <a:latin typeface="Microsoft YaHei" panose="020B0503020204020204" pitchFamily="34" charset="-122"/>
              <a:ea typeface="Microsoft YaHei" panose="020B0503020204020204" pitchFamily="34" charset="-122"/>
            </a:endParaRPr>
          </a:p>
          <a:p>
            <a:pPr lvl="1">
              <a:buFont typeface="Wingdings" pitchFamily="2" charset="2"/>
              <a:buChar char="p"/>
            </a:pPr>
            <a:r>
              <a:rPr lang="en-US" altLang="zh-CN" dirty="0">
                <a:latin typeface="Microsoft YaHei" panose="020B0503020204020204" pitchFamily="34" charset="-122"/>
                <a:ea typeface="Microsoft YaHei" panose="020B0503020204020204" pitchFamily="34" charset="-122"/>
              </a:rPr>
              <a:t>...</a:t>
            </a:r>
          </a:p>
        </p:txBody>
      </p:sp>
    </p:spTree>
    <p:extLst>
      <p:ext uri="{BB962C8B-B14F-4D97-AF65-F5344CB8AC3E}">
        <p14:creationId xmlns:p14="http://schemas.microsoft.com/office/powerpoint/2010/main" val="3022167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a:t>
            </a:r>
            <a:r>
              <a:rPr lang="zh-CN" altLang="en-US" dirty="0"/>
              <a:t> </a:t>
            </a:r>
            <a:r>
              <a:rPr lang="en-US" altLang="zh-CN" dirty="0"/>
              <a:t>Python</a:t>
            </a:r>
            <a:r>
              <a:rPr lang="zh-CN" altLang="en-US" dirty="0"/>
              <a:t>函数</a:t>
            </a:r>
            <a:br>
              <a:rPr lang="en-US" altLang="zh-CN" dirty="0"/>
            </a:br>
            <a:endParaRPr lang="zh-CN" altLang="en-US" dirty="0"/>
          </a:p>
        </p:txBody>
      </p:sp>
      <p:sp>
        <p:nvSpPr>
          <p:cNvPr id="3" name="内容占位符 2">
            <a:extLst>
              <a:ext uri="{FF2B5EF4-FFF2-40B4-BE49-F238E27FC236}">
                <a16:creationId xmlns:a16="http://schemas.microsoft.com/office/drawing/2014/main" id="{51D96083-5B46-4CE4-C9AC-9B949DC9F062}"/>
              </a:ext>
            </a:extLst>
          </p:cNvPr>
          <p:cNvSpPr>
            <a:spLocks noGrp="1"/>
          </p:cNvSpPr>
          <p:nvPr>
            <p:ph idx="1"/>
          </p:nvPr>
        </p:nvSpPr>
        <p:spPr>
          <a:xfrm>
            <a:off x="360000" y="1008000"/>
            <a:ext cx="11648352" cy="2852056"/>
          </a:xfrm>
        </p:spPr>
        <p:txBody>
          <a:bodyPr/>
          <a:lstStyle/>
          <a:p>
            <a:pPr>
              <a:buFont typeface="Wingdings" pitchFamily="2" charset="2"/>
              <a:buChar char="p"/>
            </a:pPr>
            <a:r>
              <a:rPr lang="zh-CN" altLang="en-US" b="0" i="0" dirty="0">
                <a:solidFill>
                  <a:srgbClr val="333333"/>
                </a:solidFill>
                <a:effectLst/>
                <a:latin typeface="Microsoft YaHei" panose="020B0503020204020204" pitchFamily="34" charset="-122"/>
                <a:ea typeface="Microsoft YaHei" panose="020B0503020204020204" pitchFamily="34" charset="-122"/>
              </a:rPr>
              <a:t>组织好的，可重复使用的，用来实现单一，或相关联功能的代码段</a:t>
            </a:r>
            <a:endParaRPr lang="en-US" altLang="zh-CN" b="0" i="0" dirty="0">
              <a:solidFill>
                <a:srgbClr val="333333"/>
              </a:solidFill>
              <a:effectLst/>
              <a:latin typeface="Microsoft YaHei" panose="020B0503020204020204" pitchFamily="34" charset="-122"/>
              <a:ea typeface="Microsoft YaHei" panose="020B0503020204020204" pitchFamily="34" charset="-122"/>
            </a:endParaRPr>
          </a:p>
          <a:p>
            <a:pPr>
              <a:buFont typeface="Wingdings" pitchFamily="2" charset="2"/>
              <a:buChar char="p"/>
            </a:pPr>
            <a:r>
              <a:rPr lang="zh-CN" altLang="en-US" b="0" i="0" dirty="0">
                <a:solidFill>
                  <a:srgbClr val="333333"/>
                </a:solidFill>
                <a:effectLst/>
                <a:latin typeface="Microsoft YaHei" panose="020B0503020204020204" pitchFamily="34" charset="-122"/>
                <a:ea typeface="Microsoft YaHei" panose="020B0503020204020204" pitchFamily="34" charset="-122"/>
              </a:rPr>
              <a:t>函数代码块以 </a:t>
            </a:r>
            <a:r>
              <a:rPr lang="en" altLang="zh-CN" b="1" i="0" dirty="0">
                <a:solidFill>
                  <a:srgbClr val="333333"/>
                </a:solidFill>
                <a:effectLst/>
                <a:latin typeface="Microsoft YaHei" panose="020B0503020204020204" pitchFamily="34" charset="-122"/>
                <a:ea typeface="Microsoft YaHei" panose="020B0503020204020204" pitchFamily="34" charset="-122"/>
              </a:rPr>
              <a:t>def</a:t>
            </a:r>
            <a:r>
              <a:rPr lang="en" altLang="zh-CN" b="0" i="0" dirty="0">
                <a:solidFill>
                  <a:srgbClr val="333333"/>
                </a:solidFill>
                <a:effectLst/>
                <a:latin typeface="Microsoft YaHei" panose="020B0503020204020204" pitchFamily="34" charset="-122"/>
                <a:ea typeface="Microsoft YaHei" panose="020B0503020204020204" pitchFamily="34" charset="-122"/>
              </a:rPr>
              <a:t> </a:t>
            </a:r>
            <a:r>
              <a:rPr lang="zh-CN" altLang="en-US" b="0" i="0" dirty="0">
                <a:solidFill>
                  <a:srgbClr val="333333"/>
                </a:solidFill>
                <a:effectLst/>
                <a:latin typeface="Microsoft YaHei" panose="020B0503020204020204" pitchFamily="34" charset="-122"/>
                <a:ea typeface="Microsoft YaHei" panose="020B0503020204020204" pitchFamily="34" charset="-122"/>
              </a:rPr>
              <a:t>关键词开头，后接函数标识符名称和圆括号</a:t>
            </a:r>
            <a:r>
              <a:rPr lang="en-US" altLang="zh-CN" b="1" i="0" dirty="0">
                <a:solidFill>
                  <a:srgbClr val="333333"/>
                </a:solidFill>
                <a:effectLst/>
                <a:latin typeface="Microsoft YaHei" panose="020B0503020204020204" pitchFamily="34" charset="-122"/>
                <a:ea typeface="Microsoft YaHei" panose="020B0503020204020204" pitchFamily="34" charset="-122"/>
              </a:rPr>
              <a:t>(</a:t>
            </a:r>
            <a:r>
              <a:rPr lang="zh-CN" altLang="en-US" b="1" i="0" dirty="0">
                <a:solidFill>
                  <a:srgbClr val="333333"/>
                </a:solidFill>
                <a:effectLst/>
                <a:latin typeface="Microsoft YaHei" panose="020B0503020204020204" pitchFamily="34" charset="-122"/>
                <a:ea typeface="Microsoft YaHei" panose="020B0503020204020204" pitchFamily="34" charset="-122"/>
              </a:rPr>
              <a:t>  </a:t>
            </a:r>
            <a:r>
              <a:rPr lang="en-US" altLang="zh-CN" b="1" i="0" dirty="0">
                <a:solidFill>
                  <a:srgbClr val="333333"/>
                </a:solidFill>
                <a:effectLst/>
                <a:latin typeface="Microsoft YaHei" panose="020B0503020204020204" pitchFamily="34" charset="-122"/>
                <a:ea typeface="Microsoft YaHei" panose="020B0503020204020204" pitchFamily="34" charset="-122"/>
              </a:rPr>
              <a:t>)</a:t>
            </a:r>
            <a:r>
              <a:rPr lang="zh-CN" altLang="en-US" b="0" i="0" dirty="0">
                <a:solidFill>
                  <a:srgbClr val="333333"/>
                </a:solidFill>
                <a:effectLst/>
                <a:latin typeface="Microsoft YaHei" panose="020B0503020204020204" pitchFamily="34" charset="-122"/>
                <a:ea typeface="Microsoft YaHei" panose="020B0503020204020204" pitchFamily="34" charset="-122"/>
              </a:rPr>
              <a:t>。</a:t>
            </a:r>
          </a:p>
          <a:p>
            <a:pPr>
              <a:buFont typeface="Wingdings" pitchFamily="2" charset="2"/>
              <a:buChar char="p"/>
            </a:pPr>
            <a:endParaRPr lang="en-US" altLang="zh-CN" dirty="0"/>
          </a:p>
        </p:txBody>
      </p:sp>
      <p:sp>
        <p:nvSpPr>
          <p:cNvPr id="4" name="文本框 5">
            <a:extLst>
              <a:ext uri="{FF2B5EF4-FFF2-40B4-BE49-F238E27FC236}">
                <a16:creationId xmlns:a16="http://schemas.microsoft.com/office/drawing/2014/main" id="{DBE41DEA-34D7-F8E8-08F0-0992C34C833B}"/>
              </a:ext>
            </a:extLst>
          </p:cNvPr>
          <p:cNvSpPr txBox="1"/>
          <p:nvPr/>
        </p:nvSpPr>
        <p:spPr>
          <a:xfrm>
            <a:off x="3951901" y="2191158"/>
            <a:ext cx="6098344" cy="1569660"/>
          </a:xfrm>
          <a:prstGeom prst="rect">
            <a:avLst/>
          </a:prstGeom>
          <a:noFill/>
        </p:spPr>
        <p:txBody>
          <a:bodyPr wrap="square">
            <a:spAutoFit/>
          </a:bodyPr>
          <a:lstStyle/>
          <a:p>
            <a:r>
              <a:rPr lang="zh-CN" altLang="en-US" sz="2400" dirty="0">
                <a:latin typeface="Microsoft YaHei" panose="020B0503020204020204" pitchFamily="34" charset="-122"/>
                <a:ea typeface="Microsoft YaHei" panose="020B0503020204020204" pitchFamily="34" charset="-122"/>
              </a:rPr>
              <a:t>def functionname( parameters ):</a:t>
            </a:r>
          </a:p>
          <a:p>
            <a:r>
              <a:rPr lang="zh-CN" altLang="en-US" sz="2400" dirty="0">
                <a:latin typeface="Microsoft YaHei" panose="020B0503020204020204" pitchFamily="34" charset="-122"/>
                <a:ea typeface="Microsoft YaHei" panose="020B0503020204020204" pitchFamily="34" charset="-122"/>
              </a:rPr>
              <a:t>   "函数_文档字符串"</a:t>
            </a:r>
          </a:p>
          <a:p>
            <a:r>
              <a:rPr lang="zh-CN" altLang="en-US" sz="2400" dirty="0">
                <a:latin typeface="Microsoft YaHei" panose="020B0503020204020204" pitchFamily="34" charset="-122"/>
                <a:ea typeface="Microsoft YaHei" panose="020B0503020204020204" pitchFamily="34" charset="-122"/>
              </a:rPr>
              <a:t>   function_suite</a:t>
            </a:r>
          </a:p>
          <a:p>
            <a:r>
              <a:rPr lang="zh-CN" altLang="en-US" sz="2400" dirty="0">
                <a:latin typeface="Microsoft YaHei" panose="020B0503020204020204" pitchFamily="34" charset="-122"/>
                <a:ea typeface="Microsoft YaHei" panose="020B0503020204020204" pitchFamily="34" charset="-122"/>
              </a:rPr>
              <a:t>   return [expression]</a:t>
            </a:r>
          </a:p>
        </p:txBody>
      </p:sp>
      <p:sp>
        <p:nvSpPr>
          <p:cNvPr id="5" name="文本框 9">
            <a:extLst>
              <a:ext uri="{FF2B5EF4-FFF2-40B4-BE49-F238E27FC236}">
                <a16:creationId xmlns:a16="http://schemas.microsoft.com/office/drawing/2014/main" id="{D696ED5F-A3AD-1555-7F17-93B3E4A85003}"/>
              </a:ext>
            </a:extLst>
          </p:cNvPr>
          <p:cNvSpPr txBox="1"/>
          <p:nvPr/>
        </p:nvSpPr>
        <p:spPr>
          <a:xfrm>
            <a:off x="2570829" y="2292098"/>
            <a:ext cx="1107996" cy="369332"/>
          </a:xfrm>
          <a:prstGeom prst="rect">
            <a:avLst/>
          </a:prstGeom>
          <a:noFill/>
        </p:spPr>
        <p:txBody>
          <a:bodyPr wrap="none" rtlCol="0">
            <a:spAutoFit/>
          </a:bodyPr>
          <a:lstStyle/>
          <a:p>
            <a:r>
              <a:rPr kumimoji="1" lang="zh-CN" altLang="en-US" dirty="0">
                <a:latin typeface="Microsoft YaHei" panose="020B0503020204020204" pitchFamily="34" charset="-122"/>
                <a:ea typeface="Microsoft YaHei" panose="020B0503020204020204" pitchFamily="34" charset="-122"/>
              </a:rPr>
              <a:t>函数定义</a:t>
            </a:r>
          </a:p>
        </p:txBody>
      </p:sp>
      <p:pic>
        <p:nvPicPr>
          <p:cNvPr id="6" name="图片 7">
            <a:extLst>
              <a:ext uri="{FF2B5EF4-FFF2-40B4-BE49-F238E27FC236}">
                <a16:creationId xmlns:a16="http://schemas.microsoft.com/office/drawing/2014/main" id="{70DF5D74-8838-1089-26E8-B624DB33629F}"/>
              </a:ext>
            </a:extLst>
          </p:cNvPr>
          <p:cNvPicPr>
            <a:picLocks noChangeAspect="1"/>
          </p:cNvPicPr>
          <p:nvPr/>
        </p:nvPicPr>
        <p:blipFill>
          <a:blip r:embed="rId2"/>
          <a:srcRect b="22969"/>
          <a:stretch/>
        </p:blipFill>
        <p:spPr>
          <a:xfrm>
            <a:off x="3951901" y="4103763"/>
            <a:ext cx="4776463" cy="2329475"/>
          </a:xfrm>
          <a:prstGeom prst="rect">
            <a:avLst/>
          </a:prstGeom>
        </p:spPr>
      </p:pic>
      <p:sp>
        <p:nvSpPr>
          <p:cNvPr id="7" name="文本框 10">
            <a:extLst>
              <a:ext uri="{FF2B5EF4-FFF2-40B4-BE49-F238E27FC236}">
                <a16:creationId xmlns:a16="http://schemas.microsoft.com/office/drawing/2014/main" id="{72DC5261-97FC-CBB1-5479-E07468F2DEC9}"/>
              </a:ext>
            </a:extLst>
          </p:cNvPr>
          <p:cNvSpPr txBox="1"/>
          <p:nvPr/>
        </p:nvSpPr>
        <p:spPr>
          <a:xfrm>
            <a:off x="2570829" y="4139708"/>
            <a:ext cx="646331" cy="369332"/>
          </a:xfrm>
          <a:prstGeom prst="rect">
            <a:avLst/>
          </a:prstGeom>
          <a:noFill/>
        </p:spPr>
        <p:txBody>
          <a:bodyPr wrap="none" rtlCol="0">
            <a:spAutoFit/>
          </a:bodyPr>
          <a:lstStyle/>
          <a:p>
            <a:r>
              <a:rPr kumimoji="1" lang="zh-CN" altLang="en-US" dirty="0">
                <a:latin typeface="Microsoft YaHei" panose="020B0503020204020204" pitchFamily="34" charset="-122"/>
                <a:ea typeface="Microsoft YaHei" panose="020B0503020204020204" pitchFamily="34" charset="-122"/>
              </a:rPr>
              <a:t>示例</a:t>
            </a:r>
          </a:p>
        </p:txBody>
      </p:sp>
    </p:spTree>
    <p:extLst>
      <p:ext uri="{BB962C8B-B14F-4D97-AF65-F5344CB8AC3E}">
        <p14:creationId xmlns:p14="http://schemas.microsoft.com/office/powerpoint/2010/main" val="1201013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a:t>
            </a:r>
            <a:r>
              <a:rPr lang="zh-CN" altLang="en-US" dirty="0"/>
              <a:t> </a:t>
            </a:r>
            <a:r>
              <a:rPr lang="en-US" altLang="zh-CN" dirty="0"/>
              <a:t>Python</a:t>
            </a:r>
            <a:r>
              <a:rPr lang="zh-CN" altLang="en-US" dirty="0"/>
              <a:t>高级语法</a:t>
            </a:r>
          </a:p>
        </p:txBody>
      </p:sp>
      <p:sp>
        <p:nvSpPr>
          <p:cNvPr id="3" name="内容占位符 2">
            <a:extLst>
              <a:ext uri="{FF2B5EF4-FFF2-40B4-BE49-F238E27FC236}">
                <a16:creationId xmlns:a16="http://schemas.microsoft.com/office/drawing/2014/main" id="{6AA102F3-CD18-8C25-7900-CC0A4C4F4CA8}"/>
              </a:ext>
            </a:extLst>
          </p:cNvPr>
          <p:cNvSpPr>
            <a:spLocks noGrp="1"/>
          </p:cNvSpPr>
          <p:nvPr>
            <p:ph idx="1"/>
          </p:nvPr>
        </p:nvSpPr>
        <p:spPr>
          <a:xfrm>
            <a:off x="267336" y="882623"/>
            <a:ext cx="5463678" cy="5484038"/>
          </a:xfrm>
        </p:spPr>
        <p:txBody>
          <a:bodyPr>
            <a:noAutofit/>
          </a:bodyPr>
          <a:lstStyle/>
          <a:p>
            <a:pPr>
              <a:lnSpc>
                <a:spcPct val="120000"/>
              </a:lnSpc>
              <a:buFont typeface="Wingdings" pitchFamily="2" charset="2"/>
              <a:buChar char="p"/>
            </a:pPr>
            <a:r>
              <a:rPr lang="zh-CN" altLang="en-US" sz="2000" b="1" dirty="0">
                <a:solidFill>
                  <a:srgbClr val="333333"/>
                </a:solidFill>
                <a:effectLst/>
                <a:latin typeface="Microsoft YaHei" panose="020B0503020204020204" pitchFamily="34" charset="-122"/>
                <a:ea typeface="Microsoft YaHei" panose="020B0503020204020204" pitchFamily="34" charset="-122"/>
              </a:rPr>
              <a:t>类</a:t>
            </a:r>
            <a:r>
              <a:rPr lang="en-US" altLang="zh-CN" sz="2000" b="1" dirty="0">
                <a:solidFill>
                  <a:srgbClr val="333333"/>
                </a:solidFill>
                <a:effectLst/>
                <a:latin typeface="Microsoft YaHei" panose="020B0503020204020204" pitchFamily="34" charset="-122"/>
                <a:ea typeface="Microsoft YaHei" panose="020B0503020204020204" pitchFamily="34" charset="-122"/>
              </a:rPr>
              <a:t>(</a:t>
            </a:r>
            <a:r>
              <a:rPr lang="en" altLang="zh-CN" sz="2000" b="1" dirty="0">
                <a:solidFill>
                  <a:srgbClr val="333333"/>
                </a:solidFill>
                <a:effectLst/>
                <a:latin typeface="Microsoft YaHei" panose="020B0503020204020204" pitchFamily="34" charset="-122"/>
                <a:ea typeface="Microsoft YaHei" panose="020B0503020204020204" pitchFamily="34" charset="-122"/>
              </a:rPr>
              <a:t>Class): </a:t>
            </a:r>
            <a:r>
              <a:rPr lang="zh-CN" altLang="en-US" sz="2000" dirty="0">
                <a:solidFill>
                  <a:srgbClr val="333333"/>
                </a:solidFill>
                <a:effectLst/>
                <a:latin typeface="Microsoft YaHei" panose="020B0503020204020204" pitchFamily="34" charset="-122"/>
                <a:ea typeface="Microsoft YaHei" panose="020B0503020204020204" pitchFamily="34" charset="-122"/>
              </a:rPr>
              <a:t>用来描述具有相同的属性和</a:t>
            </a:r>
            <a:r>
              <a:rPr lang="zh-CN" altLang="en-US" sz="2000" dirty="0">
                <a:solidFill>
                  <a:srgbClr val="333333"/>
                </a:solidFill>
                <a:latin typeface="Microsoft YaHei" panose="020B0503020204020204" pitchFamily="34" charset="-122"/>
                <a:ea typeface="Microsoft YaHei" panose="020B0503020204020204" pitchFamily="34" charset="-122"/>
              </a:rPr>
              <a:t>方法的对象的集合。定义了该集合中每个对象所共有的属性和方法。对象是类的实例。</a:t>
            </a:r>
            <a:endParaRPr lang="en-US" altLang="zh-CN" sz="2000" dirty="0">
              <a:solidFill>
                <a:srgbClr val="333333"/>
              </a:solidFill>
              <a:latin typeface="Microsoft YaHei" panose="020B0503020204020204" pitchFamily="34" charset="-122"/>
              <a:ea typeface="Microsoft YaHei" panose="020B0503020204020204" pitchFamily="34" charset="-122"/>
            </a:endParaRPr>
          </a:p>
          <a:p>
            <a:pPr latinLnBrk="1">
              <a:lnSpc>
                <a:spcPct val="120000"/>
              </a:lnSpc>
              <a:buFont typeface="Wingdings" pitchFamily="2" charset="2"/>
              <a:buChar char="p"/>
            </a:pPr>
            <a:r>
              <a:rPr lang="zh-CN" altLang="en-US" sz="2000" b="1" dirty="0">
                <a:solidFill>
                  <a:srgbClr val="333333"/>
                </a:solidFill>
                <a:latin typeface="Microsoft YaHei" panose="020B0503020204020204" pitchFamily="34" charset="-122"/>
                <a:ea typeface="Microsoft YaHei" panose="020B0503020204020204" pitchFamily="34" charset="-122"/>
              </a:rPr>
              <a:t>方法：</a:t>
            </a:r>
            <a:r>
              <a:rPr lang="zh-CN" altLang="en-US" sz="2000" dirty="0">
                <a:solidFill>
                  <a:srgbClr val="333333"/>
                </a:solidFill>
                <a:latin typeface="Microsoft YaHei" panose="020B0503020204020204" pitchFamily="34" charset="-122"/>
                <a:ea typeface="Microsoft YaHei" panose="020B0503020204020204" pitchFamily="34" charset="-122"/>
              </a:rPr>
              <a:t>类中定义的函数。</a:t>
            </a:r>
          </a:p>
          <a:p>
            <a:pPr latinLnBrk="1">
              <a:lnSpc>
                <a:spcPct val="120000"/>
              </a:lnSpc>
              <a:buFont typeface="Wingdings" pitchFamily="2" charset="2"/>
              <a:buChar char="p"/>
            </a:pPr>
            <a:r>
              <a:rPr lang="zh-CN" altLang="en-US" sz="2000" b="1" dirty="0">
                <a:solidFill>
                  <a:srgbClr val="333333"/>
                </a:solidFill>
                <a:latin typeface="Microsoft YaHei" panose="020B0503020204020204" pitchFamily="34" charset="-122"/>
                <a:ea typeface="Microsoft YaHei" panose="020B0503020204020204" pitchFamily="34" charset="-122"/>
              </a:rPr>
              <a:t>对象：</a:t>
            </a:r>
            <a:r>
              <a:rPr lang="zh-CN" altLang="en-US" sz="2000" dirty="0">
                <a:solidFill>
                  <a:srgbClr val="333333"/>
                </a:solidFill>
                <a:latin typeface="Microsoft YaHei" panose="020B0503020204020204" pitchFamily="34" charset="-122"/>
                <a:ea typeface="Microsoft YaHei" panose="020B0503020204020204" pitchFamily="34" charset="-122"/>
              </a:rPr>
              <a:t>通过类定义的数据结构实例。对象包括两个数据成员（类变量和实例变量）和方法。</a:t>
            </a:r>
            <a:endParaRPr lang="zh-CN" altLang="en-US" sz="2000" dirty="0">
              <a:solidFill>
                <a:srgbClr val="333333"/>
              </a:solidFill>
              <a:effectLst/>
              <a:latin typeface="Microsoft YaHei" panose="020B0503020204020204" pitchFamily="34" charset="-122"/>
              <a:ea typeface="Microsoft YaHei" panose="020B0503020204020204" pitchFamily="34" charset="-122"/>
            </a:endParaRPr>
          </a:p>
          <a:p>
            <a:pPr algn="l" latinLnBrk="1">
              <a:lnSpc>
                <a:spcPct val="120000"/>
              </a:lnSpc>
              <a:buFont typeface="Wingdings" pitchFamily="2" charset="2"/>
              <a:buChar char="p"/>
            </a:pPr>
            <a:r>
              <a:rPr lang="zh-CN" altLang="en-US" sz="2000" b="1" dirty="0">
                <a:solidFill>
                  <a:srgbClr val="333333"/>
                </a:solidFill>
                <a:latin typeface="Microsoft YaHei" panose="020B0503020204020204" pitchFamily="34" charset="-122"/>
                <a:ea typeface="Microsoft YaHei" panose="020B0503020204020204" pitchFamily="34" charset="-122"/>
              </a:rPr>
              <a:t>类变量：</a:t>
            </a:r>
            <a:r>
              <a:rPr lang="zh-CN" altLang="en-US" sz="2000" dirty="0">
                <a:solidFill>
                  <a:srgbClr val="333333"/>
                </a:solidFill>
                <a:effectLst/>
                <a:latin typeface="Microsoft YaHei" panose="020B0503020204020204" pitchFamily="34" charset="-122"/>
                <a:ea typeface="Microsoft YaHei" panose="020B0503020204020204" pitchFamily="34" charset="-122"/>
              </a:rPr>
              <a:t>类变量在整个实例化的对象中是公用的。类变量定义在类中且在函数体之外。类变量通常不作为实例变量使用。</a:t>
            </a:r>
          </a:p>
          <a:p>
            <a:pPr algn="l" latinLnBrk="1">
              <a:lnSpc>
                <a:spcPct val="120000"/>
              </a:lnSpc>
              <a:buFont typeface="Wingdings" pitchFamily="2" charset="2"/>
              <a:buChar char="p"/>
            </a:pPr>
            <a:r>
              <a:rPr lang="zh-CN" altLang="en-US" sz="2000" b="1" dirty="0">
                <a:solidFill>
                  <a:srgbClr val="333333"/>
                </a:solidFill>
                <a:latin typeface="Microsoft YaHei" panose="020B0503020204020204" pitchFamily="34" charset="-122"/>
                <a:ea typeface="Microsoft YaHei" panose="020B0503020204020204" pitchFamily="34" charset="-122"/>
              </a:rPr>
              <a:t>数据成员：</a:t>
            </a:r>
            <a:r>
              <a:rPr lang="zh-CN" altLang="en-US" sz="2000" dirty="0">
                <a:solidFill>
                  <a:srgbClr val="333333"/>
                </a:solidFill>
                <a:effectLst/>
                <a:latin typeface="Microsoft YaHei" panose="020B0503020204020204" pitchFamily="34" charset="-122"/>
                <a:ea typeface="Microsoft YaHei" panose="020B0503020204020204" pitchFamily="34" charset="-122"/>
              </a:rPr>
              <a:t>类变量或者实例变量</a:t>
            </a:r>
            <a:r>
              <a:rPr lang="en-US" altLang="zh-CN" sz="2000" dirty="0">
                <a:solidFill>
                  <a:srgbClr val="333333"/>
                </a:solidFill>
                <a:effectLst/>
                <a:latin typeface="Microsoft YaHei" panose="020B0503020204020204" pitchFamily="34" charset="-122"/>
                <a:ea typeface="Microsoft YaHei" panose="020B0503020204020204" pitchFamily="34" charset="-122"/>
              </a:rPr>
              <a:t>, </a:t>
            </a:r>
            <a:r>
              <a:rPr lang="zh-CN" altLang="en-US" sz="2000" dirty="0">
                <a:solidFill>
                  <a:srgbClr val="333333"/>
                </a:solidFill>
                <a:effectLst/>
                <a:latin typeface="Microsoft YaHei" panose="020B0503020204020204" pitchFamily="34" charset="-122"/>
                <a:ea typeface="Microsoft YaHei" panose="020B0503020204020204" pitchFamily="34" charset="-122"/>
              </a:rPr>
              <a:t>用于处理类及其实例对象的相关的数据。</a:t>
            </a:r>
            <a:endParaRPr lang="en-US" altLang="zh-CN" sz="2000" dirty="0">
              <a:solidFill>
                <a:srgbClr val="333333"/>
              </a:solidFill>
              <a:effectLst/>
              <a:latin typeface="Microsoft YaHei" panose="020B0503020204020204" pitchFamily="34" charset="-122"/>
              <a:ea typeface="Microsoft YaHei" panose="020B0503020204020204" pitchFamily="34" charset="-122"/>
            </a:endParaRPr>
          </a:p>
          <a:p>
            <a:pPr latinLnBrk="1">
              <a:lnSpc>
                <a:spcPct val="120000"/>
              </a:lnSpc>
              <a:buFont typeface="Wingdings" pitchFamily="2" charset="2"/>
              <a:buChar char="p"/>
            </a:pPr>
            <a:r>
              <a:rPr lang="zh-CN" altLang="en-US" sz="2000" b="1" dirty="0">
                <a:solidFill>
                  <a:srgbClr val="333333"/>
                </a:solidFill>
                <a:latin typeface="Microsoft YaHei" panose="020B0503020204020204" pitchFamily="34" charset="-122"/>
                <a:ea typeface="Microsoft YaHei" panose="020B0503020204020204" pitchFamily="34" charset="-122"/>
              </a:rPr>
              <a:t>实例化：</a:t>
            </a:r>
            <a:r>
              <a:rPr lang="zh-CN" altLang="en-US" sz="2000" dirty="0">
                <a:solidFill>
                  <a:srgbClr val="333333"/>
                </a:solidFill>
                <a:latin typeface="Microsoft YaHei" panose="020B0503020204020204" pitchFamily="34" charset="-122"/>
                <a:ea typeface="Microsoft YaHei" panose="020B0503020204020204" pitchFamily="34" charset="-122"/>
              </a:rPr>
              <a:t>创建一个类的实例，类的具体对象。</a:t>
            </a:r>
          </a:p>
          <a:p>
            <a:pPr algn="l" latinLnBrk="1">
              <a:lnSpc>
                <a:spcPct val="120000"/>
              </a:lnSpc>
              <a:buFont typeface="Wingdings" pitchFamily="2" charset="2"/>
              <a:buChar char="p"/>
            </a:pPr>
            <a:endParaRPr lang="zh-CN" altLang="en-US" sz="2000" dirty="0">
              <a:solidFill>
                <a:srgbClr val="333333"/>
              </a:solidFill>
              <a:effectLst/>
              <a:latin typeface="Microsoft YaHei" panose="020B0503020204020204" pitchFamily="34" charset="-122"/>
              <a:ea typeface="Microsoft YaHei" panose="020B0503020204020204" pitchFamily="34" charset="-122"/>
            </a:endParaRPr>
          </a:p>
        </p:txBody>
      </p:sp>
      <p:sp>
        <p:nvSpPr>
          <p:cNvPr id="4" name="内容占位符 2">
            <a:extLst>
              <a:ext uri="{FF2B5EF4-FFF2-40B4-BE49-F238E27FC236}">
                <a16:creationId xmlns:a16="http://schemas.microsoft.com/office/drawing/2014/main" id="{5B5B7954-A784-D506-2B07-912ACBD0D6D2}"/>
              </a:ext>
            </a:extLst>
          </p:cNvPr>
          <p:cNvSpPr txBox="1">
            <a:spLocks/>
          </p:cNvSpPr>
          <p:nvPr/>
        </p:nvSpPr>
        <p:spPr>
          <a:xfrm>
            <a:off x="5888638" y="882623"/>
            <a:ext cx="5849093" cy="5383775"/>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buFont typeface="Wingdings" pitchFamily="2" charset="2"/>
              <a:buChar char="n"/>
              <a:defRPr sz="2800" b="0" i="0" kern="1200">
                <a:solidFill>
                  <a:schemeClr val="tx1"/>
                </a:solidFill>
                <a:latin typeface="Lantinghei SC Extralight" panose="02000000000000000000" pitchFamily="2" charset="-122"/>
                <a:ea typeface="Lantinghei SC Extralight" panose="02000000000000000000" pitchFamily="2" charset="-122"/>
                <a:cs typeface="+mn-cs"/>
              </a:defRPr>
            </a:lvl1pPr>
            <a:lvl2pPr marL="685800" indent="-228600" algn="l" defTabSz="914400" rtl="0" eaLnBrk="1" latinLnBrk="0" hangingPunct="1">
              <a:lnSpc>
                <a:spcPct val="100000"/>
              </a:lnSpc>
              <a:spcBef>
                <a:spcPts val="500"/>
              </a:spcBef>
              <a:buFont typeface="Wingdings" pitchFamily="2" charset="2"/>
              <a:buChar char="n"/>
              <a:defRPr sz="2400" b="0" i="0" kern="1200">
                <a:solidFill>
                  <a:schemeClr val="tx1"/>
                </a:solidFill>
                <a:latin typeface="Lantinghei SC Extralight" panose="02000000000000000000" pitchFamily="2" charset="-122"/>
                <a:ea typeface="Lantinghei SC Extralight" panose="02000000000000000000" pitchFamily="2" charset="-122"/>
                <a:cs typeface="+mn-cs"/>
              </a:defRPr>
            </a:lvl2pPr>
            <a:lvl3pPr marL="1143000" indent="-228600" algn="l" defTabSz="914400" rtl="0" eaLnBrk="1" latinLnBrk="0" hangingPunct="1">
              <a:lnSpc>
                <a:spcPct val="100000"/>
              </a:lnSpc>
              <a:spcBef>
                <a:spcPts val="500"/>
              </a:spcBef>
              <a:buFont typeface="Wingdings" pitchFamily="2" charset="2"/>
              <a:buChar char="n"/>
              <a:defRPr sz="2000" kern="1200">
                <a:solidFill>
                  <a:schemeClr val="tx1"/>
                </a:solidFill>
                <a:latin typeface="KaiTi" panose="02010609060101010101" pitchFamily="49" charset="-122"/>
                <a:ea typeface="KaiTi" panose="02010609060101010101" pitchFamily="49" charset="-122"/>
                <a:cs typeface="+mn-cs"/>
              </a:defRPr>
            </a:lvl3pPr>
            <a:lvl4pPr marL="1600200" indent="-228600" algn="l" defTabSz="914400" rtl="0" eaLnBrk="1" latinLnBrk="0" hangingPunct="1">
              <a:lnSpc>
                <a:spcPct val="100000"/>
              </a:lnSpc>
              <a:spcBef>
                <a:spcPts val="500"/>
              </a:spcBef>
              <a:buFont typeface="Wingdings" pitchFamily="2" charset="2"/>
              <a:buChar char="n"/>
              <a:defRPr sz="1800" kern="1200">
                <a:solidFill>
                  <a:schemeClr val="tx1"/>
                </a:solidFill>
                <a:latin typeface="KaiTi" panose="02010609060101010101" pitchFamily="49" charset="-122"/>
                <a:ea typeface="KaiTi" panose="02010609060101010101" pitchFamily="49" charset="-122"/>
                <a:cs typeface="+mn-cs"/>
              </a:defRPr>
            </a:lvl4pPr>
            <a:lvl5pPr marL="2057400" indent="-228600" algn="l" defTabSz="914400" rtl="0" eaLnBrk="1" latinLnBrk="0" hangingPunct="1">
              <a:lnSpc>
                <a:spcPct val="100000"/>
              </a:lnSpc>
              <a:spcBef>
                <a:spcPts val="500"/>
              </a:spcBef>
              <a:buFont typeface="Wingdings" pitchFamily="2" charset="2"/>
              <a:buChar char="n"/>
              <a:defRPr sz="1800" kern="1200">
                <a:solidFill>
                  <a:schemeClr val="tx1"/>
                </a:solidFill>
                <a:latin typeface="KaiTi" panose="02010609060101010101" pitchFamily="49" charset="-122"/>
                <a:ea typeface="KaiTi"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atinLnBrk="1">
              <a:lnSpc>
                <a:spcPct val="120000"/>
              </a:lnSpc>
              <a:buFont typeface="Wingdings" pitchFamily="2" charset="2"/>
              <a:buChar char="p"/>
            </a:pPr>
            <a:r>
              <a:rPr lang="zh-CN" altLang="en-US" sz="2000" b="1" dirty="0">
                <a:solidFill>
                  <a:srgbClr val="333333"/>
                </a:solidFill>
                <a:latin typeface="Microsoft YaHei" panose="020B0503020204020204" pitchFamily="34" charset="-122"/>
                <a:ea typeface="Microsoft YaHei" panose="020B0503020204020204" pitchFamily="34" charset="-122"/>
              </a:rPr>
              <a:t>方法重写：</a:t>
            </a:r>
            <a:r>
              <a:rPr lang="zh-CN" altLang="en-US" sz="2000" dirty="0">
                <a:solidFill>
                  <a:srgbClr val="333333"/>
                </a:solidFill>
                <a:latin typeface="Microsoft YaHei" panose="020B0503020204020204" pitchFamily="34" charset="-122"/>
                <a:ea typeface="Microsoft YaHei" panose="020B0503020204020204" pitchFamily="34" charset="-122"/>
              </a:rPr>
              <a:t>如果从父类继承的方法不能满足子类的需求，可以对其进行改写，这个过程叫方法的覆盖（</a:t>
            </a:r>
            <a:r>
              <a:rPr lang="en" altLang="zh-CN" sz="2000" dirty="0">
                <a:solidFill>
                  <a:srgbClr val="333333"/>
                </a:solidFill>
                <a:latin typeface="Microsoft YaHei" panose="020B0503020204020204" pitchFamily="34" charset="-122"/>
                <a:ea typeface="Microsoft YaHei" panose="020B0503020204020204" pitchFamily="34" charset="-122"/>
              </a:rPr>
              <a:t>override</a:t>
            </a:r>
            <a:r>
              <a:rPr lang="zh-CN" altLang="en" sz="2000" dirty="0">
                <a:solidFill>
                  <a:srgbClr val="333333"/>
                </a:solidFill>
                <a:latin typeface="Microsoft YaHei" panose="020B0503020204020204" pitchFamily="34" charset="-122"/>
                <a:ea typeface="Microsoft YaHei" panose="020B0503020204020204" pitchFamily="34" charset="-122"/>
              </a:rPr>
              <a:t>），</a:t>
            </a:r>
            <a:r>
              <a:rPr lang="zh-CN" altLang="en-US" sz="2000" dirty="0">
                <a:solidFill>
                  <a:srgbClr val="333333"/>
                </a:solidFill>
                <a:latin typeface="Microsoft YaHei" panose="020B0503020204020204" pitchFamily="34" charset="-122"/>
                <a:ea typeface="Microsoft YaHei" panose="020B0503020204020204" pitchFamily="34" charset="-122"/>
              </a:rPr>
              <a:t>也称为方法的重写。</a:t>
            </a:r>
          </a:p>
          <a:p>
            <a:pPr latinLnBrk="1">
              <a:lnSpc>
                <a:spcPct val="120000"/>
              </a:lnSpc>
              <a:buFont typeface="Wingdings" pitchFamily="2" charset="2"/>
              <a:buChar char="p"/>
            </a:pPr>
            <a:r>
              <a:rPr lang="zh-CN" altLang="en-US" sz="2000" b="1" dirty="0">
                <a:solidFill>
                  <a:srgbClr val="333333"/>
                </a:solidFill>
                <a:latin typeface="Microsoft YaHei" panose="020B0503020204020204" pitchFamily="34" charset="-122"/>
                <a:ea typeface="Microsoft YaHei" panose="020B0503020204020204" pitchFamily="34" charset="-122"/>
              </a:rPr>
              <a:t>局部变量：</a:t>
            </a:r>
            <a:r>
              <a:rPr lang="zh-CN" altLang="en-US" sz="2000" dirty="0">
                <a:solidFill>
                  <a:srgbClr val="333333"/>
                </a:solidFill>
                <a:latin typeface="Microsoft YaHei" panose="020B0503020204020204" pitchFamily="34" charset="-122"/>
                <a:ea typeface="Microsoft YaHei" panose="020B0503020204020204" pitchFamily="34" charset="-122"/>
              </a:rPr>
              <a:t>定义在方法中的变量，只作用于当前实例的类。</a:t>
            </a:r>
          </a:p>
          <a:p>
            <a:pPr latinLnBrk="1">
              <a:lnSpc>
                <a:spcPct val="120000"/>
              </a:lnSpc>
              <a:buFont typeface="Wingdings" pitchFamily="2" charset="2"/>
              <a:buChar char="p"/>
            </a:pPr>
            <a:r>
              <a:rPr lang="zh-CN" altLang="en-US" sz="2000" b="1" dirty="0">
                <a:solidFill>
                  <a:srgbClr val="333333"/>
                </a:solidFill>
                <a:latin typeface="Microsoft YaHei" panose="020B0503020204020204" pitchFamily="34" charset="-122"/>
                <a:ea typeface="Microsoft YaHei" panose="020B0503020204020204" pitchFamily="34" charset="-122"/>
              </a:rPr>
              <a:t>实例变量：</a:t>
            </a:r>
            <a:r>
              <a:rPr lang="zh-CN" altLang="en-US" sz="2000" dirty="0">
                <a:solidFill>
                  <a:srgbClr val="333333"/>
                </a:solidFill>
                <a:latin typeface="Microsoft YaHei" panose="020B0503020204020204" pitchFamily="34" charset="-122"/>
                <a:ea typeface="Microsoft YaHei" panose="020B0503020204020204" pitchFamily="34" charset="-122"/>
              </a:rPr>
              <a:t>在类的声明中，属性是用变量来表示的。这种变量就称为实例变量，是在类声明的内部但是在类的其他成员方法之外声明的。</a:t>
            </a:r>
          </a:p>
          <a:p>
            <a:pPr latinLnBrk="1">
              <a:lnSpc>
                <a:spcPct val="120000"/>
              </a:lnSpc>
              <a:buFont typeface="Wingdings" pitchFamily="2" charset="2"/>
              <a:buChar char="p"/>
            </a:pPr>
            <a:r>
              <a:rPr lang="zh-CN" altLang="en-US" sz="2000" b="1" dirty="0">
                <a:solidFill>
                  <a:srgbClr val="333333"/>
                </a:solidFill>
                <a:latin typeface="Microsoft YaHei" panose="020B0503020204020204" pitchFamily="34" charset="-122"/>
                <a:ea typeface="Microsoft YaHei" panose="020B0503020204020204" pitchFamily="34" charset="-122"/>
              </a:rPr>
              <a:t>继承：</a:t>
            </a:r>
            <a:r>
              <a:rPr lang="zh-CN" altLang="en-US" sz="2000" dirty="0">
                <a:solidFill>
                  <a:srgbClr val="333333"/>
                </a:solidFill>
                <a:latin typeface="Microsoft YaHei" panose="020B0503020204020204" pitchFamily="34" charset="-122"/>
                <a:ea typeface="Microsoft YaHei" panose="020B0503020204020204" pitchFamily="34" charset="-122"/>
              </a:rPr>
              <a:t>即一个派生类（</a:t>
            </a:r>
            <a:r>
              <a:rPr lang="en" altLang="zh-CN" sz="2000" dirty="0">
                <a:solidFill>
                  <a:srgbClr val="333333"/>
                </a:solidFill>
                <a:latin typeface="Microsoft YaHei" panose="020B0503020204020204" pitchFamily="34" charset="-122"/>
                <a:ea typeface="Microsoft YaHei" panose="020B0503020204020204" pitchFamily="34" charset="-122"/>
              </a:rPr>
              <a:t>derived class</a:t>
            </a:r>
            <a:r>
              <a:rPr lang="zh-CN" altLang="en" sz="2000" dirty="0">
                <a:solidFill>
                  <a:srgbClr val="333333"/>
                </a:solidFill>
                <a:latin typeface="Microsoft YaHei" panose="020B0503020204020204" pitchFamily="34" charset="-122"/>
                <a:ea typeface="Microsoft YaHei" panose="020B0503020204020204" pitchFamily="34" charset="-122"/>
              </a:rPr>
              <a:t>）</a:t>
            </a:r>
            <a:r>
              <a:rPr lang="zh-CN" altLang="en-US" sz="2000" dirty="0">
                <a:solidFill>
                  <a:srgbClr val="333333"/>
                </a:solidFill>
                <a:latin typeface="Microsoft YaHei" panose="020B0503020204020204" pitchFamily="34" charset="-122"/>
                <a:ea typeface="Microsoft YaHei" panose="020B0503020204020204" pitchFamily="34" charset="-122"/>
              </a:rPr>
              <a:t>继承基类（</a:t>
            </a:r>
            <a:r>
              <a:rPr lang="en" altLang="zh-CN" sz="2000" dirty="0">
                <a:solidFill>
                  <a:srgbClr val="333333"/>
                </a:solidFill>
                <a:latin typeface="Microsoft YaHei" panose="020B0503020204020204" pitchFamily="34" charset="-122"/>
                <a:ea typeface="Microsoft YaHei" panose="020B0503020204020204" pitchFamily="34" charset="-122"/>
              </a:rPr>
              <a:t>base class</a:t>
            </a:r>
            <a:r>
              <a:rPr lang="zh-CN" altLang="en" sz="2000" dirty="0">
                <a:solidFill>
                  <a:srgbClr val="333333"/>
                </a:solidFill>
                <a:latin typeface="Microsoft YaHei" panose="020B0503020204020204" pitchFamily="34" charset="-122"/>
                <a:ea typeface="Microsoft YaHei" panose="020B0503020204020204" pitchFamily="34" charset="-122"/>
              </a:rPr>
              <a:t>）</a:t>
            </a:r>
            <a:r>
              <a:rPr lang="zh-CN" altLang="en-US" sz="2000" dirty="0">
                <a:solidFill>
                  <a:srgbClr val="333333"/>
                </a:solidFill>
                <a:latin typeface="Microsoft YaHei" panose="020B0503020204020204" pitchFamily="34" charset="-122"/>
                <a:ea typeface="Microsoft YaHei" panose="020B0503020204020204" pitchFamily="34" charset="-122"/>
              </a:rPr>
              <a:t>的字段和方法。继承也允许把一个派生类的对象作为一个基类对象对待。例如，有这样一个设计：一个</a:t>
            </a:r>
            <a:r>
              <a:rPr lang="en" altLang="zh-CN" sz="2000" dirty="0">
                <a:solidFill>
                  <a:srgbClr val="333333"/>
                </a:solidFill>
                <a:latin typeface="Microsoft YaHei" panose="020B0503020204020204" pitchFamily="34" charset="-122"/>
                <a:ea typeface="Microsoft YaHei" panose="020B0503020204020204" pitchFamily="34" charset="-122"/>
              </a:rPr>
              <a:t>Dog</a:t>
            </a:r>
            <a:r>
              <a:rPr lang="zh-CN" altLang="en-US" sz="2000" dirty="0">
                <a:solidFill>
                  <a:srgbClr val="333333"/>
                </a:solidFill>
                <a:latin typeface="Microsoft YaHei" panose="020B0503020204020204" pitchFamily="34" charset="-122"/>
                <a:ea typeface="Microsoft YaHei" panose="020B0503020204020204" pitchFamily="34" charset="-122"/>
              </a:rPr>
              <a:t>类型的对象派生自</a:t>
            </a:r>
            <a:r>
              <a:rPr lang="en" altLang="zh-CN" sz="2000" dirty="0">
                <a:solidFill>
                  <a:srgbClr val="333333"/>
                </a:solidFill>
                <a:latin typeface="Microsoft YaHei" panose="020B0503020204020204" pitchFamily="34" charset="-122"/>
                <a:ea typeface="Microsoft YaHei" panose="020B0503020204020204" pitchFamily="34" charset="-122"/>
              </a:rPr>
              <a:t>Animal</a:t>
            </a:r>
            <a:r>
              <a:rPr lang="zh-CN" altLang="en-US" sz="2000" dirty="0">
                <a:solidFill>
                  <a:srgbClr val="333333"/>
                </a:solidFill>
                <a:latin typeface="Microsoft YaHei" panose="020B0503020204020204" pitchFamily="34" charset="-122"/>
                <a:ea typeface="Microsoft YaHei" panose="020B0503020204020204" pitchFamily="34" charset="-122"/>
              </a:rPr>
              <a:t>类，这是模拟</a:t>
            </a:r>
            <a:r>
              <a:rPr lang="en-US" altLang="zh-CN" sz="2000" dirty="0">
                <a:solidFill>
                  <a:srgbClr val="333333"/>
                </a:solidFill>
                <a:latin typeface="Microsoft YaHei" panose="020B0503020204020204" pitchFamily="34" charset="-122"/>
                <a:ea typeface="Microsoft YaHei" panose="020B0503020204020204" pitchFamily="34" charset="-122"/>
              </a:rPr>
              <a:t>"</a:t>
            </a:r>
            <a:r>
              <a:rPr lang="zh-CN" altLang="en-US" sz="2000" dirty="0">
                <a:solidFill>
                  <a:srgbClr val="333333"/>
                </a:solidFill>
                <a:latin typeface="Microsoft YaHei" panose="020B0503020204020204" pitchFamily="34" charset="-122"/>
                <a:ea typeface="Microsoft YaHei" panose="020B0503020204020204" pitchFamily="34" charset="-122"/>
              </a:rPr>
              <a:t>是一个（</a:t>
            </a:r>
            <a:r>
              <a:rPr lang="en" altLang="zh-CN" sz="2000" dirty="0">
                <a:solidFill>
                  <a:srgbClr val="333333"/>
                </a:solidFill>
                <a:latin typeface="Microsoft YaHei" panose="020B0503020204020204" pitchFamily="34" charset="-122"/>
                <a:ea typeface="Microsoft YaHei" panose="020B0503020204020204" pitchFamily="34" charset="-122"/>
              </a:rPr>
              <a:t>is-a</a:t>
            </a:r>
            <a:r>
              <a:rPr lang="zh-CN" altLang="en" sz="2000" dirty="0">
                <a:solidFill>
                  <a:srgbClr val="333333"/>
                </a:solidFill>
                <a:latin typeface="Microsoft YaHei" panose="020B0503020204020204" pitchFamily="34" charset="-122"/>
                <a:ea typeface="Microsoft YaHei" panose="020B0503020204020204" pitchFamily="34" charset="-122"/>
              </a:rPr>
              <a:t>）</a:t>
            </a:r>
            <a:r>
              <a:rPr lang="en" altLang="zh-CN" sz="2000" dirty="0">
                <a:solidFill>
                  <a:srgbClr val="333333"/>
                </a:solidFill>
                <a:latin typeface="Microsoft YaHei" panose="020B0503020204020204" pitchFamily="34" charset="-122"/>
                <a:ea typeface="Microsoft YaHei" panose="020B0503020204020204" pitchFamily="34" charset="-122"/>
              </a:rPr>
              <a:t>"</a:t>
            </a:r>
            <a:r>
              <a:rPr lang="zh-CN" altLang="en-US" sz="2000" dirty="0">
                <a:solidFill>
                  <a:srgbClr val="333333"/>
                </a:solidFill>
                <a:latin typeface="Microsoft YaHei" panose="020B0503020204020204" pitchFamily="34" charset="-122"/>
                <a:ea typeface="Microsoft YaHei" panose="020B0503020204020204" pitchFamily="34" charset="-122"/>
              </a:rPr>
              <a:t>关系（例图，</a:t>
            </a:r>
            <a:r>
              <a:rPr lang="en" altLang="zh-CN" sz="2000" dirty="0">
                <a:solidFill>
                  <a:srgbClr val="333333"/>
                </a:solidFill>
                <a:latin typeface="Microsoft YaHei" panose="020B0503020204020204" pitchFamily="34" charset="-122"/>
                <a:ea typeface="Microsoft YaHei" panose="020B0503020204020204" pitchFamily="34" charset="-122"/>
              </a:rPr>
              <a:t>Dog</a:t>
            </a:r>
            <a:r>
              <a:rPr lang="zh-CN" altLang="en-US" sz="2000" dirty="0">
                <a:solidFill>
                  <a:srgbClr val="333333"/>
                </a:solidFill>
                <a:latin typeface="Microsoft YaHei" panose="020B0503020204020204" pitchFamily="34" charset="-122"/>
                <a:ea typeface="Microsoft YaHei" panose="020B0503020204020204" pitchFamily="34" charset="-122"/>
              </a:rPr>
              <a:t>是一个</a:t>
            </a:r>
            <a:r>
              <a:rPr lang="en" altLang="zh-CN" sz="2000" dirty="0">
                <a:solidFill>
                  <a:srgbClr val="333333"/>
                </a:solidFill>
                <a:latin typeface="Microsoft YaHei" panose="020B0503020204020204" pitchFamily="34" charset="-122"/>
                <a:ea typeface="Microsoft YaHei" panose="020B0503020204020204" pitchFamily="34" charset="-122"/>
              </a:rPr>
              <a:t>Animal</a:t>
            </a:r>
            <a:r>
              <a:rPr lang="zh-CN" altLang="en" sz="2000" dirty="0">
                <a:solidFill>
                  <a:srgbClr val="333333"/>
                </a:solidFill>
                <a:latin typeface="Microsoft YaHei" panose="020B0503020204020204" pitchFamily="34" charset="-122"/>
                <a:ea typeface="Microsoft YaHei" panose="020B0503020204020204" pitchFamily="34" charset="-122"/>
              </a:rPr>
              <a:t>）。</a:t>
            </a:r>
            <a:endParaRPr lang="en-US" altLang="zh-CN" sz="2000" dirty="0">
              <a:solidFill>
                <a:srgbClr val="333333"/>
              </a:solidFill>
              <a:latin typeface="Microsoft YaHei" panose="020B0503020204020204" pitchFamily="34" charset="-122"/>
              <a:ea typeface="Microsoft YaHei" panose="020B0503020204020204" pitchFamily="34" charset="-122"/>
            </a:endParaRPr>
          </a:p>
          <a:p>
            <a:pPr lvl="1">
              <a:lnSpc>
                <a:spcPct val="125000"/>
              </a:lnSpc>
              <a:buFont typeface="Wingdings" pitchFamily="2" charset="2"/>
              <a:buChar char="p"/>
            </a:pPr>
            <a:endParaRPr lang="en-US" altLang="zh-CN" sz="20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407816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a:t>
            </a:r>
            <a:r>
              <a:rPr lang="zh-CN" altLang="en-US" dirty="0"/>
              <a:t> </a:t>
            </a:r>
            <a:r>
              <a:rPr lang="en-US" altLang="zh-CN" dirty="0"/>
              <a:t>Python</a:t>
            </a:r>
            <a:r>
              <a:rPr lang="zh-CN" altLang="en-US" dirty="0"/>
              <a:t>模块与包</a:t>
            </a:r>
          </a:p>
        </p:txBody>
      </p:sp>
      <p:grpSp>
        <p:nvGrpSpPr>
          <p:cNvPr id="3" name="组合 42">
            <a:extLst>
              <a:ext uri="{FF2B5EF4-FFF2-40B4-BE49-F238E27FC236}">
                <a16:creationId xmlns:a16="http://schemas.microsoft.com/office/drawing/2014/main" id="{B2629F64-B617-9B5F-D81D-68F46060F35E}"/>
              </a:ext>
            </a:extLst>
          </p:cNvPr>
          <p:cNvGrpSpPr/>
          <p:nvPr/>
        </p:nvGrpSpPr>
        <p:grpSpPr>
          <a:xfrm>
            <a:off x="7209931" y="1206405"/>
            <a:ext cx="4244817" cy="4882708"/>
            <a:chOff x="6675983" y="1497028"/>
            <a:chExt cx="4244817" cy="4882708"/>
          </a:xfrm>
        </p:grpSpPr>
        <p:pic>
          <p:nvPicPr>
            <p:cNvPr id="4" name="图片 29">
              <a:extLst>
                <a:ext uri="{FF2B5EF4-FFF2-40B4-BE49-F238E27FC236}">
                  <a16:creationId xmlns:a16="http://schemas.microsoft.com/office/drawing/2014/main" id="{4DAA33A1-2DDD-7CC6-19B2-255648AC7F15}"/>
                </a:ext>
              </a:extLst>
            </p:cNvPr>
            <p:cNvPicPr>
              <a:picLocks noChangeAspect="1"/>
            </p:cNvPicPr>
            <p:nvPr/>
          </p:nvPicPr>
          <p:blipFill>
            <a:blip r:embed="rId2"/>
            <a:srcRect b="85075"/>
            <a:stretch/>
          </p:blipFill>
          <p:spPr>
            <a:xfrm>
              <a:off x="6697999" y="1497028"/>
              <a:ext cx="4222438" cy="764310"/>
            </a:xfrm>
            <a:prstGeom prst="rect">
              <a:avLst/>
            </a:prstGeom>
          </p:spPr>
        </p:pic>
        <p:pic>
          <p:nvPicPr>
            <p:cNvPr id="5" name="图片 33">
              <a:extLst>
                <a:ext uri="{FF2B5EF4-FFF2-40B4-BE49-F238E27FC236}">
                  <a16:creationId xmlns:a16="http://schemas.microsoft.com/office/drawing/2014/main" id="{050CB970-7305-D823-990A-A99BD6D8772D}"/>
                </a:ext>
              </a:extLst>
            </p:cNvPr>
            <p:cNvPicPr>
              <a:picLocks noChangeAspect="1"/>
            </p:cNvPicPr>
            <p:nvPr/>
          </p:nvPicPr>
          <p:blipFill>
            <a:blip r:embed="rId2"/>
            <a:srcRect t="14141" b="72571"/>
            <a:stretch/>
          </p:blipFill>
          <p:spPr>
            <a:xfrm>
              <a:off x="6698000" y="2428765"/>
              <a:ext cx="4222800" cy="680586"/>
            </a:xfrm>
            <a:prstGeom prst="rect">
              <a:avLst/>
            </a:prstGeom>
          </p:spPr>
        </p:pic>
        <p:pic>
          <p:nvPicPr>
            <p:cNvPr id="6" name="图片 37">
              <a:extLst>
                <a:ext uri="{FF2B5EF4-FFF2-40B4-BE49-F238E27FC236}">
                  <a16:creationId xmlns:a16="http://schemas.microsoft.com/office/drawing/2014/main" id="{30194835-52B7-1C30-05FB-1CDA9F9B9522}"/>
                </a:ext>
              </a:extLst>
            </p:cNvPr>
            <p:cNvPicPr>
              <a:picLocks noChangeAspect="1"/>
            </p:cNvPicPr>
            <p:nvPr/>
          </p:nvPicPr>
          <p:blipFill>
            <a:blip r:embed="rId2"/>
            <a:srcRect t="32901" b="43685"/>
            <a:stretch/>
          </p:blipFill>
          <p:spPr>
            <a:xfrm>
              <a:off x="6675983" y="3311875"/>
              <a:ext cx="4222800" cy="1199165"/>
            </a:xfrm>
            <a:prstGeom prst="rect">
              <a:avLst/>
            </a:prstGeom>
          </p:spPr>
        </p:pic>
        <p:pic>
          <p:nvPicPr>
            <p:cNvPr id="7" name="图片 39">
              <a:extLst>
                <a:ext uri="{FF2B5EF4-FFF2-40B4-BE49-F238E27FC236}">
                  <a16:creationId xmlns:a16="http://schemas.microsoft.com/office/drawing/2014/main" id="{0F56C1AA-094D-196D-0575-317BA1990325}"/>
                </a:ext>
              </a:extLst>
            </p:cNvPr>
            <p:cNvPicPr>
              <a:picLocks noChangeAspect="1"/>
            </p:cNvPicPr>
            <p:nvPr/>
          </p:nvPicPr>
          <p:blipFill>
            <a:blip r:embed="rId2"/>
            <a:srcRect t="55866" b="29378"/>
            <a:stretch/>
          </p:blipFill>
          <p:spPr>
            <a:xfrm>
              <a:off x="6675983" y="4713564"/>
              <a:ext cx="4222800" cy="755718"/>
            </a:xfrm>
            <a:prstGeom prst="rect">
              <a:avLst/>
            </a:prstGeom>
          </p:spPr>
        </p:pic>
        <p:pic>
          <p:nvPicPr>
            <p:cNvPr id="8" name="图片 41">
              <a:extLst>
                <a:ext uri="{FF2B5EF4-FFF2-40B4-BE49-F238E27FC236}">
                  <a16:creationId xmlns:a16="http://schemas.microsoft.com/office/drawing/2014/main" id="{18E0D227-93CE-ACB0-1557-A3CDA21AF829}"/>
                </a:ext>
              </a:extLst>
            </p:cNvPr>
            <p:cNvPicPr>
              <a:picLocks noChangeAspect="1"/>
            </p:cNvPicPr>
            <p:nvPr/>
          </p:nvPicPr>
          <p:blipFill>
            <a:blip r:embed="rId2"/>
            <a:srcRect t="74276" b="11426"/>
            <a:stretch/>
          </p:blipFill>
          <p:spPr>
            <a:xfrm>
              <a:off x="6675983" y="5647504"/>
              <a:ext cx="4222437" cy="732232"/>
            </a:xfrm>
            <a:prstGeom prst="rect">
              <a:avLst/>
            </a:prstGeom>
          </p:spPr>
        </p:pic>
      </p:grpSp>
      <p:sp>
        <p:nvSpPr>
          <p:cNvPr id="9" name="内容占位符 2">
            <a:extLst>
              <a:ext uri="{FF2B5EF4-FFF2-40B4-BE49-F238E27FC236}">
                <a16:creationId xmlns:a16="http://schemas.microsoft.com/office/drawing/2014/main" id="{7FEB5C61-1A5B-8DD5-D85B-B15153099CFE}"/>
              </a:ext>
            </a:extLst>
          </p:cNvPr>
          <p:cNvSpPr txBox="1">
            <a:spLocks/>
          </p:cNvSpPr>
          <p:nvPr/>
        </p:nvSpPr>
        <p:spPr>
          <a:xfrm>
            <a:off x="360000" y="973412"/>
            <a:ext cx="6849931" cy="5677517"/>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buFont typeface="Wingdings" pitchFamily="2" charset="2"/>
              <a:buChar char="n"/>
              <a:defRPr sz="2800" b="0" i="0" kern="1200">
                <a:solidFill>
                  <a:schemeClr val="tx1"/>
                </a:solidFill>
                <a:latin typeface="Lantinghei SC Extralight" panose="02000000000000000000" pitchFamily="2" charset="-122"/>
                <a:ea typeface="Lantinghei SC Extralight" panose="02000000000000000000" pitchFamily="2" charset="-122"/>
                <a:cs typeface="+mn-cs"/>
              </a:defRPr>
            </a:lvl1pPr>
            <a:lvl2pPr marL="685800" indent="-228600" algn="l" defTabSz="914400" rtl="0" eaLnBrk="1" latinLnBrk="0" hangingPunct="1">
              <a:lnSpc>
                <a:spcPct val="100000"/>
              </a:lnSpc>
              <a:spcBef>
                <a:spcPts val="500"/>
              </a:spcBef>
              <a:buFont typeface="Wingdings" pitchFamily="2" charset="2"/>
              <a:buChar char="n"/>
              <a:defRPr sz="2400" b="0" i="0" kern="1200">
                <a:solidFill>
                  <a:schemeClr val="tx1"/>
                </a:solidFill>
                <a:latin typeface="Lantinghei SC Extralight" panose="02000000000000000000" pitchFamily="2" charset="-122"/>
                <a:ea typeface="Lantinghei SC Extralight" panose="02000000000000000000" pitchFamily="2" charset="-122"/>
                <a:cs typeface="+mn-cs"/>
              </a:defRPr>
            </a:lvl2pPr>
            <a:lvl3pPr marL="1143000" indent="-228600" algn="l" defTabSz="914400" rtl="0" eaLnBrk="1" latinLnBrk="0" hangingPunct="1">
              <a:lnSpc>
                <a:spcPct val="100000"/>
              </a:lnSpc>
              <a:spcBef>
                <a:spcPts val="500"/>
              </a:spcBef>
              <a:buFont typeface="Wingdings" pitchFamily="2" charset="2"/>
              <a:buChar char="n"/>
              <a:defRPr sz="2000" kern="1200">
                <a:solidFill>
                  <a:schemeClr val="tx1"/>
                </a:solidFill>
                <a:latin typeface="KaiTi" panose="02010609060101010101" pitchFamily="49" charset="-122"/>
                <a:ea typeface="KaiTi" panose="02010609060101010101" pitchFamily="49" charset="-122"/>
                <a:cs typeface="+mn-cs"/>
              </a:defRPr>
            </a:lvl3pPr>
            <a:lvl4pPr marL="1600200" indent="-228600" algn="l" defTabSz="914400" rtl="0" eaLnBrk="1" latinLnBrk="0" hangingPunct="1">
              <a:lnSpc>
                <a:spcPct val="100000"/>
              </a:lnSpc>
              <a:spcBef>
                <a:spcPts val="500"/>
              </a:spcBef>
              <a:buFont typeface="Wingdings" pitchFamily="2" charset="2"/>
              <a:buChar char="n"/>
              <a:defRPr sz="1800" kern="1200">
                <a:solidFill>
                  <a:schemeClr val="tx1"/>
                </a:solidFill>
                <a:latin typeface="KaiTi" panose="02010609060101010101" pitchFamily="49" charset="-122"/>
                <a:ea typeface="KaiTi" panose="02010609060101010101" pitchFamily="49" charset="-122"/>
                <a:cs typeface="+mn-cs"/>
              </a:defRPr>
            </a:lvl4pPr>
            <a:lvl5pPr marL="2057400" indent="-228600" algn="l" defTabSz="914400" rtl="0" eaLnBrk="1" latinLnBrk="0" hangingPunct="1">
              <a:lnSpc>
                <a:spcPct val="100000"/>
              </a:lnSpc>
              <a:spcBef>
                <a:spcPts val="500"/>
              </a:spcBef>
              <a:buFont typeface="Wingdings" pitchFamily="2" charset="2"/>
              <a:buChar char="n"/>
              <a:defRPr sz="1800" kern="1200">
                <a:solidFill>
                  <a:schemeClr val="tx1"/>
                </a:solidFill>
                <a:latin typeface="KaiTi" panose="02010609060101010101" pitchFamily="49" charset="-122"/>
                <a:ea typeface="KaiTi"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itchFamily="2" charset="2"/>
              <a:buChar char="p"/>
            </a:pPr>
            <a:r>
              <a:rPr lang="zh-CN" altLang="en-US" sz="2000" i="0" dirty="0">
                <a:solidFill>
                  <a:srgbClr val="333333"/>
                </a:solidFill>
                <a:effectLst/>
                <a:latin typeface="Microsoft YaHei" panose="020B0503020204020204" pitchFamily="34" charset="-122"/>
                <a:ea typeface="Microsoft YaHei" panose="020B0503020204020204" pitchFamily="34" charset="-122"/>
              </a:rPr>
              <a:t>模块：</a:t>
            </a:r>
            <a:r>
              <a:rPr lang="zh-CN" altLang="en-US" sz="2000" b="0" i="0" dirty="0">
                <a:solidFill>
                  <a:srgbClr val="333333"/>
                </a:solidFill>
                <a:effectLst/>
                <a:latin typeface="Microsoft YaHei" panose="020B0503020204020204" pitchFamily="34" charset="-122"/>
                <a:ea typeface="Microsoft YaHei" panose="020B0503020204020204" pitchFamily="34" charset="-122"/>
              </a:rPr>
              <a:t>包含</a:t>
            </a:r>
            <a:r>
              <a:rPr lang="en" altLang="zh-CN" sz="2000" b="0" i="0" dirty="0">
                <a:solidFill>
                  <a:srgbClr val="333333"/>
                </a:solidFill>
                <a:effectLst/>
                <a:latin typeface="Microsoft YaHei" panose="020B0503020204020204" pitchFamily="34" charset="-122"/>
                <a:ea typeface="Microsoft YaHei" panose="020B0503020204020204" pitchFamily="34" charset="-122"/>
              </a:rPr>
              <a:t>Python</a:t>
            </a:r>
            <a:r>
              <a:rPr lang="zh-CN" altLang="en-US" sz="2000" b="0" i="0" dirty="0">
                <a:solidFill>
                  <a:srgbClr val="333333"/>
                </a:solidFill>
                <a:effectLst/>
                <a:latin typeface="Microsoft YaHei" panose="020B0503020204020204" pitchFamily="34" charset="-122"/>
                <a:ea typeface="Microsoft YaHei" panose="020B0503020204020204" pitchFamily="34" charset="-122"/>
              </a:rPr>
              <a:t>代码的文件</a:t>
            </a:r>
            <a:endParaRPr lang="en-US" altLang="zh-CN" sz="2000" b="0" i="0" dirty="0">
              <a:solidFill>
                <a:srgbClr val="333333"/>
              </a:solidFill>
              <a:effectLst/>
              <a:latin typeface="Microsoft YaHei" panose="020B0503020204020204" pitchFamily="34" charset="-122"/>
              <a:ea typeface="Microsoft YaHei" panose="020B0503020204020204" pitchFamily="34" charset="-122"/>
            </a:endParaRPr>
          </a:p>
          <a:p>
            <a:pPr>
              <a:lnSpc>
                <a:spcPct val="120000"/>
              </a:lnSpc>
              <a:buFont typeface="Wingdings" pitchFamily="2" charset="2"/>
              <a:buChar char="p"/>
            </a:pPr>
            <a:r>
              <a:rPr lang="zh-CN" altLang="en-US" sz="2000" i="0" dirty="0">
                <a:solidFill>
                  <a:srgbClr val="333333"/>
                </a:solidFill>
                <a:effectLst/>
                <a:latin typeface="Microsoft YaHei" panose="020B0503020204020204" pitchFamily="34" charset="-122"/>
                <a:ea typeface="Microsoft YaHei" panose="020B0503020204020204" pitchFamily="34" charset="-122"/>
              </a:rPr>
              <a:t>包：</a:t>
            </a:r>
            <a:r>
              <a:rPr lang="zh-CN" altLang="en-US" sz="2000" b="0" i="0" dirty="0">
                <a:solidFill>
                  <a:srgbClr val="333333"/>
                </a:solidFill>
                <a:effectLst/>
                <a:latin typeface="Microsoft YaHei" panose="020B0503020204020204" pitchFamily="34" charset="-122"/>
                <a:ea typeface="Microsoft YaHei" panose="020B0503020204020204" pitchFamily="34" charset="-122"/>
              </a:rPr>
              <a:t>包含多个模块的文件夹</a:t>
            </a:r>
            <a:endParaRPr lang="en-US" altLang="zh-CN" sz="2000" b="0" i="0" dirty="0">
              <a:solidFill>
                <a:srgbClr val="333333"/>
              </a:solidFill>
              <a:effectLst/>
              <a:latin typeface="Microsoft YaHei" panose="020B0503020204020204" pitchFamily="34" charset="-122"/>
              <a:ea typeface="Microsoft YaHei" panose="020B0503020204020204" pitchFamily="34" charset="-122"/>
            </a:endParaRPr>
          </a:p>
          <a:p>
            <a:pPr>
              <a:lnSpc>
                <a:spcPct val="120000"/>
              </a:lnSpc>
              <a:buFont typeface="Wingdings" pitchFamily="2" charset="2"/>
              <a:buChar char="p"/>
            </a:pPr>
            <a:r>
              <a:rPr lang="zh-CN" altLang="en-US" sz="2000" dirty="0">
                <a:solidFill>
                  <a:srgbClr val="333333"/>
                </a:solidFill>
                <a:latin typeface="Microsoft YaHei" panose="020B0503020204020204" pitchFamily="34" charset="-122"/>
                <a:ea typeface="Microsoft YaHei" panose="020B0503020204020204" pitchFamily="34" charset="-122"/>
              </a:rPr>
              <a:t>导入模块的方法</a:t>
            </a:r>
            <a:endParaRPr lang="en-US" altLang="zh-CN" sz="2000" dirty="0">
              <a:solidFill>
                <a:srgbClr val="333333"/>
              </a:solidFill>
              <a:latin typeface="Microsoft YaHei" panose="020B0503020204020204" pitchFamily="34" charset="-122"/>
              <a:ea typeface="Microsoft YaHei" panose="020B0503020204020204" pitchFamily="34" charset="-122"/>
            </a:endParaRPr>
          </a:p>
          <a:p>
            <a:pPr lvl="1">
              <a:lnSpc>
                <a:spcPct val="120000"/>
              </a:lnSpc>
              <a:buFont typeface="Wingdings" pitchFamily="2" charset="2"/>
              <a:buChar char="p"/>
            </a:pPr>
            <a:r>
              <a:rPr lang="en" altLang="zh-CN" sz="1800" dirty="0">
                <a:solidFill>
                  <a:srgbClr val="333333"/>
                </a:solidFill>
                <a:latin typeface="Microsoft YaHei" panose="020B0503020204020204" pitchFamily="34" charset="-122"/>
                <a:ea typeface="Microsoft YaHei" panose="020B0503020204020204" pitchFamily="34" charset="-122"/>
              </a:rPr>
              <a:t>import </a:t>
            </a:r>
            <a:r>
              <a:rPr lang="zh-CN" altLang="en-US" sz="1800" dirty="0">
                <a:solidFill>
                  <a:srgbClr val="333333"/>
                </a:solidFill>
                <a:latin typeface="Microsoft YaHei" panose="020B0503020204020204" pitchFamily="34" charset="-122"/>
                <a:ea typeface="Microsoft YaHei" panose="020B0503020204020204" pitchFamily="34" charset="-122"/>
              </a:rPr>
              <a:t>模块名</a:t>
            </a:r>
          </a:p>
          <a:p>
            <a:pPr lvl="1">
              <a:lnSpc>
                <a:spcPct val="120000"/>
              </a:lnSpc>
              <a:buFont typeface="Wingdings" pitchFamily="2" charset="2"/>
              <a:buChar char="p"/>
            </a:pPr>
            <a:r>
              <a:rPr lang="en" altLang="zh-CN" sz="1800" dirty="0">
                <a:solidFill>
                  <a:srgbClr val="333333"/>
                </a:solidFill>
                <a:latin typeface="Microsoft YaHei" panose="020B0503020204020204" pitchFamily="34" charset="-122"/>
                <a:ea typeface="Microsoft YaHei" panose="020B0503020204020204" pitchFamily="34" charset="-122"/>
              </a:rPr>
              <a:t>from </a:t>
            </a:r>
            <a:r>
              <a:rPr lang="zh-CN" altLang="en-US" sz="1800" dirty="0">
                <a:solidFill>
                  <a:srgbClr val="333333"/>
                </a:solidFill>
                <a:latin typeface="Microsoft YaHei" panose="020B0503020204020204" pitchFamily="34" charset="-122"/>
                <a:ea typeface="Microsoft YaHei" panose="020B0503020204020204" pitchFamily="34" charset="-122"/>
              </a:rPr>
              <a:t>模块名 </a:t>
            </a:r>
            <a:r>
              <a:rPr lang="en" altLang="zh-CN" sz="1800" dirty="0">
                <a:solidFill>
                  <a:srgbClr val="333333"/>
                </a:solidFill>
                <a:latin typeface="Microsoft YaHei" panose="020B0503020204020204" pitchFamily="34" charset="-122"/>
                <a:ea typeface="Microsoft YaHei" panose="020B0503020204020204" pitchFamily="34" charset="-122"/>
              </a:rPr>
              <a:t>import </a:t>
            </a:r>
            <a:r>
              <a:rPr lang="zh-CN" altLang="en-US" sz="1800" dirty="0">
                <a:solidFill>
                  <a:srgbClr val="333333"/>
                </a:solidFill>
                <a:latin typeface="Microsoft YaHei" panose="020B0503020204020204" pitchFamily="34" charset="-122"/>
                <a:ea typeface="Microsoft YaHei" panose="020B0503020204020204" pitchFamily="34" charset="-122"/>
              </a:rPr>
              <a:t>功能名</a:t>
            </a:r>
          </a:p>
          <a:p>
            <a:pPr lvl="1">
              <a:lnSpc>
                <a:spcPct val="120000"/>
              </a:lnSpc>
              <a:buFont typeface="Wingdings" pitchFamily="2" charset="2"/>
              <a:buChar char="p"/>
            </a:pPr>
            <a:r>
              <a:rPr lang="en" altLang="zh-CN" sz="1800" dirty="0">
                <a:solidFill>
                  <a:srgbClr val="333333"/>
                </a:solidFill>
                <a:latin typeface="Microsoft YaHei" panose="020B0503020204020204" pitchFamily="34" charset="-122"/>
                <a:ea typeface="Microsoft YaHei" panose="020B0503020204020204" pitchFamily="34" charset="-122"/>
              </a:rPr>
              <a:t>from </a:t>
            </a:r>
            <a:r>
              <a:rPr lang="zh-CN" altLang="en-US" sz="1800" dirty="0">
                <a:solidFill>
                  <a:srgbClr val="333333"/>
                </a:solidFill>
                <a:latin typeface="Microsoft YaHei" panose="020B0503020204020204" pitchFamily="34" charset="-122"/>
                <a:ea typeface="Microsoft YaHei" panose="020B0503020204020204" pitchFamily="34" charset="-122"/>
              </a:rPr>
              <a:t>模块名 </a:t>
            </a:r>
            <a:r>
              <a:rPr lang="en" altLang="zh-CN" sz="1800" dirty="0">
                <a:solidFill>
                  <a:srgbClr val="333333"/>
                </a:solidFill>
                <a:latin typeface="Microsoft YaHei" panose="020B0503020204020204" pitchFamily="34" charset="-122"/>
                <a:ea typeface="Microsoft YaHei" panose="020B0503020204020204" pitchFamily="34" charset="-122"/>
              </a:rPr>
              <a:t>import *</a:t>
            </a:r>
          </a:p>
          <a:p>
            <a:pPr lvl="1">
              <a:lnSpc>
                <a:spcPct val="120000"/>
              </a:lnSpc>
              <a:buFont typeface="Wingdings" pitchFamily="2" charset="2"/>
              <a:buChar char="p"/>
            </a:pPr>
            <a:r>
              <a:rPr lang="en" altLang="zh-CN" sz="1800" dirty="0">
                <a:solidFill>
                  <a:srgbClr val="333333"/>
                </a:solidFill>
                <a:latin typeface="Microsoft YaHei" panose="020B0503020204020204" pitchFamily="34" charset="-122"/>
                <a:ea typeface="Microsoft YaHei" panose="020B0503020204020204" pitchFamily="34" charset="-122"/>
              </a:rPr>
              <a:t>import </a:t>
            </a:r>
            <a:r>
              <a:rPr lang="zh-CN" altLang="en-US" sz="1800" dirty="0">
                <a:solidFill>
                  <a:srgbClr val="333333"/>
                </a:solidFill>
                <a:latin typeface="Microsoft YaHei" panose="020B0503020204020204" pitchFamily="34" charset="-122"/>
                <a:ea typeface="Microsoft YaHei" panose="020B0503020204020204" pitchFamily="34" charset="-122"/>
              </a:rPr>
              <a:t>模块名 </a:t>
            </a:r>
            <a:r>
              <a:rPr lang="en" altLang="zh-CN" sz="1800" dirty="0">
                <a:solidFill>
                  <a:srgbClr val="333333"/>
                </a:solidFill>
                <a:latin typeface="Microsoft YaHei" panose="020B0503020204020204" pitchFamily="34" charset="-122"/>
                <a:ea typeface="Microsoft YaHei" panose="020B0503020204020204" pitchFamily="34" charset="-122"/>
              </a:rPr>
              <a:t>as </a:t>
            </a:r>
            <a:r>
              <a:rPr lang="zh-CN" altLang="en-US" sz="1800" dirty="0">
                <a:solidFill>
                  <a:srgbClr val="333333"/>
                </a:solidFill>
                <a:latin typeface="Microsoft YaHei" panose="020B0503020204020204" pitchFamily="34" charset="-122"/>
                <a:ea typeface="Microsoft YaHei" panose="020B0503020204020204" pitchFamily="34" charset="-122"/>
              </a:rPr>
              <a:t>别名</a:t>
            </a:r>
          </a:p>
          <a:p>
            <a:pPr lvl="1">
              <a:lnSpc>
                <a:spcPct val="120000"/>
              </a:lnSpc>
              <a:buFont typeface="Wingdings" pitchFamily="2" charset="2"/>
              <a:buChar char="p"/>
            </a:pPr>
            <a:r>
              <a:rPr lang="en" altLang="zh-CN" sz="1800" dirty="0">
                <a:solidFill>
                  <a:srgbClr val="333333"/>
                </a:solidFill>
                <a:latin typeface="Microsoft YaHei" panose="020B0503020204020204" pitchFamily="34" charset="-122"/>
                <a:ea typeface="Microsoft YaHei" panose="020B0503020204020204" pitchFamily="34" charset="-122"/>
              </a:rPr>
              <a:t>from </a:t>
            </a:r>
            <a:r>
              <a:rPr lang="zh-CN" altLang="en-US" sz="1800" dirty="0">
                <a:solidFill>
                  <a:srgbClr val="333333"/>
                </a:solidFill>
                <a:latin typeface="Microsoft YaHei" panose="020B0503020204020204" pitchFamily="34" charset="-122"/>
                <a:ea typeface="Microsoft YaHei" panose="020B0503020204020204" pitchFamily="34" charset="-122"/>
              </a:rPr>
              <a:t>模块名 </a:t>
            </a:r>
            <a:r>
              <a:rPr lang="en" altLang="zh-CN" sz="1800" dirty="0">
                <a:solidFill>
                  <a:srgbClr val="333333"/>
                </a:solidFill>
                <a:latin typeface="Microsoft YaHei" panose="020B0503020204020204" pitchFamily="34" charset="-122"/>
                <a:ea typeface="Microsoft YaHei" panose="020B0503020204020204" pitchFamily="34" charset="-122"/>
              </a:rPr>
              <a:t>import </a:t>
            </a:r>
            <a:r>
              <a:rPr lang="zh-CN" altLang="en-US" sz="1800" dirty="0">
                <a:solidFill>
                  <a:srgbClr val="333333"/>
                </a:solidFill>
                <a:latin typeface="Microsoft YaHei" panose="020B0503020204020204" pitchFamily="34" charset="-122"/>
                <a:ea typeface="Microsoft YaHei" panose="020B0503020204020204" pitchFamily="34" charset="-122"/>
              </a:rPr>
              <a:t>功能名 </a:t>
            </a:r>
            <a:r>
              <a:rPr lang="en" altLang="zh-CN" sz="1800" dirty="0">
                <a:solidFill>
                  <a:srgbClr val="333333"/>
                </a:solidFill>
                <a:latin typeface="Microsoft YaHei" panose="020B0503020204020204" pitchFamily="34" charset="-122"/>
                <a:ea typeface="Microsoft YaHei" panose="020B0503020204020204" pitchFamily="34" charset="-122"/>
              </a:rPr>
              <a:t>as </a:t>
            </a:r>
            <a:r>
              <a:rPr lang="zh-CN" altLang="en-US" sz="1800" dirty="0">
                <a:solidFill>
                  <a:srgbClr val="333333"/>
                </a:solidFill>
                <a:latin typeface="Microsoft YaHei" panose="020B0503020204020204" pitchFamily="34" charset="-122"/>
                <a:ea typeface="Microsoft YaHei" panose="020B0503020204020204" pitchFamily="34" charset="-122"/>
              </a:rPr>
              <a:t>别名</a:t>
            </a:r>
            <a:endParaRPr lang="en-US" altLang="zh-CN" sz="1800" dirty="0">
              <a:solidFill>
                <a:srgbClr val="333333"/>
              </a:solidFill>
              <a:latin typeface="Microsoft YaHei" panose="020B0503020204020204" pitchFamily="34" charset="-122"/>
              <a:ea typeface="Microsoft YaHei" panose="020B0503020204020204" pitchFamily="34" charset="-122"/>
            </a:endParaRPr>
          </a:p>
          <a:p>
            <a:pPr>
              <a:lnSpc>
                <a:spcPct val="120000"/>
              </a:lnSpc>
              <a:buFont typeface="Wingdings" pitchFamily="2" charset="2"/>
              <a:buChar char="p"/>
            </a:pPr>
            <a:r>
              <a:rPr lang="zh-CN" altLang="en-US" sz="2000" dirty="0">
                <a:solidFill>
                  <a:srgbClr val="333333"/>
                </a:solidFill>
                <a:latin typeface="Microsoft YaHei" panose="020B0503020204020204" pitchFamily="34" charset="-122"/>
                <a:ea typeface="Microsoft YaHei" panose="020B0503020204020204" pitchFamily="34" charset="-122"/>
              </a:rPr>
              <a:t>导入包的方法</a:t>
            </a:r>
            <a:endParaRPr lang="en-US" altLang="zh-CN" sz="2000" dirty="0">
              <a:solidFill>
                <a:srgbClr val="333333"/>
              </a:solidFill>
              <a:latin typeface="Microsoft YaHei" panose="020B0503020204020204" pitchFamily="34" charset="-122"/>
              <a:ea typeface="Microsoft YaHei" panose="020B0503020204020204" pitchFamily="34" charset="-122"/>
            </a:endParaRPr>
          </a:p>
          <a:p>
            <a:pPr lvl="1">
              <a:lnSpc>
                <a:spcPct val="120000"/>
              </a:lnSpc>
              <a:buFont typeface="Wingdings" pitchFamily="2" charset="2"/>
              <a:buChar char="p"/>
            </a:pPr>
            <a:r>
              <a:rPr lang="en-US" altLang="zh-CN" sz="1800" dirty="0">
                <a:solidFill>
                  <a:srgbClr val="333333"/>
                </a:solidFill>
                <a:latin typeface="Microsoft YaHei" panose="020B0503020204020204" pitchFamily="34" charset="-122"/>
                <a:ea typeface="Microsoft YaHei" panose="020B0503020204020204" pitchFamily="34" charset="-122"/>
              </a:rPr>
              <a:t>import package    # </a:t>
            </a:r>
            <a:r>
              <a:rPr lang="zh-CN" altLang="zh-CN" sz="1800" dirty="0">
                <a:solidFill>
                  <a:srgbClr val="333333"/>
                </a:solidFill>
                <a:latin typeface="Microsoft YaHei" panose="020B0503020204020204" pitchFamily="34" charset="-122"/>
                <a:ea typeface="Microsoft YaHei" panose="020B0503020204020204" pitchFamily="34" charset="-122"/>
              </a:rPr>
              <a:t>导入整个包</a:t>
            </a:r>
          </a:p>
          <a:p>
            <a:pPr lvl="1">
              <a:lnSpc>
                <a:spcPct val="120000"/>
              </a:lnSpc>
              <a:buFont typeface="Wingdings" pitchFamily="2" charset="2"/>
              <a:buChar char="p"/>
            </a:pPr>
            <a:r>
              <a:rPr lang="en-US" altLang="zh-CN" sz="1800" dirty="0">
                <a:solidFill>
                  <a:srgbClr val="333333"/>
                </a:solidFill>
                <a:latin typeface="Microsoft YaHei" panose="020B0503020204020204" pitchFamily="34" charset="-122"/>
                <a:ea typeface="Microsoft YaHei" panose="020B0503020204020204" pitchFamily="34" charset="-122"/>
              </a:rPr>
              <a:t>import package.module1    # </a:t>
            </a:r>
            <a:r>
              <a:rPr lang="zh-CN" altLang="zh-CN" sz="1800" dirty="0">
                <a:solidFill>
                  <a:srgbClr val="333333"/>
                </a:solidFill>
                <a:latin typeface="Microsoft YaHei" panose="020B0503020204020204" pitchFamily="34" charset="-122"/>
                <a:ea typeface="Microsoft YaHei" panose="020B0503020204020204" pitchFamily="34" charset="-122"/>
              </a:rPr>
              <a:t>导入包中的模块</a:t>
            </a:r>
          </a:p>
          <a:p>
            <a:pPr lvl="1">
              <a:lnSpc>
                <a:spcPct val="120000"/>
              </a:lnSpc>
              <a:buFont typeface="Wingdings" pitchFamily="2" charset="2"/>
              <a:buChar char="p"/>
            </a:pPr>
            <a:r>
              <a:rPr lang="en-US" altLang="zh-CN" sz="1800" dirty="0">
                <a:solidFill>
                  <a:srgbClr val="333333"/>
                </a:solidFill>
                <a:latin typeface="Microsoft YaHei" panose="020B0503020204020204" pitchFamily="34" charset="-122"/>
                <a:ea typeface="Microsoft YaHei" panose="020B0503020204020204" pitchFamily="34" charset="-122"/>
              </a:rPr>
              <a:t>from package.module1 import function    # </a:t>
            </a:r>
            <a:r>
              <a:rPr lang="zh-CN" altLang="zh-CN" sz="1800" dirty="0">
                <a:solidFill>
                  <a:srgbClr val="333333"/>
                </a:solidFill>
                <a:latin typeface="Microsoft YaHei" panose="020B0503020204020204" pitchFamily="34" charset="-122"/>
                <a:ea typeface="Microsoft YaHei" panose="020B0503020204020204" pitchFamily="34" charset="-122"/>
              </a:rPr>
              <a:t>从包中的模块导入特定功能</a:t>
            </a:r>
            <a:endParaRPr lang="zh-CN" altLang="en-US" sz="1800" dirty="0">
              <a:solidFill>
                <a:srgbClr val="333333"/>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316815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a:t>
            </a:r>
            <a:r>
              <a:rPr lang="zh-CN" altLang="en-US" dirty="0"/>
              <a:t> </a:t>
            </a:r>
            <a:r>
              <a:rPr lang="en-US" altLang="zh-CN" dirty="0"/>
              <a:t>Python</a:t>
            </a:r>
            <a:r>
              <a:rPr lang="zh-CN" altLang="en-US" dirty="0"/>
              <a:t>高级语法</a:t>
            </a:r>
            <a:r>
              <a:rPr lang="en-US" altLang="zh-CN" dirty="0"/>
              <a:t>——class</a:t>
            </a:r>
            <a:r>
              <a:rPr lang="zh-CN" altLang="en-US" dirty="0"/>
              <a:t>举例</a:t>
            </a:r>
          </a:p>
        </p:txBody>
      </p:sp>
      <p:pic>
        <p:nvPicPr>
          <p:cNvPr id="3" name="图片 5">
            <a:extLst>
              <a:ext uri="{FF2B5EF4-FFF2-40B4-BE49-F238E27FC236}">
                <a16:creationId xmlns:a16="http://schemas.microsoft.com/office/drawing/2014/main" id="{96EFFF30-4EF2-04E7-5832-32FDEE30B812}"/>
              </a:ext>
            </a:extLst>
          </p:cNvPr>
          <p:cNvPicPr>
            <a:picLocks noChangeAspect="1"/>
          </p:cNvPicPr>
          <p:nvPr/>
        </p:nvPicPr>
        <p:blipFill>
          <a:blip r:embed="rId2"/>
          <a:stretch>
            <a:fillRect/>
          </a:stretch>
        </p:blipFill>
        <p:spPr>
          <a:xfrm>
            <a:off x="265731" y="3515250"/>
            <a:ext cx="6773877" cy="2753609"/>
          </a:xfrm>
          <a:prstGeom prst="rect">
            <a:avLst/>
          </a:prstGeom>
        </p:spPr>
      </p:pic>
      <p:sp>
        <p:nvSpPr>
          <p:cNvPr id="4" name="文本框 6">
            <a:extLst>
              <a:ext uri="{FF2B5EF4-FFF2-40B4-BE49-F238E27FC236}">
                <a16:creationId xmlns:a16="http://schemas.microsoft.com/office/drawing/2014/main" id="{58C03E16-A836-1A7A-552A-A847F7ECAF3D}"/>
              </a:ext>
            </a:extLst>
          </p:cNvPr>
          <p:cNvSpPr txBox="1"/>
          <p:nvPr/>
        </p:nvSpPr>
        <p:spPr>
          <a:xfrm>
            <a:off x="265731" y="920011"/>
            <a:ext cx="6675800" cy="2135969"/>
          </a:xfrm>
          <a:prstGeom prst="rect">
            <a:avLst/>
          </a:prstGeom>
          <a:noFill/>
        </p:spPr>
        <p:txBody>
          <a:bodyPr wrap="square" rtlCol="0">
            <a:spAutoFit/>
          </a:bodyPr>
          <a:lstStyle/>
          <a:p>
            <a:pPr marL="342900" indent="-342900" algn="l">
              <a:buFont typeface="Wingdings" pitchFamily="2" charset="2"/>
              <a:buChar char="p"/>
            </a:pPr>
            <a:r>
              <a:rPr lang="zh-CN" altLang="en-US" sz="2800" dirty="0">
                <a:effectLst/>
                <a:latin typeface="Microsoft YaHei" panose="020B0503020204020204" pitchFamily="34" charset="-122"/>
                <a:ea typeface="Microsoft YaHei" panose="020B0503020204020204" pitchFamily="34" charset="-122"/>
              </a:rPr>
              <a:t>使用 </a:t>
            </a:r>
            <a:r>
              <a:rPr lang="en" altLang="zh-CN" sz="2800" dirty="0">
                <a:effectLst/>
                <a:latin typeface="Microsoft YaHei" panose="020B0503020204020204" pitchFamily="34" charset="-122"/>
                <a:ea typeface="Microsoft YaHei" panose="020B0503020204020204" pitchFamily="34" charset="-122"/>
              </a:rPr>
              <a:t>class </a:t>
            </a:r>
            <a:r>
              <a:rPr lang="zh-CN" altLang="en-US" sz="2800" dirty="0">
                <a:effectLst/>
                <a:latin typeface="Microsoft YaHei" panose="020B0503020204020204" pitchFamily="34" charset="-122"/>
                <a:ea typeface="Microsoft YaHei" panose="020B0503020204020204" pitchFamily="34" charset="-122"/>
              </a:rPr>
              <a:t>语句来创建一个新类，</a:t>
            </a:r>
            <a:r>
              <a:rPr lang="en" altLang="zh-CN" sz="2800" dirty="0">
                <a:effectLst/>
                <a:latin typeface="Microsoft YaHei" panose="020B0503020204020204" pitchFamily="34" charset="-122"/>
                <a:ea typeface="Microsoft YaHei" panose="020B0503020204020204" pitchFamily="34" charset="-122"/>
              </a:rPr>
              <a:t>class </a:t>
            </a:r>
            <a:r>
              <a:rPr lang="zh-CN" altLang="en-US" sz="2800" dirty="0">
                <a:effectLst/>
                <a:latin typeface="Microsoft YaHei" panose="020B0503020204020204" pitchFamily="34" charset="-122"/>
                <a:ea typeface="Microsoft YaHei" panose="020B0503020204020204" pitchFamily="34" charset="-122"/>
              </a:rPr>
              <a:t>之后为类的名称并以冒号结尾。</a:t>
            </a:r>
            <a:endParaRPr lang="en-US" altLang="zh-CN" sz="2800" dirty="0">
              <a:effectLst/>
              <a:latin typeface="Microsoft YaHei" panose="020B0503020204020204" pitchFamily="34" charset="-122"/>
              <a:ea typeface="Microsoft YaHei" panose="020B0503020204020204" pitchFamily="34" charset="-122"/>
            </a:endParaRPr>
          </a:p>
          <a:p>
            <a:pPr lvl="1">
              <a:lnSpc>
                <a:spcPct val="120000"/>
              </a:lnSpc>
            </a:pPr>
            <a:r>
              <a:rPr lang="en" altLang="zh-CN" sz="2400" dirty="0">
                <a:solidFill>
                  <a:srgbClr val="55859B"/>
                </a:solidFill>
                <a:effectLst/>
                <a:latin typeface="Microsoft YaHei" panose="020B0503020204020204" pitchFamily="34" charset="-122"/>
                <a:ea typeface="Microsoft YaHei" panose="020B0503020204020204" pitchFamily="34" charset="-122"/>
              </a:rPr>
              <a:t>class</a:t>
            </a:r>
            <a:r>
              <a:rPr lang="en" altLang="zh-CN" sz="2400" dirty="0">
                <a:solidFill>
                  <a:srgbClr val="171C19"/>
                </a:solidFill>
                <a:effectLst/>
                <a:latin typeface="Microsoft YaHei" panose="020B0503020204020204" pitchFamily="34" charset="-122"/>
                <a:ea typeface="Microsoft YaHei" panose="020B0503020204020204" pitchFamily="34" charset="-122"/>
              </a:rPr>
              <a:t> </a:t>
            </a:r>
            <a:r>
              <a:rPr lang="en" altLang="zh-CN" sz="2400" dirty="0" err="1">
                <a:solidFill>
                  <a:srgbClr val="478C90"/>
                </a:solidFill>
                <a:effectLst/>
                <a:latin typeface="Microsoft YaHei" panose="020B0503020204020204" pitchFamily="34" charset="-122"/>
                <a:ea typeface="Microsoft YaHei" panose="020B0503020204020204" pitchFamily="34" charset="-122"/>
              </a:rPr>
              <a:t>ClassName</a:t>
            </a:r>
            <a:r>
              <a:rPr lang="en" altLang="zh-CN" sz="2400" dirty="0">
                <a:solidFill>
                  <a:srgbClr val="171C19"/>
                </a:solidFill>
                <a:effectLst/>
                <a:latin typeface="Microsoft YaHei" panose="020B0503020204020204" pitchFamily="34" charset="-122"/>
                <a:ea typeface="Microsoft YaHei" panose="020B0503020204020204" pitchFamily="34" charset="-122"/>
              </a:rPr>
              <a:t>: </a:t>
            </a:r>
          </a:p>
          <a:p>
            <a:pPr lvl="1"/>
            <a:r>
              <a:rPr lang="zh-CN" altLang="en-US" sz="2400" dirty="0">
                <a:solidFill>
                  <a:srgbClr val="489963"/>
                </a:solidFill>
                <a:effectLst/>
                <a:latin typeface="Microsoft YaHei" panose="020B0503020204020204" pitchFamily="34" charset="-122"/>
                <a:ea typeface="Microsoft YaHei" panose="020B0503020204020204" pitchFamily="34" charset="-122"/>
              </a:rPr>
              <a:t>    </a:t>
            </a:r>
            <a:r>
              <a:rPr lang="en" altLang="zh-CN" sz="2400" dirty="0">
                <a:solidFill>
                  <a:srgbClr val="489963"/>
                </a:solidFill>
                <a:effectLst/>
                <a:latin typeface="Microsoft YaHei" panose="020B0503020204020204" pitchFamily="34" charset="-122"/>
                <a:ea typeface="Microsoft YaHei" panose="020B0503020204020204" pitchFamily="34" charset="-122"/>
              </a:rPr>
              <a:t>'</a:t>
            </a:r>
            <a:r>
              <a:rPr lang="zh-CN" altLang="en-US" sz="2400" dirty="0">
                <a:solidFill>
                  <a:srgbClr val="489963"/>
                </a:solidFill>
                <a:effectLst/>
                <a:latin typeface="Microsoft YaHei" panose="020B0503020204020204" pitchFamily="34" charset="-122"/>
                <a:ea typeface="Microsoft YaHei" panose="020B0503020204020204" pitchFamily="34" charset="-122"/>
              </a:rPr>
              <a:t>类的帮助信息</a:t>
            </a:r>
            <a:r>
              <a:rPr lang="en-US" altLang="zh-CN" sz="2400" dirty="0">
                <a:solidFill>
                  <a:srgbClr val="489963"/>
                </a:solidFill>
                <a:effectLst/>
                <a:latin typeface="Microsoft YaHei" panose="020B0503020204020204" pitchFamily="34" charset="-122"/>
                <a:ea typeface="Microsoft YaHei" panose="020B0503020204020204" pitchFamily="34" charset="-122"/>
              </a:rPr>
              <a:t>'</a:t>
            </a:r>
            <a:r>
              <a:rPr lang="zh-CN" altLang="en-US" sz="2400" dirty="0">
                <a:solidFill>
                  <a:srgbClr val="171C19"/>
                </a:solidFill>
                <a:effectLst/>
                <a:latin typeface="Microsoft YaHei" panose="020B0503020204020204" pitchFamily="34" charset="-122"/>
                <a:ea typeface="Microsoft YaHei" panose="020B0503020204020204" pitchFamily="34" charset="-122"/>
              </a:rPr>
              <a:t> </a:t>
            </a:r>
            <a:r>
              <a:rPr lang="en-US" altLang="zh-CN" sz="2400" dirty="0">
                <a:solidFill>
                  <a:srgbClr val="78877D"/>
                </a:solidFill>
                <a:effectLst/>
                <a:latin typeface="Microsoft YaHei" panose="020B0503020204020204" pitchFamily="34" charset="-122"/>
                <a:ea typeface="Microsoft YaHei" panose="020B0503020204020204" pitchFamily="34" charset="-122"/>
              </a:rPr>
              <a:t>#</a:t>
            </a:r>
            <a:r>
              <a:rPr lang="zh-CN" altLang="en-US" sz="2400" dirty="0">
                <a:solidFill>
                  <a:srgbClr val="78877D"/>
                </a:solidFill>
                <a:effectLst/>
                <a:latin typeface="Microsoft YaHei" panose="020B0503020204020204" pitchFamily="34" charset="-122"/>
                <a:ea typeface="Microsoft YaHei" panose="020B0503020204020204" pitchFamily="34" charset="-122"/>
              </a:rPr>
              <a:t>类文档字符串</a:t>
            </a:r>
            <a:r>
              <a:rPr lang="zh-CN" altLang="en-US" sz="2400" dirty="0">
                <a:solidFill>
                  <a:srgbClr val="171C19"/>
                </a:solidFill>
                <a:effectLst/>
                <a:latin typeface="Microsoft YaHei" panose="020B0503020204020204" pitchFamily="34" charset="-122"/>
                <a:ea typeface="Microsoft YaHei" panose="020B0503020204020204" pitchFamily="34" charset="-122"/>
              </a:rPr>
              <a:t> </a:t>
            </a:r>
            <a:endParaRPr lang="en-US" altLang="zh-CN" sz="2400" dirty="0">
              <a:solidFill>
                <a:srgbClr val="171C19"/>
              </a:solidFill>
              <a:effectLst/>
              <a:latin typeface="Microsoft YaHei" panose="020B0503020204020204" pitchFamily="34" charset="-122"/>
              <a:ea typeface="Microsoft YaHei" panose="020B0503020204020204" pitchFamily="34" charset="-122"/>
            </a:endParaRPr>
          </a:p>
          <a:p>
            <a:pPr lvl="1"/>
            <a:r>
              <a:rPr lang="zh-CN" altLang="en-US" sz="2400" dirty="0">
                <a:solidFill>
                  <a:srgbClr val="171C19"/>
                </a:solidFill>
                <a:effectLst/>
                <a:latin typeface="Microsoft YaHei" panose="020B0503020204020204" pitchFamily="34" charset="-122"/>
                <a:ea typeface="Microsoft YaHei" panose="020B0503020204020204" pitchFamily="34" charset="-122"/>
              </a:rPr>
              <a:t>    </a:t>
            </a:r>
            <a:r>
              <a:rPr lang="en" altLang="zh-CN" sz="2400" dirty="0" err="1">
                <a:solidFill>
                  <a:srgbClr val="171C19"/>
                </a:solidFill>
                <a:effectLst/>
                <a:latin typeface="Microsoft YaHei" panose="020B0503020204020204" pitchFamily="34" charset="-122"/>
                <a:ea typeface="Microsoft YaHei" panose="020B0503020204020204" pitchFamily="34" charset="-122"/>
              </a:rPr>
              <a:t>class_suite</a:t>
            </a:r>
            <a:r>
              <a:rPr lang="en" altLang="zh-CN" sz="2400" dirty="0">
                <a:solidFill>
                  <a:srgbClr val="171C19"/>
                </a:solidFill>
                <a:effectLst/>
                <a:latin typeface="Microsoft YaHei" panose="020B0503020204020204" pitchFamily="34" charset="-122"/>
                <a:ea typeface="Microsoft YaHei" panose="020B0503020204020204" pitchFamily="34" charset="-122"/>
              </a:rPr>
              <a:t> </a:t>
            </a:r>
            <a:r>
              <a:rPr lang="zh-CN" altLang="en-US" sz="2400" dirty="0">
                <a:solidFill>
                  <a:srgbClr val="171C19"/>
                </a:solidFill>
                <a:effectLst/>
                <a:latin typeface="Microsoft YaHei" panose="020B0503020204020204" pitchFamily="34" charset="-122"/>
                <a:ea typeface="Microsoft YaHei" panose="020B0503020204020204" pitchFamily="34" charset="-122"/>
              </a:rPr>
              <a:t> </a:t>
            </a:r>
            <a:r>
              <a:rPr lang="en" altLang="zh-CN" sz="2400" dirty="0">
                <a:solidFill>
                  <a:srgbClr val="78877D"/>
                </a:solidFill>
                <a:effectLst/>
                <a:latin typeface="Microsoft YaHei" panose="020B0503020204020204" pitchFamily="34" charset="-122"/>
                <a:ea typeface="Microsoft YaHei" panose="020B0503020204020204" pitchFamily="34" charset="-122"/>
              </a:rPr>
              <a:t>#</a:t>
            </a:r>
            <a:r>
              <a:rPr lang="zh-CN" altLang="en-US" sz="2400" dirty="0">
                <a:solidFill>
                  <a:srgbClr val="78877D"/>
                </a:solidFill>
                <a:effectLst/>
                <a:latin typeface="Microsoft YaHei" panose="020B0503020204020204" pitchFamily="34" charset="-122"/>
                <a:ea typeface="Microsoft YaHei" panose="020B0503020204020204" pitchFamily="34" charset="-122"/>
              </a:rPr>
              <a:t>类体</a:t>
            </a:r>
            <a:endParaRPr kumimoji="1" lang="zh-CN" altLang="en-US" sz="2400" dirty="0">
              <a:latin typeface="Microsoft YaHei" panose="020B0503020204020204" pitchFamily="34" charset="-122"/>
              <a:ea typeface="Microsoft YaHei" panose="020B0503020204020204" pitchFamily="34" charset="-122"/>
            </a:endParaRPr>
          </a:p>
        </p:txBody>
      </p:sp>
      <p:pic>
        <p:nvPicPr>
          <p:cNvPr id="5" name="图片 7">
            <a:extLst>
              <a:ext uri="{FF2B5EF4-FFF2-40B4-BE49-F238E27FC236}">
                <a16:creationId xmlns:a16="http://schemas.microsoft.com/office/drawing/2014/main" id="{739A6087-ADDB-D24D-4E31-F4E59C1479C0}"/>
              </a:ext>
            </a:extLst>
          </p:cNvPr>
          <p:cNvPicPr>
            <a:picLocks noChangeAspect="1"/>
          </p:cNvPicPr>
          <p:nvPr/>
        </p:nvPicPr>
        <p:blipFill>
          <a:blip r:embed="rId3"/>
          <a:stretch>
            <a:fillRect/>
          </a:stretch>
        </p:blipFill>
        <p:spPr>
          <a:xfrm>
            <a:off x="7124567" y="1695549"/>
            <a:ext cx="4613164" cy="2175189"/>
          </a:xfrm>
          <a:prstGeom prst="rect">
            <a:avLst/>
          </a:prstGeom>
        </p:spPr>
      </p:pic>
      <p:sp>
        <p:nvSpPr>
          <p:cNvPr id="6" name="文本框 8">
            <a:extLst>
              <a:ext uri="{FF2B5EF4-FFF2-40B4-BE49-F238E27FC236}">
                <a16:creationId xmlns:a16="http://schemas.microsoft.com/office/drawing/2014/main" id="{E1A0CE30-864B-8A86-2681-298856AC0250}"/>
              </a:ext>
            </a:extLst>
          </p:cNvPr>
          <p:cNvSpPr txBox="1"/>
          <p:nvPr/>
        </p:nvSpPr>
        <p:spPr>
          <a:xfrm>
            <a:off x="265731" y="2973294"/>
            <a:ext cx="4655442" cy="461665"/>
          </a:xfrm>
          <a:prstGeom prst="rect">
            <a:avLst/>
          </a:prstGeom>
          <a:noFill/>
        </p:spPr>
        <p:txBody>
          <a:bodyPr wrap="none" rtlCol="0">
            <a:spAutoFit/>
          </a:bodyPr>
          <a:lstStyle/>
          <a:p>
            <a:r>
              <a:rPr kumimoji="1" lang="zh-CN" altLang="en-US" sz="2400" b="1" dirty="0">
                <a:latin typeface="Microsoft YaHei" panose="020B0503020204020204" pitchFamily="34" charset="-122"/>
                <a:ea typeface="Microsoft YaHei" panose="020B0503020204020204" pitchFamily="34" charset="-122"/>
              </a:rPr>
              <a:t>举例：</a:t>
            </a:r>
            <a:r>
              <a:rPr kumimoji="1" lang="en-US" altLang="zh-CN" sz="2400" b="1" dirty="0">
                <a:latin typeface="Microsoft YaHei" panose="020B0503020204020204" pitchFamily="34" charset="-122"/>
                <a:ea typeface="Microsoft YaHei" panose="020B0503020204020204" pitchFamily="34" charset="-122"/>
              </a:rPr>
              <a:t>1</a:t>
            </a:r>
            <a:r>
              <a:rPr kumimoji="1" lang="zh-CN" altLang="en-US" sz="2400" b="1" dirty="0">
                <a:latin typeface="Microsoft YaHei" panose="020B0503020204020204" pitchFamily="34" charset="-122"/>
                <a:ea typeface="Microsoft YaHei" panose="020B0503020204020204" pitchFamily="34" charset="-122"/>
              </a:rPr>
              <a:t>、员工信息类的定义创建</a:t>
            </a:r>
          </a:p>
        </p:txBody>
      </p:sp>
      <p:sp>
        <p:nvSpPr>
          <p:cNvPr id="7" name="文本框 9">
            <a:extLst>
              <a:ext uri="{FF2B5EF4-FFF2-40B4-BE49-F238E27FC236}">
                <a16:creationId xmlns:a16="http://schemas.microsoft.com/office/drawing/2014/main" id="{A0D4DF9E-3304-410A-B869-C854F769212F}"/>
              </a:ext>
            </a:extLst>
          </p:cNvPr>
          <p:cNvSpPr txBox="1"/>
          <p:nvPr/>
        </p:nvSpPr>
        <p:spPr>
          <a:xfrm>
            <a:off x="7188224" y="1185706"/>
            <a:ext cx="3770584" cy="461665"/>
          </a:xfrm>
          <a:prstGeom prst="rect">
            <a:avLst/>
          </a:prstGeom>
          <a:noFill/>
        </p:spPr>
        <p:txBody>
          <a:bodyPr wrap="none" rtlCol="0">
            <a:spAutoFit/>
          </a:bodyPr>
          <a:lstStyle/>
          <a:p>
            <a:r>
              <a:rPr kumimoji="1" lang="en-US" altLang="zh-CN" sz="2400" b="1" dirty="0">
                <a:latin typeface="Microsoft YaHei" panose="020B0503020204020204" pitchFamily="34" charset="-122"/>
                <a:ea typeface="Microsoft YaHei" panose="020B0503020204020204" pitchFamily="34" charset="-122"/>
              </a:rPr>
              <a:t>2</a:t>
            </a:r>
            <a:r>
              <a:rPr kumimoji="1" lang="zh-CN" altLang="en-US" sz="2400" b="1" dirty="0">
                <a:latin typeface="Microsoft YaHei" panose="020B0503020204020204" pitchFamily="34" charset="-122"/>
                <a:ea typeface="Microsoft YaHei" panose="020B0503020204020204" pitchFamily="34" charset="-122"/>
              </a:rPr>
              <a:t>、实例化和调用类的函数</a:t>
            </a:r>
          </a:p>
        </p:txBody>
      </p:sp>
      <p:sp>
        <p:nvSpPr>
          <p:cNvPr id="8" name="文本框 10">
            <a:extLst>
              <a:ext uri="{FF2B5EF4-FFF2-40B4-BE49-F238E27FC236}">
                <a16:creationId xmlns:a16="http://schemas.microsoft.com/office/drawing/2014/main" id="{A4C35941-4162-BD4F-89ED-6B363197316D}"/>
              </a:ext>
            </a:extLst>
          </p:cNvPr>
          <p:cNvSpPr txBox="1"/>
          <p:nvPr/>
        </p:nvSpPr>
        <p:spPr>
          <a:xfrm>
            <a:off x="7093955" y="4117698"/>
            <a:ext cx="1927131" cy="461665"/>
          </a:xfrm>
          <a:prstGeom prst="rect">
            <a:avLst/>
          </a:prstGeom>
          <a:noFill/>
        </p:spPr>
        <p:txBody>
          <a:bodyPr wrap="none" rtlCol="0">
            <a:spAutoFit/>
          </a:bodyPr>
          <a:lstStyle/>
          <a:p>
            <a:r>
              <a:rPr kumimoji="1" lang="en-US" altLang="zh-CN" sz="2400" b="1" dirty="0">
                <a:latin typeface="Microsoft YaHei" panose="020B0503020204020204" pitchFamily="34" charset="-122"/>
                <a:ea typeface="Microsoft YaHei" panose="020B0503020204020204" pitchFamily="34" charset="-122"/>
              </a:rPr>
              <a:t>3</a:t>
            </a:r>
            <a:r>
              <a:rPr kumimoji="1" lang="zh-CN" altLang="en-US" sz="2400" b="1" dirty="0">
                <a:latin typeface="Microsoft YaHei" panose="020B0503020204020204" pitchFamily="34" charset="-122"/>
                <a:ea typeface="Microsoft YaHei" panose="020B0503020204020204" pitchFamily="34" charset="-122"/>
              </a:rPr>
              <a:t>、运行结果</a:t>
            </a:r>
          </a:p>
        </p:txBody>
      </p:sp>
      <p:pic>
        <p:nvPicPr>
          <p:cNvPr id="9" name="图片 11">
            <a:extLst>
              <a:ext uri="{FF2B5EF4-FFF2-40B4-BE49-F238E27FC236}">
                <a16:creationId xmlns:a16="http://schemas.microsoft.com/office/drawing/2014/main" id="{18943751-6DA9-E055-B14E-DAED3378E4E5}"/>
              </a:ext>
            </a:extLst>
          </p:cNvPr>
          <p:cNvPicPr>
            <a:picLocks noChangeAspect="1"/>
          </p:cNvPicPr>
          <p:nvPr/>
        </p:nvPicPr>
        <p:blipFill>
          <a:blip r:embed="rId4"/>
          <a:stretch>
            <a:fillRect/>
          </a:stretch>
        </p:blipFill>
        <p:spPr>
          <a:xfrm>
            <a:off x="7145536" y="4586837"/>
            <a:ext cx="4571226" cy="1640104"/>
          </a:xfrm>
          <a:prstGeom prst="rect">
            <a:avLst/>
          </a:prstGeom>
        </p:spPr>
      </p:pic>
    </p:spTree>
    <p:extLst>
      <p:ext uri="{BB962C8B-B14F-4D97-AF65-F5344CB8AC3E}">
        <p14:creationId xmlns:p14="http://schemas.microsoft.com/office/powerpoint/2010/main" val="2979702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a:t>
            </a:r>
            <a:r>
              <a:rPr lang="zh-CN" altLang="en-US" dirty="0"/>
              <a:t> </a:t>
            </a:r>
            <a:r>
              <a:rPr lang="en-US" altLang="zh-CN" dirty="0"/>
              <a:t>Python</a:t>
            </a:r>
            <a:r>
              <a:rPr lang="zh-CN" altLang="en-US" dirty="0"/>
              <a:t>异常处理</a:t>
            </a:r>
          </a:p>
        </p:txBody>
      </p:sp>
      <p:sp>
        <p:nvSpPr>
          <p:cNvPr id="3" name="文本框 4">
            <a:extLst>
              <a:ext uri="{FF2B5EF4-FFF2-40B4-BE49-F238E27FC236}">
                <a16:creationId xmlns:a16="http://schemas.microsoft.com/office/drawing/2014/main" id="{7E646688-BC33-E9A0-5762-BADC66DFC9F4}"/>
              </a:ext>
            </a:extLst>
          </p:cNvPr>
          <p:cNvSpPr txBox="1"/>
          <p:nvPr/>
        </p:nvSpPr>
        <p:spPr>
          <a:xfrm>
            <a:off x="439615" y="1073594"/>
            <a:ext cx="11072056" cy="954107"/>
          </a:xfrm>
          <a:prstGeom prst="rect">
            <a:avLst/>
          </a:prstGeom>
          <a:noFill/>
        </p:spPr>
        <p:txBody>
          <a:bodyPr wrap="square">
            <a:spAutoFit/>
          </a:bodyPr>
          <a:lstStyle/>
          <a:p>
            <a:pPr marL="228600" indent="-228600">
              <a:spcBef>
                <a:spcPts val="1000"/>
              </a:spcBef>
              <a:buFont typeface="Wingdings" pitchFamily="2" charset="2"/>
              <a:buChar char="p"/>
            </a:pPr>
            <a:r>
              <a:rPr lang="zh-CN" altLang="zh-CN" sz="2800" dirty="0">
                <a:latin typeface="Microsoft YaHei" panose="020B0503020204020204" pitchFamily="34" charset="-122"/>
                <a:ea typeface="Microsoft YaHei" panose="020B0503020204020204" pitchFamily="34" charset="-122"/>
              </a:rPr>
              <a:t>通过</a:t>
            </a:r>
            <a:r>
              <a:rPr lang="en-US" altLang="zh-CN" sz="2800" dirty="0">
                <a:latin typeface="Microsoft YaHei" panose="020B0503020204020204" pitchFamily="34" charset="-122"/>
                <a:ea typeface="Microsoft YaHei" panose="020B0503020204020204" pitchFamily="34" charset="-122"/>
              </a:rPr>
              <a:t> try </a:t>
            </a:r>
            <a:r>
              <a:rPr lang="zh-CN" altLang="zh-CN" sz="2800" dirty="0">
                <a:latin typeface="Microsoft YaHei" panose="020B0503020204020204" pitchFamily="34" charset="-122"/>
                <a:ea typeface="Microsoft YaHei" panose="020B0503020204020204" pitchFamily="34" charset="-122"/>
              </a:rPr>
              <a:t>和</a:t>
            </a:r>
            <a:r>
              <a:rPr lang="en-US" altLang="zh-CN" sz="2800" dirty="0">
                <a:latin typeface="Microsoft YaHei" panose="020B0503020204020204" pitchFamily="34" charset="-122"/>
                <a:ea typeface="Microsoft YaHei" panose="020B0503020204020204" pitchFamily="34" charset="-122"/>
              </a:rPr>
              <a:t> except </a:t>
            </a:r>
            <a:r>
              <a:rPr lang="zh-CN" altLang="zh-CN" sz="2800" dirty="0">
                <a:latin typeface="Microsoft YaHei" panose="020B0503020204020204" pitchFamily="34" charset="-122"/>
                <a:ea typeface="Microsoft YaHei" panose="020B0503020204020204" pitchFamily="34" charset="-122"/>
              </a:rPr>
              <a:t>语句来实现</a:t>
            </a:r>
            <a:r>
              <a:rPr lang="zh-CN" altLang="en-US" sz="2800" dirty="0">
                <a:latin typeface="Microsoft YaHei" panose="020B0503020204020204" pitchFamily="34" charset="-122"/>
                <a:ea typeface="Microsoft YaHei" panose="020B0503020204020204" pitchFamily="34" charset="-122"/>
              </a:rPr>
              <a:t>，</a:t>
            </a:r>
            <a:r>
              <a:rPr lang="zh-CN" altLang="zh-CN" sz="2800" dirty="0">
                <a:latin typeface="Microsoft YaHei" panose="020B0503020204020204" pitchFamily="34" charset="-122"/>
                <a:ea typeface="Microsoft YaHei" panose="020B0503020204020204" pitchFamily="34" charset="-122"/>
              </a:rPr>
              <a:t>捕获和处理在程序执行过程中可能出现的错误，从而避免程序的崩溃。 </a:t>
            </a:r>
            <a:endParaRPr lang="zh-CN" altLang="en-US" sz="2800" dirty="0">
              <a:latin typeface="Microsoft YaHei" panose="020B0503020204020204" pitchFamily="34" charset="-122"/>
              <a:ea typeface="Microsoft YaHei" panose="020B0503020204020204" pitchFamily="34" charset="-122"/>
            </a:endParaRPr>
          </a:p>
        </p:txBody>
      </p:sp>
      <p:grpSp>
        <p:nvGrpSpPr>
          <p:cNvPr id="4" name="组合 18">
            <a:extLst>
              <a:ext uri="{FF2B5EF4-FFF2-40B4-BE49-F238E27FC236}">
                <a16:creationId xmlns:a16="http://schemas.microsoft.com/office/drawing/2014/main" id="{8B6A0BD7-59E1-AEFD-5892-554B6C94458C}"/>
              </a:ext>
            </a:extLst>
          </p:cNvPr>
          <p:cNvGrpSpPr/>
          <p:nvPr/>
        </p:nvGrpSpPr>
        <p:grpSpPr>
          <a:xfrm>
            <a:off x="439615" y="2457039"/>
            <a:ext cx="7387390" cy="2308324"/>
            <a:chOff x="607594" y="2085347"/>
            <a:chExt cx="7387390" cy="2308324"/>
          </a:xfrm>
        </p:grpSpPr>
        <p:sp>
          <p:nvSpPr>
            <p:cNvPr id="5" name="文本框 15">
              <a:extLst>
                <a:ext uri="{FF2B5EF4-FFF2-40B4-BE49-F238E27FC236}">
                  <a16:creationId xmlns:a16="http://schemas.microsoft.com/office/drawing/2014/main" id="{5687FBFF-382F-1B38-5FB7-2752F5CD4E8D}"/>
                </a:ext>
              </a:extLst>
            </p:cNvPr>
            <p:cNvSpPr txBox="1"/>
            <p:nvPr/>
          </p:nvSpPr>
          <p:spPr>
            <a:xfrm>
              <a:off x="2346158" y="2085347"/>
              <a:ext cx="5648826" cy="2308324"/>
            </a:xfrm>
            <a:prstGeom prst="rect">
              <a:avLst/>
            </a:prstGeom>
            <a:noFill/>
          </p:spPr>
          <p:txBody>
            <a:bodyPr wrap="square">
              <a:spAutoFit/>
            </a:bodyPr>
            <a:lstStyle/>
            <a:p>
              <a:r>
                <a:rPr lang="zh-CN" altLang="en-US" sz="2400" dirty="0"/>
                <a:t>try:</a:t>
              </a:r>
            </a:p>
            <a:p>
              <a:r>
                <a:rPr lang="zh-CN" altLang="en-US" sz="2400" dirty="0"/>
                <a:t>    # 可能会引发异常的代码</a:t>
              </a:r>
            </a:p>
            <a:p>
              <a:r>
                <a:rPr lang="zh-CN" altLang="en-US" sz="2400" dirty="0"/>
                <a:t>    pass</a:t>
              </a:r>
            </a:p>
            <a:p>
              <a:r>
                <a:rPr lang="zh-CN" altLang="en-US" sz="2400" dirty="0"/>
                <a:t>except SomeException as e:</a:t>
              </a:r>
            </a:p>
            <a:p>
              <a:r>
                <a:rPr lang="zh-CN" altLang="en-US" sz="2400" dirty="0"/>
                <a:t>    # 异常处理代码</a:t>
              </a:r>
            </a:p>
            <a:p>
              <a:r>
                <a:rPr lang="zh-CN" altLang="en-US" sz="2400" dirty="0"/>
                <a:t>    pass</a:t>
              </a:r>
            </a:p>
          </p:txBody>
        </p:sp>
        <p:sp>
          <p:nvSpPr>
            <p:cNvPr id="6" name="文本框 17">
              <a:extLst>
                <a:ext uri="{FF2B5EF4-FFF2-40B4-BE49-F238E27FC236}">
                  <a16:creationId xmlns:a16="http://schemas.microsoft.com/office/drawing/2014/main" id="{E67F04ED-E2E3-D8DB-BE10-F2E1DCF75FF4}"/>
                </a:ext>
              </a:extLst>
            </p:cNvPr>
            <p:cNvSpPr txBox="1"/>
            <p:nvPr/>
          </p:nvSpPr>
          <p:spPr>
            <a:xfrm>
              <a:off x="607594" y="2085347"/>
              <a:ext cx="1618248" cy="461665"/>
            </a:xfrm>
            <a:prstGeom prst="rect">
              <a:avLst/>
            </a:prstGeom>
            <a:noFill/>
          </p:spPr>
          <p:txBody>
            <a:bodyPr wrap="square">
              <a:spAutoFit/>
            </a:bodyPr>
            <a:lstStyle/>
            <a:p>
              <a:r>
                <a:rPr lang="zh-CN" altLang="en-US" sz="2400" dirty="0"/>
                <a:t>基本语法</a:t>
              </a:r>
            </a:p>
          </p:txBody>
        </p:sp>
      </p:grpSp>
      <p:pic>
        <p:nvPicPr>
          <p:cNvPr id="7" name="图片 20">
            <a:extLst>
              <a:ext uri="{FF2B5EF4-FFF2-40B4-BE49-F238E27FC236}">
                <a16:creationId xmlns:a16="http://schemas.microsoft.com/office/drawing/2014/main" id="{B53C751E-4D41-89C6-2ABC-ABB7E2126C55}"/>
              </a:ext>
            </a:extLst>
          </p:cNvPr>
          <p:cNvPicPr>
            <a:picLocks noChangeAspect="1"/>
          </p:cNvPicPr>
          <p:nvPr/>
        </p:nvPicPr>
        <p:blipFill>
          <a:blip r:embed="rId2"/>
          <a:stretch>
            <a:fillRect/>
          </a:stretch>
        </p:blipFill>
        <p:spPr>
          <a:xfrm>
            <a:off x="6096000" y="4639989"/>
            <a:ext cx="5739159" cy="1439073"/>
          </a:xfrm>
          <a:prstGeom prst="rect">
            <a:avLst/>
          </a:prstGeom>
        </p:spPr>
      </p:pic>
      <p:sp>
        <p:nvSpPr>
          <p:cNvPr id="8" name="文本框 21">
            <a:extLst>
              <a:ext uri="{FF2B5EF4-FFF2-40B4-BE49-F238E27FC236}">
                <a16:creationId xmlns:a16="http://schemas.microsoft.com/office/drawing/2014/main" id="{FDFFA859-7154-C0CD-76B2-D4870D29A14C}"/>
              </a:ext>
            </a:extLst>
          </p:cNvPr>
          <p:cNvSpPr txBox="1"/>
          <p:nvPr/>
        </p:nvSpPr>
        <p:spPr>
          <a:xfrm>
            <a:off x="5975643" y="4027597"/>
            <a:ext cx="1618248" cy="461665"/>
          </a:xfrm>
          <a:prstGeom prst="rect">
            <a:avLst/>
          </a:prstGeom>
          <a:noFill/>
        </p:spPr>
        <p:txBody>
          <a:bodyPr wrap="square">
            <a:spAutoFit/>
          </a:bodyPr>
          <a:lstStyle/>
          <a:p>
            <a:r>
              <a:rPr lang="zh-CN" altLang="en-US" sz="2400" dirty="0"/>
              <a:t>示例</a:t>
            </a:r>
          </a:p>
        </p:txBody>
      </p:sp>
    </p:spTree>
    <p:extLst>
      <p:ext uri="{BB962C8B-B14F-4D97-AF65-F5344CB8AC3E}">
        <p14:creationId xmlns:p14="http://schemas.microsoft.com/office/powerpoint/2010/main" val="2791737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C02C7AE-B473-BC1B-B982-ECAF6CC4C4D4}"/>
              </a:ext>
            </a:extLst>
          </p:cNvPr>
          <p:cNvPicPr>
            <a:picLocks noChangeAspect="1"/>
          </p:cNvPicPr>
          <p:nvPr/>
        </p:nvPicPr>
        <p:blipFill>
          <a:blip r:embed="rId2"/>
          <a:stretch>
            <a:fillRect/>
          </a:stretch>
        </p:blipFill>
        <p:spPr>
          <a:xfrm>
            <a:off x="4800157" y="1734743"/>
            <a:ext cx="6725427" cy="3388514"/>
          </a:xfrm>
          <a:prstGeom prst="rect">
            <a:avLst/>
          </a:prstGeom>
        </p:spPr>
      </p:pic>
      <p:sp>
        <p:nvSpPr>
          <p:cNvPr id="2" name="标题 1">
            <a:extLst>
              <a:ext uri="{FF2B5EF4-FFF2-40B4-BE49-F238E27FC236}">
                <a16:creationId xmlns:a16="http://schemas.microsoft.com/office/drawing/2014/main" id="{8166BD27-BEF1-DF42-8647-5D0C3EA955D6}"/>
              </a:ext>
            </a:extLst>
          </p:cNvPr>
          <p:cNvSpPr>
            <a:spLocks noGrp="1"/>
          </p:cNvSpPr>
          <p:nvPr>
            <p:ph type="title"/>
          </p:nvPr>
        </p:nvSpPr>
        <p:spPr/>
        <p:txBody>
          <a:bodyPr/>
          <a:lstStyle/>
          <a:p>
            <a:r>
              <a:rPr kumimoji="1" lang="zh-CN" altLang="en-US" dirty="0"/>
              <a:t>提纲</a:t>
            </a:r>
          </a:p>
        </p:txBody>
      </p:sp>
      <p:sp>
        <p:nvSpPr>
          <p:cNvPr id="3" name="内容占位符 2">
            <a:extLst>
              <a:ext uri="{FF2B5EF4-FFF2-40B4-BE49-F238E27FC236}">
                <a16:creationId xmlns:a16="http://schemas.microsoft.com/office/drawing/2014/main" id="{A2D0DB05-8797-7647-B132-FFE2E7510516}"/>
              </a:ext>
            </a:extLst>
          </p:cNvPr>
          <p:cNvSpPr>
            <a:spLocks noGrp="1"/>
          </p:cNvSpPr>
          <p:nvPr>
            <p:ph idx="1"/>
          </p:nvPr>
        </p:nvSpPr>
        <p:spPr/>
        <p:txBody>
          <a:bodyPr/>
          <a:lstStyle/>
          <a:p>
            <a:r>
              <a:rPr kumimoji="1" lang="en-US" altLang="zh-CN" sz="2400" dirty="0">
                <a:solidFill>
                  <a:schemeClr val="bg1">
                    <a:lumMod val="50000"/>
                  </a:schemeClr>
                </a:solidFill>
              </a:rPr>
              <a:t>3.1</a:t>
            </a:r>
            <a:r>
              <a:rPr kumimoji="1" lang="zh-CN" altLang="en-US" sz="2400" dirty="0">
                <a:solidFill>
                  <a:schemeClr val="bg1">
                    <a:lumMod val="50000"/>
                  </a:schemeClr>
                </a:solidFill>
              </a:rPr>
              <a:t> 从手写数字识别说起</a:t>
            </a:r>
            <a:endParaRPr kumimoji="1" lang="en-US" altLang="zh-CN" sz="2400" dirty="0">
              <a:solidFill>
                <a:schemeClr val="bg1">
                  <a:lumMod val="50000"/>
                </a:schemeClr>
              </a:solidFill>
            </a:endParaRPr>
          </a:p>
          <a:p>
            <a:r>
              <a:rPr kumimoji="1" lang="en-US" altLang="zh-CN" sz="2400" dirty="0">
                <a:solidFill>
                  <a:schemeClr val="bg1">
                    <a:lumMod val="50000"/>
                  </a:schemeClr>
                </a:solidFill>
              </a:rPr>
              <a:t>3.2 </a:t>
            </a:r>
            <a:r>
              <a:rPr kumimoji="1" lang="zh-CN" altLang="en-US" sz="2400" dirty="0">
                <a:solidFill>
                  <a:schemeClr val="bg1">
                    <a:lumMod val="50000"/>
                  </a:schemeClr>
                </a:solidFill>
              </a:rPr>
              <a:t>基本环境搭建与配置</a:t>
            </a:r>
          </a:p>
          <a:p>
            <a:r>
              <a:rPr kumimoji="1" lang="en-US" altLang="zh-CN" sz="2400" dirty="0">
                <a:solidFill>
                  <a:schemeClr val="bg1">
                    <a:lumMod val="50000"/>
                  </a:schemeClr>
                </a:solidFill>
              </a:rPr>
              <a:t>3.3 PYTHON</a:t>
            </a:r>
            <a:r>
              <a:rPr kumimoji="1" lang="zh-CN" altLang="en-US" sz="2400" dirty="0">
                <a:solidFill>
                  <a:schemeClr val="bg1">
                    <a:lumMod val="50000"/>
                  </a:schemeClr>
                </a:solidFill>
              </a:rPr>
              <a:t>入门</a:t>
            </a:r>
          </a:p>
          <a:p>
            <a:r>
              <a:rPr kumimoji="1" lang="en-US" altLang="zh-CN" sz="2400" dirty="0">
                <a:solidFill>
                  <a:schemeClr val="tx1"/>
                </a:solidFill>
              </a:rPr>
              <a:t>3.4 AI</a:t>
            </a:r>
            <a:r>
              <a:rPr kumimoji="1" lang="zh-CN" altLang="en-US" sz="2400" dirty="0">
                <a:solidFill>
                  <a:schemeClr val="tx1"/>
                </a:solidFill>
              </a:rPr>
              <a:t>算法库和开发工具包</a:t>
            </a:r>
          </a:p>
          <a:p>
            <a:r>
              <a:rPr kumimoji="1" lang="en-US" altLang="zh-CN" sz="2400" dirty="0">
                <a:solidFill>
                  <a:schemeClr val="bg1">
                    <a:lumMod val="50000"/>
                  </a:schemeClr>
                </a:solidFill>
              </a:rPr>
              <a:t>3.5</a:t>
            </a:r>
            <a:r>
              <a:rPr kumimoji="1" lang="zh-CN" altLang="en-US" sz="2400" dirty="0">
                <a:solidFill>
                  <a:schemeClr val="bg1">
                    <a:lumMod val="50000"/>
                  </a:schemeClr>
                </a:solidFill>
              </a:rPr>
              <a:t>深度学习框架</a:t>
            </a:r>
          </a:p>
          <a:p>
            <a:endParaRPr kumimoji="1" lang="zh-CN" altLang="en-US" sz="2400" dirty="0"/>
          </a:p>
        </p:txBody>
      </p:sp>
      <p:sp>
        <p:nvSpPr>
          <p:cNvPr id="5" name="文本框 4">
            <a:extLst>
              <a:ext uri="{FF2B5EF4-FFF2-40B4-BE49-F238E27FC236}">
                <a16:creationId xmlns:a16="http://schemas.microsoft.com/office/drawing/2014/main" id="{0211E28A-4EA5-F641-BA32-4A365C3B657D}"/>
              </a:ext>
            </a:extLst>
          </p:cNvPr>
          <p:cNvSpPr txBox="1"/>
          <p:nvPr/>
        </p:nvSpPr>
        <p:spPr>
          <a:xfrm>
            <a:off x="4800157" y="2529989"/>
            <a:ext cx="1107996" cy="369332"/>
          </a:xfrm>
          <a:prstGeom prst="rect">
            <a:avLst/>
          </a:prstGeom>
          <a:solidFill>
            <a:srgbClr val="234C9F"/>
          </a:solidFill>
        </p:spPr>
        <p:txBody>
          <a:bodyPr wrap="none" rtlCol="0">
            <a:sp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知识图谱</a:t>
            </a:r>
          </a:p>
        </p:txBody>
      </p:sp>
    </p:spTree>
    <p:extLst>
      <p:ext uri="{BB962C8B-B14F-4D97-AF65-F5344CB8AC3E}">
        <p14:creationId xmlns:p14="http://schemas.microsoft.com/office/powerpoint/2010/main" val="115795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a:t>
            </a:r>
            <a:r>
              <a:rPr lang="zh-CN" altLang="en-US" dirty="0"/>
              <a:t> </a:t>
            </a:r>
            <a:r>
              <a:rPr lang="en-US" altLang="zh-CN" dirty="0"/>
              <a:t>AI</a:t>
            </a:r>
            <a:r>
              <a:rPr lang="zh-CN" altLang="en-US" dirty="0"/>
              <a:t>算法库</a:t>
            </a:r>
            <a:r>
              <a:rPr lang="en-US" altLang="zh-CN" dirty="0"/>
              <a:t>——Pandas</a:t>
            </a:r>
            <a:r>
              <a:rPr lang="zh-CN" altLang="en-US" dirty="0"/>
              <a:t>（数据处理与分析）</a:t>
            </a:r>
          </a:p>
        </p:txBody>
      </p:sp>
      <p:pic>
        <p:nvPicPr>
          <p:cNvPr id="10" name="Picture 9">
            <a:extLst>
              <a:ext uri="{FF2B5EF4-FFF2-40B4-BE49-F238E27FC236}">
                <a16:creationId xmlns:a16="http://schemas.microsoft.com/office/drawing/2014/main" id="{B2A87AAE-5BB3-3672-DB6D-1C5ED86B6E04}"/>
              </a:ext>
            </a:extLst>
          </p:cNvPr>
          <p:cNvPicPr>
            <a:picLocks noChangeAspect="1"/>
          </p:cNvPicPr>
          <p:nvPr/>
        </p:nvPicPr>
        <p:blipFill>
          <a:blip r:embed="rId2"/>
          <a:stretch>
            <a:fillRect/>
          </a:stretch>
        </p:blipFill>
        <p:spPr>
          <a:xfrm>
            <a:off x="10155347" y="49048"/>
            <a:ext cx="1944026" cy="647215"/>
          </a:xfrm>
          <a:prstGeom prst="rect">
            <a:avLst/>
          </a:prstGeom>
        </p:spPr>
      </p:pic>
      <p:sp>
        <p:nvSpPr>
          <p:cNvPr id="8" name="文本框 39">
            <a:extLst>
              <a:ext uri="{FF2B5EF4-FFF2-40B4-BE49-F238E27FC236}">
                <a16:creationId xmlns:a16="http://schemas.microsoft.com/office/drawing/2014/main" id="{AB8F4583-1C7F-3DCF-262B-A25BA2A1642A}"/>
              </a:ext>
            </a:extLst>
          </p:cNvPr>
          <p:cNvSpPr txBox="1">
            <a:spLocks noGrp="1"/>
          </p:cNvSpPr>
          <p:nvPr>
            <p:ph idx="1"/>
          </p:nvPr>
        </p:nvSpPr>
        <p:spPr>
          <a:xfrm>
            <a:off x="439615" y="1234104"/>
            <a:ext cx="11298116" cy="4389791"/>
          </a:xfrm>
          <a:prstGeom prst="rect">
            <a:avLst/>
          </a:prstGeom>
          <a:noFill/>
        </p:spPr>
        <p:txBody>
          <a:bodyPr wrap="square">
            <a:spAutoFit/>
          </a:bodyPr>
          <a:lstStyle/>
          <a:p>
            <a:pPr marL="285750" indent="-285750">
              <a:lnSpc>
                <a:spcPct val="120000"/>
              </a:lnSpc>
              <a:buFont typeface="Wingdings" pitchFamily="2" charset="2"/>
              <a:buChar char="p"/>
            </a:pPr>
            <a:r>
              <a:rPr lang="en" altLang="zh-CN" sz="2400" b="0" dirty="0">
                <a:latin typeface="Microsoft YaHei" panose="020B0503020204020204" pitchFamily="34" charset="-122"/>
                <a:ea typeface="Microsoft YaHei" panose="020B0503020204020204" pitchFamily="34" charset="-122"/>
              </a:rPr>
              <a:t>Pandas </a:t>
            </a:r>
            <a:r>
              <a:rPr lang="zh-CN" altLang="en-US" sz="2400" b="0" dirty="0">
                <a:latin typeface="Microsoft YaHei" panose="020B0503020204020204" pitchFamily="34" charset="-122"/>
                <a:ea typeface="Microsoft YaHei" panose="020B0503020204020204" pitchFamily="34" charset="-122"/>
              </a:rPr>
              <a:t>是一个开源数据分析库，广泛用于数据科学、数据分析和机器学习领域。</a:t>
            </a:r>
          </a:p>
          <a:p>
            <a:pPr marL="285750" indent="-285750">
              <a:lnSpc>
                <a:spcPct val="120000"/>
              </a:lnSpc>
              <a:buFont typeface="Wingdings" pitchFamily="2" charset="2"/>
              <a:buChar char="p"/>
            </a:pPr>
            <a:r>
              <a:rPr lang="zh-CN" altLang="en-US" sz="2400" b="0" dirty="0">
                <a:latin typeface="Microsoft YaHei" panose="020B0503020204020204" pitchFamily="34" charset="-122"/>
                <a:ea typeface="Microsoft YaHei" panose="020B0503020204020204" pitchFamily="34" charset="-122"/>
              </a:rPr>
              <a:t>基于 </a:t>
            </a:r>
            <a:r>
              <a:rPr lang="en" altLang="zh-CN" sz="2400" b="0" dirty="0">
                <a:latin typeface="Microsoft YaHei" panose="020B0503020204020204" pitchFamily="34" charset="-122"/>
                <a:ea typeface="Microsoft YaHei" panose="020B0503020204020204" pitchFamily="34" charset="-122"/>
              </a:rPr>
              <a:t>NumPy </a:t>
            </a:r>
            <a:r>
              <a:rPr lang="zh-CN" altLang="en-US" sz="2400" b="0" dirty="0">
                <a:latin typeface="Microsoft YaHei" panose="020B0503020204020204" pitchFamily="34" charset="-122"/>
                <a:ea typeface="Microsoft YaHei" panose="020B0503020204020204" pitchFamily="34" charset="-122"/>
              </a:rPr>
              <a:t>构建，主要用于 </a:t>
            </a:r>
            <a:r>
              <a:rPr lang="en" altLang="zh-CN" sz="2400" b="0" dirty="0">
                <a:latin typeface="Microsoft YaHei" panose="020B0503020204020204" pitchFamily="34" charset="-122"/>
                <a:ea typeface="Microsoft YaHei" panose="020B0503020204020204" pitchFamily="34" charset="-122"/>
              </a:rPr>
              <a:t>Python </a:t>
            </a:r>
            <a:r>
              <a:rPr lang="zh-CN" altLang="en-US" sz="2400" b="0" dirty="0">
                <a:latin typeface="Microsoft YaHei" panose="020B0503020204020204" pitchFamily="34" charset="-122"/>
                <a:ea typeface="Microsoft YaHei" panose="020B0503020204020204" pitchFamily="34" charset="-122"/>
              </a:rPr>
              <a:t>语言，充分利用了 </a:t>
            </a:r>
            <a:r>
              <a:rPr lang="en" altLang="zh-CN" sz="2400" b="0" dirty="0">
                <a:latin typeface="Microsoft YaHei" panose="020B0503020204020204" pitchFamily="34" charset="-122"/>
                <a:ea typeface="Microsoft YaHei" panose="020B0503020204020204" pitchFamily="34" charset="-122"/>
              </a:rPr>
              <a:t>NumPy </a:t>
            </a:r>
            <a:r>
              <a:rPr lang="zh-CN" altLang="en-US" sz="2400" b="0" dirty="0">
                <a:latin typeface="Microsoft YaHei" panose="020B0503020204020204" pitchFamily="34" charset="-122"/>
                <a:ea typeface="Microsoft YaHei" panose="020B0503020204020204" pitchFamily="34" charset="-122"/>
              </a:rPr>
              <a:t>的高性能计算能力。</a:t>
            </a:r>
          </a:p>
          <a:p>
            <a:pPr marL="285750" indent="-285750">
              <a:lnSpc>
                <a:spcPct val="120000"/>
              </a:lnSpc>
              <a:buFont typeface="Wingdings" pitchFamily="2" charset="2"/>
              <a:buChar char="p"/>
            </a:pPr>
            <a:r>
              <a:rPr lang="zh-CN" altLang="en-US" sz="2400" b="0" dirty="0">
                <a:latin typeface="Microsoft YaHei" panose="020B0503020204020204" pitchFamily="34" charset="-122"/>
                <a:ea typeface="Microsoft YaHei" panose="020B0503020204020204" pitchFamily="34" charset="-122"/>
              </a:rPr>
              <a:t>提供高效、灵活的数据结构，允许用户轻松地处理和分析数据，其核心数据结构主要有：</a:t>
            </a:r>
            <a:endParaRPr lang="en-US" altLang="zh-CN" sz="2400" b="0" dirty="0">
              <a:latin typeface="Microsoft YaHei" panose="020B0503020204020204" pitchFamily="34" charset="-122"/>
              <a:ea typeface="Microsoft YaHei" panose="020B0503020204020204" pitchFamily="34" charset="-122"/>
            </a:endParaRPr>
          </a:p>
          <a:p>
            <a:pPr marL="914400" lvl="1" indent="-457200">
              <a:lnSpc>
                <a:spcPct val="120000"/>
              </a:lnSpc>
              <a:buFont typeface="Wingdings" pitchFamily="2" charset="2"/>
              <a:buChar char="p"/>
            </a:pPr>
            <a:r>
              <a:rPr lang="en" altLang="zh-CN" sz="2400" b="0" dirty="0">
                <a:latin typeface="Microsoft YaHei" panose="020B0503020204020204" pitchFamily="34" charset="-122"/>
                <a:ea typeface="Microsoft YaHei" panose="020B0503020204020204" pitchFamily="34" charset="-122"/>
              </a:rPr>
              <a:t>Series: </a:t>
            </a:r>
            <a:r>
              <a:rPr lang="zh-CN" altLang="en-US" sz="2400" b="0" dirty="0">
                <a:latin typeface="Microsoft YaHei" panose="020B0503020204020204" pitchFamily="34" charset="-122"/>
                <a:ea typeface="Microsoft YaHei" panose="020B0503020204020204" pitchFamily="34" charset="-122"/>
              </a:rPr>
              <a:t>一维数组，带有标签</a:t>
            </a:r>
          </a:p>
          <a:p>
            <a:pPr marL="914400" lvl="1" indent="-457200">
              <a:lnSpc>
                <a:spcPct val="120000"/>
              </a:lnSpc>
              <a:buFont typeface="Wingdings" pitchFamily="2" charset="2"/>
              <a:buChar char="p"/>
            </a:pPr>
            <a:r>
              <a:rPr lang="en" altLang="zh-CN" sz="2400" b="0" dirty="0" err="1">
                <a:latin typeface="Microsoft YaHei" panose="020B0503020204020204" pitchFamily="34" charset="-122"/>
                <a:ea typeface="Microsoft YaHei" panose="020B0503020204020204" pitchFamily="34" charset="-122"/>
              </a:rPr>
              <a:t>DataFrame</a:t>
            </a:r>
            <a:r>
              <a:rPr lang="en" altLang="zh-CN" sz="2400" b="0" dirty="0">
                <a:latin typeface="Microsoft YaHei" panose="020B0503020204020204" pitchFamily="34" charset="-122"/>
                <a:ea typeface="Microsoft YaHei" panose="020B0503020204020204" pitchFamily="34" charset="-122"/>
              </a:rPr>
              <a:t>: </a:t>
            </a:r>
            <a:r>
              <a:rPr lang="zh-CN" altLang="en-US" sz="2400" b="0" dirty="0">
                <a:latin typeface="Microsoft YaHei" panose="020B0503020204020204" pitchFamily="34" charset="-122"/>
                <a:ea typeface="Microsoft YaHei" panose="020B0503020204020204" pitchFamily="34" charset="-122"/>
              </a:rPr>
              <a:t>二维表格，类似于 </a:t>
            </a:r>
            <a:r>
              <a:rPr lang="en" altLang="zh-CN" sz="2400" b="0" dirty="0">
                <a:latin typeface="Microsoft YaHei" panose="020B0503020204020204" pitchFamily="34" charset="-122"/>
                <a:ea typeface="Microsoft YaHei" panose="020B0503020204020204" pitchFamily="34" charset="-122"/>
              </a:rPr>
              <a:t>Excel </a:t>
            </a:r>
            <a:r>
              <a:rPr lang="zh-CN" altLang="en-US" sz="2400" b="0" dirty="0">
                <a:latin typeface="Microsoft YaHei" panose="020B0503020204020204" pitchFamily="34" charset="-122"/>
                <a:ea typeface="Microsoft YaHei" panose="020B0503020204020204" pitchFamily="34" charset="-122"/>
              </a:rPr>
              <a:t>表格</a:t>
            </a:r>
          </a:p>
          <a:p>
            <a:pPr marL="914400" lvl="1" indent="-457200">
              <a:lnSpc>
                <a:spcPct val="120000"/>
              </a:lnSpc>
              <a:buFont typeface="Wingdings" pitchFamily="2" charset="2"/>
              <a:buChar char="p"/>
            </a:pPr>
            <a:r>
              <a:rPr lang="en" altLang="zh-CN" sz="2400" b="0" dirty="0">
                <a:latin typeface="Microsoft YaHei" panose="020B0503020204020204" pitchFamily="34" charset="-122"/>
                <a:ea typeface="Microsoft YaHei" panose="020B0503020204020204" pitchFamily="34" charset="-122"/>
              </a:rPr>
              <a:t>Panel (</a:t>
            </a:r>
            <a:r>
              <a:rPr lang="zh-CN" altLang="en-US" sz="2400" b="0" dirty="0">
                <a:latin typeface="Microsoft YaHei" panose="020B0503020204020204" pitchFamily="34" charset="-122"/>
                <a:ea typeface="Microsoft YaHei" panose="020B0503020204020204" pitchFamily="34" charset="-122"/>
              </a:rPr>
              <a:t>较少使用</a:t>
            </a:r>
            <a:r>
              <a:rPr lang="en-US" altLang="zh-CN" sz="2400" b="0" dirty="0">
                <a:latin typeface="Microsoft YaHei" panose="020B0503020204020204" pitchFamily="34" charset="-122"/>
                <a:ea typeface="Microsoft YaHei" panose="020B0503020204020204" pitchFamily="34" charset="-122"/>
              </a:rPr>
              <a:t>): </a:t>
            </a:r>
            <a:r>
              <a:rPr lang="zh-CN" altLang="en-US" sz="2400" b="0" dirty="0">
                <a:latin typeface="Microsoft YaHei" panose="020B0503020204020204" pitchFamily="34" charset="-122"/>
                <a:ea typeface="Microsoft YaHei" panose="020B0503020204020204" pitchFamily="34" charset="-122"/>
              </a:rPr>
              <a:t>三维数组（通常已被弃用）</a:t>
            </a:r>
          </a:p>
          <a:p>
            <a:pPr marL="285750" indent="-285750">
              <a:lnSpc>
                <a:spcPct val="120000"/>
              </a:lnSpc>
              <a:buFont typeface="Wingdings" pitchFamily="2" charset="2"/>
              <a:buChar char="p"/>
            </a:pPr>
            <a:endParaRPr lang="zh-CN" altLang="en-US" sz="2400" b="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454678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a:t>
            </a:r>
            <a:r>
              <a:rPr lang="zh-CN" altLang="en-US" dirty="0"/>
              <a:t> </a:t>
            </a:r>
            <a:r>
              <a:rPr lang="en-US" altLang="zh-CN" dirty="0"/>
              <a:t>AI</a:t>
            </a:r>
            <a:r>
              <a:rPr lang="zh-CN" altLang="en-US" dirty="0"/>
              <a:t>算法库</a:t>
            </a:r>
            <a:r>
              <a:rPr lang="en-US" altLang="zh-CN" dirty="0"/>
              <a:t>——Pandas</a:t>
            </a:r>
            <a:r>
              <a:rPr lang="zh-CN" altLang="en-US" dirty="0"/>
              <a:t> </a:t>
            </a:r>
            <a:r>
              <a:rPr lang="en-US" altLang="zh-CN" dirty="0"/>
              <a:t>Intro</a:t>
            </a:r>
            <a:endParaRPr lang="zh-CN" altLang="en-US" dirty="0"/>
          </a:p>
        </p:txBody>
      </p:sp>
      <p:pic>
        <p:nvPicPr>
          <p:cNvPr id="10" name="Picture 9">
            <a:extLst>
              <a:ext uri="{FF2B5EF4-FFF2-40B4-BE49-F238E27FC236}">
                <a16:creationId xmlns:a16="http://schemas.microsoft.com/office/drawing/2014/main" id="{B2A87AAE-5BB3-3672-DB6D-1C5ED86B6E04}"/>
              </a:ext>
            </a:extLst>
          </p:cNvPr>
          <p:cNvPicPr>
            <a:picLocks noChangeAspect="1"/>
          </p:cNvPicPr>
          <p:nvPr/>
        </p:nvPicPr>
        <p:blipFill>
          <a:blip r:embed="rId2"/>
          <a:stretch>
            <a:fillRect/>
          </a:stretch>
        </p:blipFill>
        <p:spPr>
          <a:xfrm>
            <a:off x="5083421" y="739202"/>
            <a:ext cx="2025158" cy="674226"/>
          </a:xfrm>
          <a:prstGeom prst="rect">
            <a:avLst/>
          </a:prstGeom>
        </p:spPr>
      </p:pic>
      <p:sp>
        <p:nvSpPr>
          <p:cNvPr id="5" name="内容占位符 2">
            <a:extLst>
              <a:ext uri="{FF2B5EF4-FFF2-40B4-BE49-F238E27FC236}">
                <a16:creationId xmlns:a16="http://schemas.microsoft.com/office/drawing/2014/main" id="{59AE0BCB-FBE0-FB09-9D8D-C43E0EE67097}"/>
              </a:ext>
            </a:extLst>
          </p:cNvPr>
          <p:cNvSpPr>
            <a:spLocks noGrp="1"/>
          </p:cNvSpPr>
          <p:nvPr>
            <p:ph idx="1"/>
          </p:nvPr>
        </p:nvSpPr>
        <p:spPr>
          <a:xfrm>
            <a:off x="383358" y="1035274"/>
            <a:ext cx="2999459" cy="631337"/>
          </a:xfrm>
        </p:spPr>
        <p:txBody>
          <a:bodyPr>
            <a:normAutofit/>
          </a:bodyPr>
          <a:lstStyle/>
          <a:p>
            <a:pPr>
              <a:buFont typeface="Wingdings" pitchFamily="2" charset="2"/>
              <a:buChar char="p"/>
            </a:pPr>
            <a:r>
              <a:rPr kumimoji="1" lang="zh-CN" altLang="en-US" dirty="0">
                <a:latin typeface="Microsoft YaHei" panose="020B0503020204020204" pitchFamily="34" charset="-122"/>
                <a:ea typeface="Microsoft YaHei" panose="020B0503020204020204" pitchFamily="34" charset="-122"/>
              </a:rPr>
              <a:t>导入</a:t>
            </a:r>
            <a:r>
              <a:rPr kumimoji="1" lang="en-US" altLang="zh-CN" dirty="0">
                <a:latin typeface="Microsoft YaHei" panose="020B0503020204020204" pitchFamily="34" charset="-122"/>
                <a:ea typeface="Microsoft YaHei" panose="020B0503020204020204" pitchFamily="34" charset="-122"/>
              </a:rPr>
              <a:t>Pandas</a:t>
            </a:r>
            <a:r>
              <a:rPr kumimoji="1" lang="zh-CN" altLang="en-US" dirty="0">
                <a:latin typeface="Microsoft YaHei" panose="020B0503020204020204" pitchFamily="34" charset="-122"/>
                <a:ea typeface="Microsoft YaHei" panose="020B0503020204020204" pitchFamily="34" charset="-122"/>
              </a:rPr>
              <a:t>库</a:t>
            </a:r>
            <a:endParaRPr kumimoji="1" lang="en-US" altLang="zh-CN" dirty="0">
              <a:latin typeface="Microsoft YaHei" panose="020B0503020204020204" pitchFamily="34" charset="-122"/>
              <a:ea typeface="Microsoft YaHei" panose="020B0503020204020204" pitchFamily="34" charset="-122"/>
            </a:endParaRPr>
          </a:p>
        </p:txBody>
      </p:sp>
      <p:pic>
        <p:nvPicPr>
          <p:cNvPr id="6" name="图片 5">
            <a:extLst>
              <a:ext uri="{FF2B5EF4-FFF2-40B4-BE49-F238E27FC236}">
                <a16:creationId xmlns:a16="http://schemas.microsoft.com/office/drawing/2014/main" id="{ED32151D-EFF4-BBFA-6DFF-1F4BD22CE37D}"/>
              </a:ext>
            </a:extLst>
          </p:cNvPr>
          <p:cNvPicPr>
            <a:picLocks noChangeAspect="1"/>
          </p:cNvPicPr>
          <p:nvPr/>
        </p:nvPicPr>
        <p:blipFill>
          <a:blip r:embed="rId3"/>
          <a:srcRect b="8648"/>
          <a:stretch/>
        </p:blipFill>
        <p:spPr>
          <a:xfrm>
            <a:off x="546639" y="1571550"/>
            <a:ext cx="2999459" cy="451486"/>
          </a:xfrm>
          <a:prstGeom prst="rect">
            <a:avLst/>
          </a:prstGeom>
          <a:ln>
            <a:solidFill>
              <a:schemeClr val="tx1"/>
            </a:solidFill>
          </a:ln>
        </p:spPr>
      </p:pic>
      <p:sp>
        <p:nvSpPr>
          <p:cNvPr id="7" name="文本框 7">
            <a:extLst>
              <a:ext uri="{FF2B5EF4-FFF2-40B4-BE49-F238E27FC236}">
                <a16:creationId xmlns:a16="http://schemas.microsoft.com/office/drawing/2014/main" id="{74BC2932-0780-C8CF-3A5D-80763F788461}"/>
              </a:ext>
            </a:extLst>
          </p:cNvPr>
          <p:cNvSpPr txBox="1"/>
          <p:nvPr/>
        </p:nvSpPr>
        <p:spPr>
          <a:xfrm>
            <a:off x="249426" y="2277761"/>
            <a:ext cx="6100354" cy="523220"/>
          </a:xfrm>
          <a:prstGeom prst="rect">
            <a:avLst/>
          </a:prstGeom>
          <a:noFill/>
        </p:spPr>
        <p:txBody>
          <a:bodyPr wrap="square">
            <a:spAutoFit/>
          </a:bodyPr>
          <a:lstStyle/>
          <a:p>
            <a:pPr>
              <a:buFont typeface="Wingdings" pitchFamily="2" charset="2"/>
              <a:buChar char="p"/>
            </a:pPr>
            <a:r>
              <a:rPr lang="zh-CN" altLang="en-US" sz="2800" dirty="0">
                <a:latin typeface="Microsoft YaHei" panose="020B0503020204020204" pitchFamily="34" charset="-122"/>
                <a:ea typeface="Microsoft YaHei" panose="020B0503020204020204" pitchFamily="34" charset="-122"/>
              </a:rPr>
              <a:t>创建 </a:t>
            </a:r>
            <a:r>
              <a:rPr lang="en" altLang="zh-CN" sz="2800" dirty="0" err="1">
                <a:latin typeface="Microsoft YaHei" panose="020B0503020204020204" pitchFamily="34" charset="-122"/>
                <a:ea typeface="Microsoft YaHei" panose="020B0503020204020204" pitchFamily="34" charset="-122"/>
              </a:rPr>
              <a:t>DataFrame</a:t>
            </a:r>
            <a:endParaRPr kumimoji="1" lang="en-US" altLang="zh-CN" sz="2800" dirty="0">
              <a:latin typeface="Microsoft YaHei" panose="020B0503020204020204" pitchFamily="34" charset="-122"/>
              <a:ea typeface="Microsoft YaHei" panose="020B0503020204020204" pitchFamily="34" charset="-122"/>
            </a:endParaRPr>
          </a:p>
        </p:txBody>
      </p:sp>
      <p:sp>
        <p:nvSpPr>
          <p:cNvPr id="9" name="文本框 9">
            <a:extLst>
              <a:ext uri="{FF2B5EF4-FFF2-40B4-BE49-F238E27FC236}">
                <a16:creationId xmlns:a16="http://schemas.microsoft.com/office/drawing/2014/main" id="{A189A37C-23BC-CC76-EA13-81839877E414}"/>
              </a:ext>
            </a:extLst>
          </p:cNvPr>
          <p:cNvSpPr txBox="1"/>
          <p:nvPr/>
        </p:nvSpPr>
        <p:spPr>
          <a:xfrm>
            <a:off x="7108579" y="1045844"/>
            <a:ext cx="6100354" cy="523220"/>
          </a:xfrm>
          <a:prstGeom prst="rect">
            <a:avLst/>
          </a:prstGeom>
          <a:noFill/>
        </p:spPr>
        <p:txBody>
          <a:bodyPr wrap="square">
            <a:spAutoFit/>
          </a:bodyPr>
          <a:lstStyle/>
          <a:p>
            <a:pPr>
              <a:buFont typeface="Wingdings" pitchFamily="2" charset="2"/>
              <a:buChar char="p"/>
            </a:pPr>
            <a:r>
              <a:rPr lang="zh-CN" altLang="en-US" sz="2800" dirty="0">
                <a:latin typeface="Microsoft YaHei" panose="020B0503020204020204" pitchFamily="34" charset="-122"/>
                <a:ea typeface="Microsoft YaHei" panose="020B0503020204020204" pitchFamily="34" charset="-122"/>
              </a:rPr>
              <a:t>读取 </a:t>
            </a:r>
            <a:r>
              <a:rPr lang="en" altLang="zh-CN" sz="2800" dirty="0">
                <a:latin typeface="Microsoft YaHei" panose="020B0503020204020204" pitchFamily="34" charset="-122"/>
                <a:ea typeface="Microsoft YaHei" panose="020B0503020204020204" pitchFamily="34" charset="-122"/>
              </a:rPr>
              <a:t>CSV </a:t>
            </a:r>
            <a:r>
              <a:rPr lang="zh-CN" altLang="en-US" sz="2800" dirty="0">
                <a:latin typeface="Microsoft YaHei" panose="020B0503020204020204" pitchFamily="34" charset="-122"/>
                <a:ea typeface="Microsoft YaHei" panose="020B0503020204020204" pitchFamily="34" charset="-122"/>
              </a:rPr>
              <a:t>文件</a:t>
            </a:r>
            <a:endParaRPr lang="en-US" altLang="zh-CN" sz="2800" dirty="0">
              <a:latin typeface="Microsoft YaHei" panose="020B0503020204020204" pitchFamily="34" charset="-122"/>
              <a:ea typeface="Microsoft YaHei" panose="020B0503020204020204" pitchFamily="34" charset="-122"/>
            </a:endParaRPr>
          </a:p>
        </p:txBody>
      </p:sp>
      <p:sp>
        <p:nvSpPr>
          <p:cNvPr id="11" name="文本框 11">
            <a:extLst>
              <a:ext uri="{FF2B5EF4-FFF2-40B4-BE49-F238E27FC236}">
                <a16:creationId xmlns:a16="http://schemas.microsoft.com/office/drawing/2014/main" id="{777B12AC-D272-F641-8823-06DC80C76411}"/>
              </a:ext>
            </a:extLst>
          </p:cNvPr>
          <p:cNvSpPr txBox="1"/>
          <p:nvPr/>
        </p:nvSpPr>
        <p:spPr>
          <a:xfrm>
            <a:off x="5354394" y="4037619"/>
            <a:ext cx="6100354" cy="523220"/>
          </a:xfrm>
          <a:prstGeom prst="rect">
            <a:avLst/>
          </a:prstGeom>
          <a:noFill/>
        </p:spPr>
        <p:txBody>
          <a:bodyPr wrap="square">
            <a:spAutoFit/>
          </a:bodyPr>
          <a:lstStyle/>
          <a:p>
            <a:pPr>
              <a:buFont typeface="Wingdings" pitchFamily="2" charset="2"/>
              <a:buChar char="p"/>
            </a:pPr>
            <a:r>
              <a:rPr lang="zh-CN" altLang="en-US" sz="2800" dirty="0">
                <a:latin typeface="Microsoft YaHei" panose="020B0503020204020204" pitchFamily="34" charset="-122"/>
                <a:ea typeface="Microsoft YaHei" panose="020B0503020204020204" pitchFamily="34" charset="-122"/>
              </a:rPr>
              <a:t>数据选择</a:t>
            </a:r>
            <a:endParaRPr lang="en-US" altLang="zh-CN" sz="2800" dirty="0">
              <a:latin typeface="Microsoft YaHei" panose="020B0503020204020204" pitchFamily="34" charset="-122"/>
              <a:ea typeface="Microsoft YaHei" panose="020B0503020204020204" pitchFamily="34" charset="-122"/>
            </a:endParaRPr>
          </a:p>
        </p:txBody>
      </p:sp>
      <p:pic>
        <p:nvPicPr>
          <p:cNvPr id="12" name="图片 27">
            <a:extLst>
              <a:ext uri="{FF2B5EF4-FFF2-40B4-BE49-F238E27FC236}">
                <a16:creationId xmlns:a16="http://schemas.microsoft.com/office/drawing/2014/main" id="{D0116AD0-FA57-1D4A-336A-1F62A3E80686}"/>
              </a:ext>
            </a:extLst>
          </p:cNvPr>
          <p:cNvPicPr>
            <a:picLocks noChangeAspect="1"/>
          </p:cNvPicPr>
          <p:nvPr/>
        </p:nvPicPr>
        <p:blipFill>
          <a:blip r:embed="rId4"/>
          <a:srcRect r="4516" b="3700"/>
          <a:stretch/>
        </p:blipFill>
        <p:spPr>
          <a:xfrm>
            <a:off x="5532442" y="1611690"/>
            <a:ext cx="5401166" cy="2395487"/>
          </a:xfrm>
          <a:prstGeom prst="rect">
            <a:avLst/>
          </a:prstGeom>
          <a:ln>
            <a:solidFill>
              <a:schemeClr val="tx1"/>
            </a:solidFill>
          </a:ln>
        </p:spPr>
      </p:pic>
      <p:pic>
        <p:nvPicPr>
          <p:cNvPr id="13" name="图片 31">
            <a:extLst>
              <a:ext uri="{FF2B5EF4-FFF2-40B4-BE49-F238E27FC236}">
                <a16:creationId xmlns:a16="http://schemas.microsoft.com/office/drawing/2014/main" id="{2531AE44-8F95-3B5C-C266-986C3DBD94B3}"/>
              </a:ext>
            </a:extLst>
          </p:cNvPr>
          <p:cNvPicPr>
            <a:picLocks noChangeAspect="1"/>
          </p:cNvPicPr>
          <p:nvPr/>
        </p:nvPicPr>
        <p:blipFill>
          <a:blip r:embed="rId5"/>
          <a:srcRect l="2450"/>
          <a:stretch/>
        </p:blipFill>
        <p:spPr>
          <a:xfrm>
            <a:off x="5605272" y="4666497"/>
            <a:ext cx="2898970" cy="1625600"/>
          </a:xfrm>
          <a:prstGeom prst="rect">
            <a:avLst/>
          </a:prstGeom>
          <a:ln>
            <a:solidFill>
              <a:schemeClr val="tx1"/>
            </a:solidFill>
          </a:ln>
        </p:spPr>
      </p:pic>
      <p:pic>
        <p:nvPicPr>
          <p:cNvPr id="14" name="图片 33">
            <a:extLst>
              <a:ext uri="{FF2B5EF4-FFF2-40B4-BE49-F238E27FC236}">
                <a16:creationId xmlns:a16="http://schemas.microsoft.com/office/drawing/2014/main" id="{EF76A943-E1C5-F69B-8ABF-799AF2F77D7C}"/>
              </a:ext>
            </a:extLst>
          </p:cNvPr>
          <p:cNvPicPr>
            <a:picLocks noChangeAspect="1"/>
          </p:cNvPicPr>
          <p:nvPr/>
        </p:nvPicPr>
        <p:blipFill>
          <a:blip r:embed="rId6"/>
          <a:stretch>
            <a:fillRect/>
          </a:stretch>
        </p:blipFill>
        <p:spPr>
          <a:xfrm>
            <a:off x="8582619" y="4666497"/>
            <a:ext cx="3086100" cy="1638300"/>
          </a:xfrm>
          <a:prstGeom prst="rect">
            <a:avLst/>
          </a:prstGeom>
          <a:ln>
            <a:solidFill>
              <a:schemeClr val="tx1"/>
            </a:solidFill>
          </a:ln>
        </p:spPr>
      </p:pic>
      <p:pic>
        <p:nvPicPr>
          <p:cNvPr id="15" name="图片 35">
            <a:extLst>
              <a:ext uri="{FF2B5EF4-FFF2-40B4-BE49-F238E27FC236}">
                <a16:creationId xmlns:a16="http://schemas.microsoft.com/office/drawing/2014/main" id="{94C26603-8A1F-88D5-CF0F-E544213797B5}"/>
              </a:ext>
            </a:extLst>
          </p:cNvPr>
          <p:cNvPicPr>
            <a:picLocks noChangeAspect="1"/>
          </p:cNvPicPr>
          <p:nvPr/>
        </p:nvPicPr>
        <p:blipFill>
          <a:blip r:embed="rId7"/>
          <a:stretch>
            <a:fillRect/>
          </a:stretch>
        </p:blipFill>
        <p:spPr>
          <a:xfrm>
            <a:off x="390761" y="2883418"/>
            <a:ext cx="4372932" cy="2999236"/>
          </a:xfrm>
          <a:prstGeom prst="rect">
            <a:avLst/>
          </a:prstGeom>
          <a:ln>
            <a:solidFill>
              <a:schemeClr val="tx1"/>
            </a:solidFill>
          </a:ln>
        </p:spPr>
      </p:pic>
    </p:spTree>
    <p:extLst>
      <p:ext uri="{BB962C8B-B14F-4D97-AF65-F5344CB8AC3E}">
        <p14:creationId xmlns:p14="http://schemas.microsoft.com/office/powerpoint/2010/main" val="1740929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a:t>
            </a:r>
            <a:r>
              <a:rPr lang="zh-CN" altLang="en-US" dirty="0"/>
              <a:t> </a:t>
            </a:r>
            <a:r>
              <a:rPr lang="en-US" altLang="zh-CN" dirty="0"/>
              <a:t>AI</a:t>
            </a:r>
            <a:r>
              <a:rPr lang="zh-CN" altLang="en-US" dirty="0"/>
              <a:t>算法库</a:t>
            </a:r>
            <a:r>
              <a:rPr lang="en-US" altLang="zh-CN" dirty="0"/>
              <a:t>——Pandas</a:t>
            </a:r>
            <a:r>
              <a:rPr lang="zh-CN" altLang="en-US" dirty="0"/>
              <a:t> </a:t>
            </a:r>
            <a:r>
              <a:rPr lang="en-US" altLang="zh-CN" dirty="0"/>
              <a:t>Intro</a:t>
            </a:r>
            <a:endParaRPr lang="zh-CN" altLang="en-US" dirty="0"/>
          </a:p>
        </p:txBody>
      </p:sp>
      <p:pic>
        <p:nvPicPr>
          <p:cNvPr id="10" name="Picture 9">
            <a:extLst>
              <a:ext uri="{FF2B5EF4-FFF2-40B4-BE49-F238E27FC236}">
                <a16:creationId xmlns:a16="http://schemas.microsoft.com/office/drawing/2014/main" id="{B2A87AAE-5BB3-3672-DB6D-1C5ED86B6E04}"/>
              </a:ext>
            </a:extLst>
          </p:cNvPr>
          <p:cNvPicPr>
            <a:picLocks noChangeAspect="1"/>
          </p:cNvPicPr>
          <p:nvPr/>
        </p:nvPicPr>
        <p:blipFill>
          <a:blip r:embed="rId2"/>
          <a:stretch>
            <a:fillRect/>
          </a:stretch>
        </p:blipFill>
        <p:spPr>
          <a:xfrm>
            <a:off x="5083421" y="739202"/>
            <a:ext cx="2025158" cy="674226"/>
          </a:xfrm>
          <a:prstGeom prst="rect">
            <a:avLst/>
          </a:prstGeom>
        </p:spPr>
      </p:pic>
      <p:sp>
        <p:nvSpPr>
          <p:cNvPr id="8" name="文本框 17">
            <a:extLst>
              <a:ext uri="{FF2B5EF4-FFF2-40B4-BE49-F238E27FC236}">
                <a16:creationId xmlns:a16="http://schemas.microsoft.com/office/drawing/2014/main" id="{FF999E97-9A49-CE51-D898-3369717B631F}"/>
              </a:ext>
            </a:extLst>
          </p:cNvPr>
          <p:cNvSpPr txBox="1"/>
          <p:nvPr/>
        </p:nvSpPr>
        <p:spPr>
          <a:xfrm>
            <a:off x="360000" y="3567983"/>
            <a:ext cx="6100354" cy="523220"/>
          </a:xfrm>
          <a:prstGeom prst="rect">
            <a:avLst/>
          </a:prstGeom>
          <a:noFill/>
        </p:spPr>
        <p:txBody>
          <a:bodyPr wrap="square">
            <a:spAutoFit/>
          </a:bodyPr>
          <a:lstStyle/>
          <a:p>
            <a:pPr>
              <a:buFont typeface="Wingdings" pitchFamily="2" charset="2"/>
              <a:buChar char="p"/>
            </a:pPr>
            <a:r>
              <a:rPr lang="zh-CN" altLang="en-US" sz="2800" dirty="0">
                <a:latin typeface="Microsoft YaHei" panose="020B0503020204020204" pitchFamily="34" charset="-122"/>
                <a:ea typeface="Microsoft YaHei" panose="020B0503020204020204" pitchFamily="34" charset="-122"/>
              </a:rPr>
              <a:t>处理缺失值</a:t>
            </a:r>
            <a:endParaRPr lang="en-US" altLang="zh-CN" sz="2800" dirty="0">
              <a:latin typeface="Microsoft YaHei" panose="020B0503020204020204" pitchFamily="34" charset="-122"/>
              <a:ea typeface="Microsoft YaHei" panose="020B0503020204020204" pitchFamily="34" charset="-122"/>
            </a:endParaRPr>
          </a:p>
        </p:txBody>
      </p:sp>
      <p:sp>
        <p:nvSpPr>
          <p:cNvPr id="16" name="文本框 21">
            <a:extLst>
              <a:ext uri="{FF2B5EF4-FFF2-40B4-BE49-F238E27FC236}">
                <a16:creationId xmlns:a16="http://schemas.microsoft.com/office/drawing/2014/main" id="{83D3E714-6A18-1AD5-F72D-DBBF6C2CBD5C}"/>
              </a:ext>
            </a:extLst>
          </p:cNvPr>
          <p:cNvSpPr txBox="1"/>
          <p:nvPr/>
        </p:nvSpPr>
        <p:spPr>
          <a:xfrm>
            <a:off x="7398394" y="1100654"/>
            <a:ext cx="6100354" cy="523220"/>
          </a:xfrm>
          <a:prstGeom prst="rect">
            <a:avLst/>
          </a:prstGeom>
          <a:noFill/>
        </p:spPr>
        <p:txBody>
          <a:bodyPr wrap="square">
            <a:spAutoFit/>
          </a:bodyPr>
          <a:lstStyle/>
          <a:p>
            <a:pPr>
              <a:buFont typeface="Wingdings" pitchFamily="2" charset="2"/>
              <a:buChar char="p"/>
            </a:pPr>
            <a:r>
              <a:rPr lang="zh-CN" altLang="en-US" sz="2800" dirty="0">
                <a:latin typeface="Microsoft YaHei" panose="020B0503020204020204" pitchFamily="34" charset="-122"/>
                <a:ea typeface="Microsoft YaHei" panose="020B0503020204020204" pitchFamily="34" charset="-122"/>
              </a:rPr>
              <a:t>数据排序</a:t>
            </a:r>
            <a:endParaRPr lang="en-US" altLang="zh-CN" sz="2800" dirty="0">
              <a:latin typeface="Microsoft YaHei" panose="020B0503020204020204" pitchFamily="34" charset="-122"/>
              <a:ea typeface="Microsoft YaHei" panose="020B0503020204020204" pitchFamily="34" charset="-122"/>
            </a:endParaRPr>
          </a:p>
        </p:txBody>
      </p:sp>
      <p:sp>
        <p:nvSpPr>
          <p:cNvPr id="17" name="文本框 23">
            <a:extLst>
              <a:ext uri="{FF2B5EF4-FFF2-40B4-BE49-F238E27FC236}">
                <a16:creationId xmlns:a16="http://schemas.microsoft.com/office/drawing/2014/main" id="{1553C1EB-76C2-A412-8556-7304B394A5D2}"/>
              </a:ext>
            </a:extLst>
          </p:cNvPr>
          <p:cNvSpPr txBox="1"/>
          <p:nvPr/>
        </p:nvSpPr>
        <p:spPr>
          <a:xfrm>
            <a:off x="360000" y="5075320"/>
            <a:ext cx="6100354" cy="523220"/>
          </a:xfrm>
          <a:prstGeom prst="rect">
            <a:avLst/>
          </a:prstGeom>
          <a:noFill/>
        </p:spPr>
        <p:txBody>
          <a:bodyPr wrap="square">
            <a:spAutoFit/>
          </a:bodyPr>
          <a:lstStyle/>
          <a:p>
            <a:pPr>
              <a:buFont typeface="Wingdings" pitchFamily="2" charset="2"/>
              <a:buChar char="p"/>
            </a:pPr>
            <a:r>
              <a:rPr lang="zh-CN" altLang="en-US" sz="2800" dirty="0">
                <a:latin typeface="Microsoft YaHei" panose="020B0503020204020204" pitchFamily="34" charset="-122"/>
                <a:ea typeface="Microsoft YaHei" panose="020B0503020204020204" pitchFamily="34" charset="-122"/>
              </a:rPr>
              <a:t>保存 </a:t>
            </a:r>
            <a:r>
              <a:rPr lang="en" altLang="zh-CN" sz="2800" dirty="0" err="1">
                <a:latin typeface="Microsoft YaHei" panose="020B0503020204020204" pitchFamily="34" charset="-122"/>
                <a:ea typeface="Microsoft YaHei" panose="020B0503020204020204" pitchFamily="34" charset="-122"/>
              </a:rPr>
              <a:t>DataFrame</a:t>
            </a:r>
            <a:endParaRPr lang="zh-CN" altLang="en-US" sz="2800" dirty="0"/>
          </a:p>
        </p:txBody>
      </p:sp>
      <p:sp>
        <p:nvSpPr>
          <p:cNvPr id="18" name="文本框 15">
            <a:extLst>
              <a:ext uri="{FF2B5EF4-FFF2-40B4-BE49-F238E27FC236}">
                <a16:creationId xmlns:a16="http://schemas.microsoft.com/office/drawing/2014/main" id="{DD9AB5C4-0C11-33EB-CF70-746D935E9D98}"/>
              </a:ext>
            </a:extLst>
          </p:cNvPr>
          <p:cNvSpPr txBox="1"/>
          <p:nvPr/>
        </p:nvSpPr>
        <p:spPr>
          <a:xfrm>
            <a:off x="439615" y="1346581"/>
            <a:ext cx="6100354" cy="523220"/>
          </a:xfrm>
          <a:prstGeom prst="rect">
            <a:avLst/>
          </a:prstGeom>
          <a:noFill/>
        </p:spPr>
        <p:txBody>
          <a:bodyPr wrap="square">
            <a:spAutoFit/>
          </a:bodyPr>
          <a:lstStyle/>
          <a:p>
            <a:pPr>
              <a:buFont typeface="Wingdings" pitchFamily="2" charset="2"/>
              <a:buChar char="p"/>
            </a:pPr>
            <a:r>
              <a:rPr lang="zh-CN" altLang="en-US" sz="2800" dirty="0">
                <a:latin typeface="Microsoft YaHei" panose="020B0503020204020204" pitchFamily="34" charset="-122"/>
                <a:ea typeface="Microsoft YaHei" panose="020B0503020204020204" pitchFamily="34" charset="-122"/>
              </a:rPr>
              <a:t>添加新列</a:t>
            </a:r>
            <a:endParaRPr lang="en-US" altLang="zh-CN" sz="2800" dirty="0">
              <a:latin typeface="Microsoft YaHei" panose="020B0503020204020204" pitchFamily="34" charset="-122"/>
              <a:ea typeface="Microsoft YaHei" panose="020B0503020204020204" pitchFamily="34" charset="-122"/>
            </a:endParaRPr>
          </a:p>
        </p:txBody>
      </p:sp>
      <p:pic>
        <p:nvPicPr>
          <p:cNvPr id="19" name="图片 18">
            <a:extLst>
              <a:ext uri="{FF2B5EF4-FFF2-40B4-BE49-F238E27FC236}">
                <a16:creationId xmlns:a16="http://schemas.microsoft.com/office/drawing/2014/main" id="{8633F9DF-1986-1709-99C1-B3B9B47DCEA4}"/>
              </a:ext>
            </a:extLst>
          </p:cNvPr>
          <p:cNvPicPr>
            <a:picLocks noChangeAspect="1"/>
          </p:cNvPicPr>
          <p:nvPr/>
        </p:nvPicPr>
        <p:blipFill>
          <a:blip r:embed="rId3"/>
          <a:srcRect l="948" r="7059" b="4189"/>
          <a:stretch/>
        </p:blipFill>
        <p:spPr>
          <a:xfrm>
            <a:off x="454824" y="4182754"/>
            <a:ext cx="6437376" cy="523220"/>
          </a:xfrm>
          <a:prstGeom prst="rect">
            <a:avLst/>
          </a:prstGeom>
          <a:ln>
            <a:solidFill>
              <a:schemeClr val="tx1"/>
            </a:solidFill>
          </a:ln>
        </p:spPr>
      </p:pic>
      <p:pic>
        <p:nvPicPr>
          <p:cNvPr id="20" name="图片 20">
            <a:extLst>
              <a:ext uri="{FF2B5EF4-FFF2-40B4-BE49-F238E27FC236}">
                <a16:creationId xmlns:a16="http://schemas.microsoft.com/office/drawing/2014/main" id="{6C021202-09A0-0C96-FFDB-1CD1D1849FAA}"/>
              </a:ext>
            </a:extLst>
          </p:cNvPr>
          <p:cNvPicPr>
            <a:picLocks noChangeAspect="1"/>
          </p:cNvPicPr>
          <p:nvPr/>
        </p:nvPicPr>
        <p:blipFill>
          <a:blip r:embed="rId4"/>
          <a:srcRect l="535"/>
          <a:stretch/>
        </p:blipFill>
        <p:spPr>
          <a:xfrm>
            <a:off x="5577839" y="1623874"/>
            <a:ext cx="5709679" cy="1739900"/>
          </a:xfrm>
          <a:prstGeom prst="rect">
            <a:avLst/>
          </a:prstGeom>
          <a:ln>
            <a:solidFill>
              <a:schemeClr val="tx1"/>
            </a:solidFill>
          </a:ln>
        </p:spPr>
      </p:pic>
      <p:pic>
        <p:nvPicPr>
          <p:cNvPr id="21" name="图片 24">
            <a:extLst>
              <a:ext uri="{FF2B5EF4-FFF2-40B4-BE49-F238E27FC236}">
                <a16:creationId xmlns:a16="http://schemas.microsoft.com/office/drawing/2014/main" id="{1365846E-ACF6-6C66-4141-E8791B6FDA91}"/>
              </a:ext>
            </a:extLst>
          </p:cNvPr>
          <p:cNvPicPr>
            <a:picLocks noChangeAspect="1"/>
          </p:cNvPicPr>
          <p:nvPr/>
        </p:nvPicPr>
        <p:blipFill>
          <a:blip r:embed="rId5"/>
          <a:srcRect l="1708"/>
          <a:stretch/>
        </p:blipFill>
        <p:spPr>
          <a:xfrm>
            <a:off x="479590" y="1855161"/>
            <a:ext cx="3819816" cy="1739900"/>
          </a:xfrm>
          <a:prstGeom prst="rect">
            <a:avLst/>
          </a:prstGeom>
          <a:ln>
            <a:solidFill>
              <a:schemeClr val="tx1"/>
            </a:solidFill>
          </a:ln>
        </p:spPr>
      </p:pic>
      <p:pic>
        <p:nvPicPr>
          <p:cNvPr id="22" name="图片 28">
            <a:extLst>
              <a:ext uri="{FF2B5EF4-FFF2-40B4-BE49-F238E27FC236}">
                <a16:creationId xmlns:a16="http://schemas.microsoft.com/office/drawing/2014/main" id="{50C00FA1-C162-0DA2-19D8-CE7CD5A41130}"/>
              </a:ext>
            </a:extLst>
          </p:cNvPr>
          <p:cNvPicPr>
            <a:picLocks noChangeAspect="1"/>
          </p:cNvPicPr>
          <p:nvPr/>
        </p:nvPicPr>
        <p:blipFill>
          <a:blip r:embed="rId6"/>
          <a:stretch>
            <a:fillRect/>
          </a:stretch>
        </p:blipFill>
        <p:spPr>
          <a:xfrm>
            <a:off x="7332734" y="4276520"/>
            <a:ext cx="3886200" cy="1485900"/>
          </a:xfrm>
          <a:prstGeom prst="rect">
            <a:avLst/>
          </a:prstGeom>
          <a:ln>
            <a:solidFill>
              <a:schemeClr val="tx1"/>
            </a:solidFill>
          </a:ln>
        </p:spPr>
      </p:pic>
      <p:pic>
        <p:nvPicPr>
          <p:cNvPr id="23" name="图片 30">
            <a:extLst>
              <a:ext uri="{FF2B5EF4-FFF2-40B4-BE49-F238E27FC236}">
                <a16:creationId xmlns:a16="http://schemas.microsoft.com/office/drawing/2014/main" id="{C3EC5D63-2CF1-FCFE-B255-221B9B03FC14}"/>
              </a:ext>
            </a:extLst>
          </p:cNvPr>
          <p:cNvPicPr>
            <a:picLocks noChangeAspect="1"/>
          </p:cNvPicPr>
          <p:nvPr/>
        </p:nvPicPr>
        <p:blipFill>
          <a:blip r:embed="rId7"/>
          <a:stretch>
            <a:fillRect/>
          </a:stretch>
        </p:blipFill>
        <p:spPr>
          <a:xfrm>
            <a:off x="454824" y="5690091"/>
            <a:ext cx="3886200" cy="342900"/>
          </a:xfrm>
          <a:prstGeom prst="rect">
            <a:avLst/>
          </a:prstGeom>
          <a:ln>
            <a:solidFill>
              <a:schemeClr val="tx1"/>
            </a:solidFill>
          </a:ln>
        </p:spPr>
      </p:pic>
    </p:spTree>
    <p:extLst>
      <p:ext uri="{BB962C8B-B14F-4D97-AF65-F5344CB8AC3E}">
        <p14:creationId xmlns:p14="http://schemas.microsoft.com/office/powerpoint/2010/main" val="3165356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a:t>
            </a:r>
            <a:r>
              <a:rPr lang="zh-CN" altLang="en-US" dirty="0"/>
              <a:t> </a:t>
            </a:r>
            <a:r>
              <a:rPr lang="en-US" altLang="zh-CN" dirty="0"/>
              <a:t>AI</a:t>
            </a:r>
            <a:r>
              <a:rPr lang="zh-CN" altLang="en-US" dirty="0"/>
              <a:t>算法库</a:t>
            </a:r>
            <a:r>
              <a:rPr lang="en-US" altLang="zh-CN" dirty="0"/>
              <a:t>——NumPy</a:t>
            </a:r>
            <a:r>
              <a:rPr lang="zh-CN" altLang="en-US" dirty="0"/>
              <a:t>（数值计算与科学计算）</a:t>
            </a:r>
          </a:p>
        </p:txBody>
      </p:sp>
      <p:pic>
        <p:nvPicPr>
          <p:cNvPr id="4" name="Picture 3">
            <a:extLst>
              <a:ext uri="{FF2B5EF4-FFF2-40B4-BE49-F238E27FC236}">
                <a16:creationId xmlns:a16="http://schemas.microsoft.com/office/drawing/2014/main" id="{9E9F3F97-FCE0-2737-2541-8D7CD6707F75}"/>
              </a:ext>
            </a:extLst>
          </p:cNvPr>
          <p:cNvPicPr>
            <a:picLocks noChangeAspect="1"/>
          </p:cNvPicPr>
          <p:nvPr/>
        </p:nvPicPr>
        <p:blipFill>
          <a:blip r:embed="rId2"/>
          <a:stretch>
            <a:fillRect/>
          </a:stretch>
        </p:blipFill>
        <p:spPr>
          <a:xfrm>
            <a:off x="9648629" y="1657699"/>
            <a:ext cx="1629276" cy="691208"/>
          </a:xfrm>
          <a:prstGeom prst="rect">
            <a:avLst/>
          </a:prstGeom>
        </p:spPr>
      </p:pic>
      <p:sp>
        <p:nvSpPr>
          <p:cNvPr id="7" name="内容占位符 2">
            <a:extLst>
              <a:ext uri="{FF2B5EF4-FFF2-40B4-BE49-F238E27FC236}">
                <a16:creationId xmlns:a16="http://schemas.microsoft.com/office/drawing/2014/main" id="{C90B3A33-85FC-12C2-08EF-E8FE60FA065B}"/>
              </a:ext>
            </a:extLst>
          </p:cNvPr>
          <p:cNvSpPr>
            <a:spLocks noGrp="1"/>
          </p:cNvSpPr>
          <p:nvPr>
            <p:ph idx="1"/>
          </p:nvPr>
        </p:nvSpPr>
        <p:spPr>
          <a:xfrm>
            <a:off x="439615" y="875793"/>
            <a:ext cx="11298116" cy="4146781"/>
          </a:xfrm>
        </p:spPr>
        <p:txBody>
          <a:bodyPr>
            <a:normAutofit/>
          </a:bodyPr>
          <a:lstStyle/>
          <a:p>
            <a:pPr>
              <a:lnSpc>
                <a:spcPct val="120000"/>
              </a:lnSpc>
              <a:buFont typeface="Wingdings" pitchFamily="2" charset="2"/>
              <a:buChar char="p"/>
            </a:pPr>
            <a:r>
              <a:rPr kumimoji="1" lang="en-US" altLang="zh-CN" dirty="0">
                <a:latin typeface="Microsoft YaHei" panose="020B0503020204020204" pitchFamily="34" charset="-122"/>
                <a:ea typeface="Microsoft YaHei" panose="020B0503020204020204" pitchFamily="34" charset="-122"/>
              </a:rPr>
              <a:t>NumPy</a:t>
            </a:r>
            <a:r>
              <a:rPr kumimoji="1" lang="zh-CN" altLang="en-US" dirty="0">
                <a:latin typeface="Microsoft YaHei" panose="020B0503020204020204" pitchFamily="34" charset="-122"/>
                <a:ea typeface="Microsoft YaHei" panose="020B0503020204020204" pitchFamily="34" charset="-122"/>
              </a:rPr>
              <a:t>是</a:t>
            </a:r>
            <a:r>
              <a:rPr lang="en" altLang="zh-CN" i="0" u="none" strike="noStrike" dirty="0">
                <a:effectLst/>
                <a:latin typeface="Microsoft YaHei" panose="020B0503020204020204" pitchFamily="34" charset="-122"/>
                <a:ea typeface="Microsoft YaHei" panose="020B0503020204020204" pitchFamily="34" charset="-122"/>
              </a:rPr>
              <a:t>Python</a:t>
            </a:r>
            <a:r>
              <a:rPr lang="zh-CN" altLang="en" i="0" u="none" strike="noStrike" dirty="0">
                <a:effectLst/>
                <a:latin typeface="Microsoft YaHei" panose="020B0503020204020204" pitchFamily="34" charset="-122"/>
                <a:ea typeface="Microsoft YaHei" panose="020B0503020204020204" pitchFamily="34" charset="-122"/>
              </a:rPr>
              <a:t>的</a:t>
            </a:r>
            <a:r>
              <a:rPr lang="zh-CN" altLang="en-US" i="0" u="none" strike="noStrike" dirty="0">
                <a:effectLst/>
                <a:latin typeface="Microsoft YaHei" panose="020B0503020204020204" pitchFamily="34" charset="-122"/>
                <a:ea typeface="Microsoft YaHei" panose="020B0503020204020204" pitchFamily="34" charset="-122"/>
              </a:rPr>
              <a:t>一个科学计算库，</a:t>
            </a:r>
            <a:r>
              <a:rPr lang="zh-CN" altLang="en-US" dirty="0">
                <a:solidFill>
                  <a:srgbClr val="333333"/>
                </a:solidFill>
                <a:effectLst/>
                <a:latin typeface="Microsoft YaHei" panose="020B0503020204020204" pitchFamily="34" charset="-122"/>
                <a:ea typeface="Microsoft YaHei" panose="020B0503020204020204" pitchFamily="34" charset="-122"/>
              </a:rPr>
              <a:t>支持大量的维度数组与矩阵运算，此外也针对数组运算提供大量的数学函数库。</a:t>
            </a:r>
            <a:endParaRPr lang="en-US" altLang="zh-CN" dirty="0">
              <a:solidFill>
                <a:srgbClr val="333333"/>
              </a:solidFill>
              <a:effectLst/>
              <a:latin typeface="Microsoft YaHei" panose="020B0503020204020204" pitchFamily="34" charset="-122"/>
              <a:ea typeface="Microsoft YaHei" panose="020B0503020204020204" pitchFamily="34" charset="-122"/>
            </a:endParaRPr>
          </a:p>
          <a:p>
            <a:pPr latinLnBrk="1">
              <a:lnSpc>
                <a:spcPct val="120000"/>
              </a:lnSpc>
              <a:buFont typeface="Wingdings" pitchFamily="2" charset="2"/>
              <a:buChar char="p"/>
            </a:pPr>
            <a:r>
              <a:rPr lang="en" altLang="zh-CN" dirty="0">
                <a:solidFill>
                  <a:srgbClr val="333333"/>
                </a:solidFill>
                <a:effectLst/>
                <a:latin typeface="Microsoft YaHei" panose="020B0503020204020204" pitchFamily="34" charset="-122"/>
                <a:ea typeface="Microsoft YaHei" panose="020B0503020204020204" pitchFamily="34" charset="-122"/>
              </a:rPr>
              <a:t>NumPy </a:t>
            </a:r>
            <a:r>
              <a:rPr lang="zh-CN" altLang="en-US" dirty="0">
                <a:solidFill>
                  <a:srgbClr val="333333"/>
                </a:solidFill>
                <a:effectLst/>
                <a:latin typeface="Microsoft YaHei" panose="020B0503020204020204" pitchFamily="34" charset="-122"/>
                <a:ea typeface="Microsoft YaHei" panose="020B0503020204020204" pitchFamily="34" charset="-122"/>
              </a:rPr>
              <a:t>为开放源代码并且由许多协作者共同维护开发。</a:t>
            </a:r>
            <a:endParaRPr lang="en-US" altLang="zh-CN" dirty="0">
              <a:solidFill>
                <a:srgbClr val="333333"/>
              </a:solidFill>
              <a:effectLst/>
              <a:latin typeface="Microsoft YaHei" panose="020B0503020204020204" pitchFamily="34" charset="-122"/>
              <a:ea typeface="Microsoft YaHei" panose="020B0503020204020204" pitchFamily="34" charset="-122"/>
            </a:endParaRPr>
          </a:p>
          <a:p>
            <a:pPr latinLnBrk="1">
              <a:lnSpc>
                <a:spcPct val="120000"/>
              </a:lnSpc>
              <a:buFont typeface="Wingdings" pitchFamily="2" charset="2"/>
              <a:buChar char="p"/>
            </a:pPr>
            <a:r>
              <a:rPr lang="en" altLang="zh-CN" i="0" dirty="0">
                <a:solidFill>
                  <a:srgbClr val="333333"/>
                </a:solidFill>
                <a:effectLst/>
                <a:latin typeface="Microsoft YaHei" panose="020B0503020204020204" pitchFamily="34" charset="-122"/>
                <a:ea typeface="Microsoft YaHei" panose="020B0503020204020204" pitchFamily="34" charset="-122"/>
              </a:rPr>
              <a:t>NumPy </a:t>
            </a:r>
            <a:r>
              <a:rPr lang="zh-CN" altLang="en-US" i="0" dirty="0">
                <a:solidFill>
                  <a:srgbClr val="333333"/>
                </a:solidFill>
                <a:effectLst/>
                <a:latin typeface="Microsoft YaHei" panose="020B0503020204020204" pitchFamily="34" charset="-122"/>
                <a:ea typeface="Microsoft YaHei" panose="020B0503020204020204" pitchFamily="34" charset="-122"/>
              </a:rPr>
              <a:t>是运行速度非常快的数学库，主要用于数组计算，包含功能：</a:t>
            </a:r>
          </a:p>
          <a:p>
            <a:pPr lvl="1" latinLnBrk="1">
              <a:lnSpc>
                <a:spcPct val="120000"/>
              </a:lnSpc>
              <a:buFont typeface="Wingdings" pitchFamily="2" charset="2"/>
              <a:buChar char="Ø"/>
            </a:pPr>
            <a:r>
              <a:rPr lang="zh-CN" altLang="en-US" sz="2000" i="0" dirty="0">
                <a:solidFill>
                  <a:srgbClr val="333333"/>
                </a:solidFill>
                <a:effectLst/>
                <a:latin typeface="Microsoft YaHei" panose="020B0503020204020204" pitchFamily="34" charset="-122"/>
                <a:ea typeface="Microsoft YaHei" panose="020B0503020204020204" pitchFamily="34" charset="-122"/>
              </a:rPr>
              <a:t>一个强大的</a:t>
            </a:r>
            <a:r>
              <a:rPr lang="en" altLang="zh-CN" sz="2000" i="0" dirty="0">
                <a:solidFill>
                  <a:srgbClr val="333333"/>
                </a:solidFill>
                <a:effectLst/>
                <a:latin typeface="Microsoft YaHei" panose="020B0503020204020204" pitchFamily="34" charset="-122"/>
                <a:ea typeface="Microsoft YaHei" panose="020B0503020204020204" pitchFamily="34" charset="-122"/>
              </a:rPr>
              <a:t>N</a:t>
            </a:r>
            <a:r>
              <a:rPr lang="zh-CN" altLang="en-US" sz="2000" i="0" dirty="0">
                <a:solidFill>
                  <a:srgbClr val="333333"/>
                </a:solidFill>
                <a:effectLst/>
                <a:latin typeface="Microsoft YaHei" panose="020B0503020204020204" pitchFamily="34" charset="-122"/>
                <a:ea typeface="Microsoft YaHei" panose="020B0503020204020204" pitchFamily="34" charset="-122"/>
              </a:rPr>
              <a:t>维数组对象 </a:t>
            </a:r>
            <a:r>
              <a:rPr lang="en-US" altLang="zh-CN" sz="2000" i="0" dirty="0" err="1">
                <a:solidFill>
                  <a:srgbClr val="333333"/>
                </a:solidFill>
                <a:effectLst/>
                <a:latin typeface="Microsoft YaHei" panose="020B0503020204020204" pitchFamily="34" charset="-122"/>
                <a:ea typeface="Microsoft YaHei" panose="020B0503020204020204" pitchFamily="34" charset="-122"/>
              </a:rPr>
              <a:t>nd</a:t>
            </a:r>
            <a:r>
              <a:rPr lang="en" altLang="zh-CN" sz="2000" i="0" dirty="0">
                <a:solidFill>
                  <a:srgbClr val="333333"/>
                </a:solidFill>
                <a:effectLst/>
                <a:latin typeface="Microsoft YaHei" panose="020B0503020204020204" pitchFamily="34" charset="-122"/>
                <a:ea typeface="Microsoft YaHei" panose="020B0503020204020204" pitchFamily="34" charset="-122"/>
              </a:rPr>
              <a:t>array</a:t>
            </a:r>
          </a:p>
          <a:p>
            <a:pPr lvl="1" latinLnBrk="1">
              <a:lnSpc>
                <a:spcPct val="120000"/>
              </a:lnSpc>
              <a:buFont typeface="Wingdings" pitchFamily="2" charset="2"/>
              <a:buChar char="Ø"/>
            </a:pPr>
            <a:r>
              <a:rPr lang="zh-CN" altLang="en-US" sz="2000" i="0" dirty="0">
                <a:solidFill>
                  <a:srgbClr val="333333"/>
                </a:solidFill>
                <a:effectLst/>
                <a:latin typeface="Microsoft YaHei" panose="020B0503020204020204" pitchFamily="34" charset="-122"/>
                <a:ea typeface="Microsoft YaHei" panose="020B0503020204020204" pitchFamily="34" charset="-122"/>
              </a:rPr>
              <a:t>广播功能函数</a:t>
            </a:r>
          </a:p>
          <a:p>
            <a:pPr lvl="1" latinLnBrk="1">
              <a:lnSpc>
                <a:spcPct val="120000"/>
              </a:lnSpc>
              <a:buFont typeface="Wingdings" pitchFamily="2" charset="2"/>
              <a:buChar char="Ø"/>
            </a:pPr>
            <a:r>
              <a:rPr lang="zh-CN" altLang="en-US" sz="2000" i="0" dirty="0">
                <a:solidFill>
                  <a:srgbClr val="333333"/>
                </a:solidFill>
                <a:effectLst/>
                <a:latin typeface="Microsoft YaHei" panose="020B0503020204020204" pitchFamily="34" charset="-122"/>
                <a:ea typeface="Microsoft YaHei" panose="020B0503020204020204" pitchFamily="34" charset="-122"/>
              </a:rPr>
              <a:t>整合 </a:t>
            </a:r>
            <a:r>
              <a:rPr lang="en" altLang="zh-CN" sz="2000" i="0" dirty="0">
                <a:solidFill>
                  <a:srgbClr val="333333"/>
                </a:solidFill>
                <a:effectLst/>
                <a:latin typeface="Microsoft YaHei" panose="020B0503020204020204" pitchFamily="34" charset="-122"/>
                <a:ea typeface="Microsoft YaHei" panose="020B0503020204020204" pitchFamily="34" charset="-122"/>
              </a:rPr>
              <a:t>C/C++/Fortran </a:t>
            </a:r>
            <a:r>
              <a:rPr lang="zh-CN" altLang="en-US" sz="2000" i="0" dirty="0">
                <a:solidFill>
                  <a:srgbClr val="333333"/>
                </a:solidFill>
                <a:effectLst/>
                <a:latin typeface="Microsoft YaHei" panose="020B0503020204020204" pitchFamily="34" charset="-122"/>
                <a:ea typeface="Microsoft YaHei" panose="020B0503020204020204" pitchFamily="34" charset="-122"/>
              </a:rPr>
              <a:t>代码的工具</a:t>
            </a:r>
          </a:p>
          <a:p>
            <a:pPr lvl="1" latinLnBrk="1">
              <a:lnSpc>
                <a:spcPct val="120000"/>
              </a:lnSpc>
              <a:buFont typeface="Wingdings" pitchFamily="2" charset="2"/>
              <a:buChar char="Ø"/>
            </a:pPr>
            <a:r>
              <a:rPr lang="zh-CN" altLang="en-US" sz="2000" i="0" dirty="0">
                <a:solidFill>
                  <a:srgbClr val="333333"/>
                </a:solidFill>
                <a:effectLst/>
                <a:latin typeface="Microsoft YaHei" panose="020B0503020204020204" pitchFamily="34" charset="-122"/>
                <a:ea typeface="Microsoft YaHei" panose="020B0503020204020204" pitchFamily="34" charset="-122"/>
              </a:rPr>
              <a:t>线性代数、傅里叶变换、随机数生成</a:t>
            </a:r>
            <a:endParaRPr lang="en-US" altLang="zh-CN" sz="2800" i="0" u="none" strike="noStrike" dirty="0">
              <a:effectLst/>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090601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a:t>
            </a:r>
            <a:r>
              <a:rPr lang="zh-CN" altLang="en-US" dirty="0"/>
              <a:t> </a:t>
            </a:r>
            <a:r>
              <a:rPr lang="en-US" altLang="zh-CN" dirty="0"/>
              <a:t>AI</a:t>
            </a:r>
            <a:r>
              <a:rPr lang="zh-CN" altLang="en-US" dirty="0"/>
              <a:t>算法库</a:t>
            </a:r>
            <a:r>
              <a:rPr lang="en-US" altLang="zh-CN" dirty="0"/>
              <a:t>——NumPy</a:t>
            </a:r>
            <a:r>
              <a:rPr lang="zh-CN" altLang="en-US" dirty="0"/>
              <a:t> </a:t>
            </a:r>
            <a:r>
              <a:rPr lang="en-US" altLang="zh-CN" dirty="0"/>
              <a:t>Intro</a:t>
            </a:r>
            <a:endParaRPr lang="zh-CN" altLang="en-US" dirty="0"/>
          </a:p>
        </p:txBody>
      </p:sp>
      <p:sp>
        <p:nvSpPr>
          <p:cNvPr id="6" name="内容占位符 2">
            <a:extLst>
              <a:ext uri="{FF2B5EF4-FFF2-40B4-BE49-F238E27FC236}">
                <a16:creationId xmlns:a16="http://schemas.microsoft.com/office/drawing/2014/main" id="{B01C1139-86A5-50E0-4DF5-48FED6665404}"/>
              </a:ext>
            </a:extLst>
          </p:cNvPr>
          <p:cNvSpPr>
            <a:spLocks noGrp="1"/>
          </p:cNvSpPr>
          <p:nvPr>
            <p:ph idx="1"/>
          </p:nvPr>
        </p:nvSpPr>
        <p:spPr>
          <a:xfrm>
            <a:off x="854366" y="812172"/>
            <a:ext cx="2999459" cy="631337"/>
          </a:xfrm>
        </p:spPr>
        <p:txBody>
          <a:bodyPr>
            <a:normAutofit/>
          </a:bodyPr>
          <a:lstStyle/>
          <a:p>
            <a:pPr>
              <a:buFont typeface="Wingdings" pitchFamily="2" charset="2"/>
              <a:buChar char="p"/>
            </a:pPr>
            <a:r>
              <a:rPr kumimoji="1" lang="zh-CN" altLang="en-US" dirty="0">
                <a:latin typeface="Microsoft YaHei" panose="020B0503020204020204" pitchFamily="34" charset="-122"/>
                <a:ea typeface="Microsoft YaHei" panose="020B0503020204020204" pitchFamily="34" charset="-122"/>
              </a:rPr>
              <a:t>导入</a:t>
            </a:r>
            <a:r>
              <a:rPr kumimoji="1" lang="en-US" altLang="zh-CN" dirty="0">
                <a:latin typeface="Microsoft YaHei" panose="020B0503020204020204" pitchFamily="34" charset="-122"/>
                <a:ea typeface="Microsoft YaHei" panose="020B0503020204020204" pitchFamily="34" charset="-122"/>
              </a:rPr>
              <a:t>NumPy</a:t>
            </a:r>
            <a:r>
              <a:rPr kumimoji="1" lang="zh-CN" altLang="en-US" dirty="0">
                <a:latin typeface="Microsoft YaHei" panose="020B0503020204020204" pitchFamily="34" charset="-122"/>
                <a:ea typeface="Microsoft YaHei" panose="020B0503020204020204" pitchFamily="34" charset="-122"/>
              </a:rPr>
              <a:t>库</a:t>
            </a:r>
            <a:endParaRPr kumimoji="1" lang="en-US" altLang="zh-CN" dirty="0">
              <a:latin typeface="Microsoft YaHei" panose="020B0503020204020204" pitchFamily="34" charset="-122"/>
              <a:ea typeface="Microsoft YaHei" panose="020B0503020204020204" pitchFamily="34" charset="-122"/>
            </a:endParaRPr>
          </a:p>
        </p:txBody>
      </p:sp>
      <p:sp>
        <p:nvSpPr>
          <p:cNvPr id="8" name="文本框 7">
            <a:extLst>
              <a:ext uri="{FF2B5EF4-FFF2-40B4-BE49-F238E27FC236}">
                <a16:creationId xmlns:a16="http://schemas.microsoft.com/office/drawing/2014/main" id="{60BBB3EC-195A-5818-92A8-69FB7B42129B}"/>
              </a:ext>
            </a:extLst>
          </p:cNvPr>
          <p:cNvSpPr txBox="1"/>
          <p:nvPr/>
        </p:nvSpPr>
        <p:spPr>
          <a:xfrm>
            <a:off x="697927" y="1759613"/>
            <a:ext cx="3867146" cy="523220"/>
          </a:xfrm>
          <a:prstGeom prst="rect">
            <a:avLst/>
          </a:prstGeom>
          <a:noFill/>
        </p:spPr>
        <p:txBody>
          <a:bodyPr wrap="square">
            <a:spAutoFit/>
          </a:bodyPr>
          <a:lstStyle/>
          <a:p>
            <a:pPr>
              <a:buFont typeface="Wingdings" pitchFamily="2" charset="2"/>
              <a:buChar char="p"/>
            </a:pPr>
            <a:r>
              <a:rPr lang="zh-CN" altLang="en-US" sz="2800" dirty="0">
                <a:latin typeface="Microsoft YaHei" panose="020B0503020204020204" pitchFamily="34" charset="-122"/>
                <a:ea typeface="Microsoft YaHei" panose="020B0503020204020204" pitchFamily="34" charset="-122"/>
              </a:rPr>
              <a:t>创建 </a:t>
            </a:r>
            <a:r>
              <a:rPr lang="en" altLang="zh-CN" sz="2800" dirty="0">
                <a:latin typeface="Microsoft YaHei" panose="020B0503020204020204" pitchFamily="34" charset="-122"/>
                <a:ea typeface="Microsoft YaHei" panose="020B0503020204020204" pitchFamily="34" charset="-122"/>
              </a:rPr>
              <a:t>NumPy </a:t>
            </a:r>
            <a:r>
              <a:rPr lang="zh-CN" altLang="en-US" sz="2800" dirty="0">
                <a:latin typeface="Microsoft YaHei" panose="020B0503020204020204" pitchFamily="34" charset="-122"/>
                <a:ea typeface="Microsoft YaHei" panose="020B0503020204020204" pitchFamily="34" charset="-122"/>
              </a:rPr>
              <a:t>数组</a:t>
            </a:r>
            <a:endParaRPr kumimoji="1" lang="en-US" altLang="zh-CN" sz="2800" dirty="0">
              <a:latin typeface="Microsoft YaHei" panose="020B0503020204020204" pitchFamily="34" charset="-122"/>
              <a:ea typeface="Microsoft YaHei" panose="020B0503020204020204" pitchFamily="34" charset="-122"/>
            </a:endParaRPr>
          </a:p>
        </p:txBody>
      </p:sp>
      <p:sp>
        <p:nvSpPr>
          <p:cNvPr id="9" name="文本框 9">
            <a:extLst>
              <a:ext uri="{FF2B5EF4-FFF2-40B4-BE49-F238E27FC236}">
                <a16:creationId xmlns:a16="http://schemas.microsoft.com/office/drawing/2014/main" id="{D939304D-30B3-6DFD-3BAA-AA730C283239}"/>
              </a:ext>
            </a:extLst>
          </p:cNvPr>
          <p:cNvSpPr txBox="1"/>
          <p:nvPr/>
        </p:nvSpPr>
        <p:spPr>
          <a:xfrm>
            <a:off x="7133147" y="812172"/>
            <a:ext cx="3867146" cy="523220"/>
          </a:xfrm>
          <a:prstGeom prst="rect">
            <a:avLst/>
          </a:prstGeom>
          <a:noFill/>
        </p:spPr>
        <p:txBody>
          <a:bodyPr wrap="square">
            <a:spAutoFit/>
          </a:bodyPr>
          <a:lstStyle/>
          <a:p>
            <a:pPr>
              <a:buFont typeface="Wingdings" pitchFamily="2" charset="2"/>
              <a:buChar char="p"/>
            </a:pPr>
            <a:r>
              <a:rPr lang="zh-CN" altLang="en-US" sz="2800" dirty="0">
                <a:latin typeface="Microsoft YaHei" panose="020B0503020204020204" pitchFamily="34" charset="-122"/>
                <a:ea typeface="Microsoft YaHei" panose="020B0503020204020204" pitchFamily="34" charset="-122"/>
              </a:rPr>
              <a:t>数组运算</a:t>
            </a:r>
            <a:endParaRPr lang="en-US" altLang="zh-CN" sz="2800" dirty="0">
              <a:latin typeface="Microsoft YaHei" panose="020B0503020204020204" pitchFamily="34" charset="-122"/>
              <a:ea typeface="Microsoft YaHei" panose="020B0503020204020204" pitchFamily="34" charset="-122"/>
            </a:endParaRPr>
          </a:p>
        </p:txBody>
      </p:sp>
      <p:pic>
        <p:nvPicPr>
          <p:cNvPr id="10" name="图片 6">
            <a:extLst>
              <a:ext uri="{FF2B5EF4-FFF2-40B4-BE49-F238E27FC236}">
                <a16:creationId xmlns:a16="http://schemas.microsoft.com/office/drawing/2014/main" id="{4C5ADA17-D748-2474-5E6B-D6B0B600B640}"/>
              </a:ext>
            </a:extLst>
          </p:cNvPr>
          <p:cNvPicPr>
            <a:picLocks noChangeAspect="1"/>
          </p:cNvPicPr>
          <p:nvPr/>
        </p:nvPicPr>
        <p:blipFill>
          <a:blip r:embed="rId2"/>
          <a:stretch>
            <a:fillRect/>
          </a:stretch>
        </p:blipFill>
        <p:spPr>
          <a:xfrm>
            <a:off x="942400" y="1272059"/>
            <a:ext cx="3378200" cy="342900"/>
          </a:xfrm>
          <a:prstGeom prst="rect">
            <a:avLst/>
          </a:prstGeom>
          <a:ln>
            <a:solidFill>
              <a:schemeClr val="tx1"/>
            </a:solidFill>
          </a:ln>
        </p:spPr>
      </p:pic>
      <p:sp>
        <p:nvSpPr>
          <p:cNvPr id="11" name="文本框 16">
            <a:extLst>
              <a:ext uri="{FF2B5EF4-FFF2-40B4-BE49-F238E27FC236}">
                <a16:creationId xmlns:a16="http://schemas.microsoft.com/office/drawing/2014/main" id="{2BB877A7-75F6-006A-5C55-598778C6442B}"/>
              </a:ext>
            </a:extLst>
          </p:cNvPr>
          <p:cNvSpPr txBox="1"/>
          <p:nvPr/>
        </p:nvSpPr>
        <p:spPr>
          <a:xfrm>
            <a:off x="5386915" y="4016304"/>
            <a:ext cx="3867146" cy="523220"/>
          </a:xfrm>
          <a:prstGeom prst="rect">
            <a:avLst/>
          </a:prstGeom>
          <a:noFill/>
        </p:spPr>
        <p:txBody>
          <a:bodyPr wrap="square">
            <a:spAutoFit/>
          </a:bodyPr>
          <a:lstStyle/>
          <a:p>
            <a:pPr>
              <a:buFont typeface="Wingdings" pitchFamily="2" charset="2"/>
              <a:buChar char="p"/>
            </a:pPr>
            <a:r>
              <a:rPr lang="zh-CN" altLang="en-US" sz="2800" dirty="0">
                <a:latin typeface="Microsoft YaHei" panose="020B0503020204020204" pitchFamily="34" charset="-122"/>
                <a:ea typeface="Microsoft YaHei" panose="020B0503020204020204" pitchFamily="34" charset="-122"/>
              </a:rPr>
              <a:t>数组形状变换</a:t>
            </a:r>
            <a:endParaRPr lang="en-US" altLang="zh-CN" sz="2800" dirty="0">
              <a:latin typeface="Microsoft YaHei" panose="020B0503020204020204" pitchFamily="34" charset="-122"/>
              <a:ea typeface="Microsoft YaHei" panose="020B0503020204020204" pitchFamily="34" charset="-122"/>
            </a:endParaRPr>
          </a:p>
        </p:txBody>
      </p:sp>
      <p:pic>
        <p:nvPicPr>
          <p:cNvPr id="12" name="图片 17">
            <a:extLst>
              <a:ext uri="{FF2B5EF4-FFF2-40B4-BE49-F238E27FC236}">
                <a16:creationId xmlns:a16="http://schemas.microsoft.com/office/drawing/2014/main" id="{07DF2DA2-54C6-64AC-C858-8FBFFCE7E3FB}"/>
              </a:ext>
            </a:extLst>
          </p:cNvPr>
          <p:cNvPicPr>
            <a:picLocks noChangeAspect="1"/>
          </p:cNvPicPr>
          <p:nvPr/>
        </p:nvPicPr>
        <p:blipFill>
          <a:blip r:embed="rId3"/>
          <a:srcRect r="2701"/>
          <a:stretch/>
        </p:blipFill>
        <p:spPr>
          <a:xfrm>
            <a:off x="5532469" y="4623759"/>
            <a:ext cx="6425615" cy="1473200"/>
          </a:xfrm>
          <a:prstGeom prst="rect">
            <a:avLst/>
          </a:prstGeom>
          <a:ln>
            <a:solidFill>
              <a:schemeClr val="tx1"/>
            </a:solidFill>
          </a:ln>
        </p:spPr>
      </p:pic>
      <p:pic>
        <p:nvPicPr>
          <p:cNvPr id="13" name="图片 19">
            <a:extLst>
              <a:ext uri="{FF2B5EF4-FFF2-40B4-BE49-F238E27FC236}">
                <a16:creationId xmlns:a16="http://schemas.microsoft.com/office/drawing/2014/main" id="{47C3EEC1-6A00-0A1A-1F87-8EED86F5D72C}"/>
              </a:ext>
            </a:extLst>
          </p:cNvPr>
          <p:cNvPicPr>
            <a:picLocks noChangeAspect="1"/>
          </p:cNvPicPr>
          <p:nvPr/>
        </p:nvPicPr>
        <p:blipFill>
          <a:blip r:embed="rId4"/>
          <a:srcRect r="18312"/>
          <a:stretch/>
        </p:blipFill>
        <p:spPr>
          <a:xfrm>
            <a:off x="5532469" y="1376994"/>
            <a:ext cx="6349093" cy="2420212"/>
          </a:xfrm>
          <a:prstGeom prst="rect">
            <a:avLst/>
          </a:prstGeom>
          <a:ln>
            <a:solidFill>
              <a:schemeClr val="tx1"/>
            </a:solidFill>
          </a:ln>
        </p:spPr>
      </p:pic>
      <p:pic>
        <p:nvPicPr>
          <p:cNvPr id="14" name="图片 21">
            <a:extLst>
              <a:ext uri="{FF2B5EF4-FFF2-40B4-BE49-F238E27FC236}">
                <a16:creationId xmlns:a16="http://schemas.microsoft.com/office/drawing/2014/main" id="{514D7562-9CCD-B198-2587-566E483CCBA2}"/>
              </a:ext>
            </a:extLst>
          </p:cNvPr>
          <p:cNvPicPr>
            <a:picLocks noChangeAspect="1"/>
          </p:cNvPicPr>
          <p:nvPr/>
        </p:nvPicPr>
        <p:blipFill>
          <a:blip r:embed="rId5"/>
          <a:stretch>
            <a:fillRect/>
          </a:stretch>
        </p:blipFill>
        <p:spPr>
          <a:xfrm>
            <a:off x="854366" y="2282833"/>
            <a:ext cx="3814126" cy="3814126"/>
          </a:xfrm>
          <a:prstGeom prst="rect">
            <a:avLst/>
          </a:prstGeom>
          <a:ln>
            <a:solidFill>
              <a:schemeClr val="tx1"/>
            </a:solidFill>
          </a:ln>
        </p:spPr>
      </p:pic>
    </p:spTree>
    <p:extLst>
      <p:ext uri="{BB962C8B-B14F-4D97-AF65-F5344CB8AC3E}">
        <p14:creationId xmlns:p14="http://schemas.microsoft.com/office/powerpoint/2010/main" val="4138167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a:t>
            </a:r>
            <a:r>
              <a:rPr lang="zh-CN" altLang="en-US" dirty="0"/>
              <a:t> </a:t>
            </a:r>
            <a:r>
              <a:rPr lang="en-US" altLang="zh-CN" dirty="0"/>
              <a:t>AI</a:t>
            </a:r>
            <a:r>
              <a:rPr lang="zh-CN" altLang="en-US" dirty="0"/>
              <a:t>算法库</a:t>
            </a:r>
            <a:r>
              <a:rPr lang="en-US" altLang="zh-CN" dirty="0"/>
              <a:t>——NumPy</a:t>
            </a:r>
            <a:r>
              <a:rPr lang="zh-CN" altLang="en-US" dirty="0"/>
              <a:t> </a:t>
            </a:r>
            <a:r>
              <a:rPr lang="en-US" altLang="zh-CN" dirty="0"/>
              <a:t>Intro</a:t>
            </a:r>
            <a:endParaRPr lang="zh-CN" altLang="en-US" dirty="0"/>
          </a:p>
        </p:txBody>
      </p:sp>
      <p:pic>
        <p:nvPicPr>
          <p:cNvPr id="4" name="Picture 3">
            <a:extLst>
              <a:ext uri="{FF2B5EF4-FFF2-40B4-BE49-F238E27FC236}">
                <a16:creationId xmlns:a16="http://schemas.microsoft.com/office/drawing/2014/main" id="{9E9F3F97-FCE0-2737-2541-8D7CD6707F75}"/>
              </a:ext>
            </a:extLst>
          </p:cNvPr>
          <p:cNvPicPr>
            <a:picLocks noChangeAspect="1"/>
          </p:cNvPicPr>
          <p:nvPr/>
        </p:nvPicPr>
        <p:blipFill>
          <a:blip r:embed="rId2"/>
          <a:stretch>
            <a:fillRect/>
          </a:stretch>
        </p:blipFill>
        <p:spPr>
          <a:xfrm>
            <a:off x="4978632" y="770966"/>
            <a:ext cx="1629276" cy="691208"/>
          </a:xfrm>
          <a:prstGeom prst="rect">
            <a:avLst/>
          </a:prstGeom>
        </p:spPr>
      </p:pic>
      <p:sp>
        <p:nvSpPr>
          <p:cNvPr id="7" name="内容占位符 2">
            <a:extLst>
              <a:ext uri="{FF2B5EF4-FFF2-40B4-BE49-F238E27FC236}">
                <a16:creationId xmlns:a16="http://schemas.microsoft.com/office/drawing/2014/main" id="{8FBC0128-FEBD-2F50-696D-AFB3B877C96D}"/>
              </a:ext>
            </a:extLst>
          </p:cNvPr>
          <p:cNvSpPr>
            <a:spLocks noGrp="1"/>
          </p:cNvSpPr>
          <p:nvPr>
            <p:ph idx="1"/>
          </p:nvPr>
        </p:nvSpPr>
        <p:spPr>
          <a:xfrm>
            <a:off x="360000" y="894696"/>
            <a:ext cx="2999459" cy="631337"/>
          </a:xfrm>
        </p:spPr>
        <p:txBody>
          <a:bodyPr>
            <a:normAutofit/>
          </a:bodyPr>
          <a:lstStyle/>
          <a:p>
            <a:pPr>
              <a:buFont typeface="Wingdings" pitchFamily="2" charset="2"/>
              <a:buChar char="p"/>
            </a:pPr>
            <a:r>
              <a:rPr kumimoji="1" lang="zh-CN" altLang="en-US" dirty="0">
                <a:latin typeface="Microsoft YaHei" panose="020B0503020204020204" pitchFamily="34" charset="-122"/>
                <a:ea typeface="Microsoft YaHei" panose="020B0503020204020204" pitchFamily="34" charset="-122"/>
              </a:rPr>
              <a:t>数组切片和索引</a:t>
            </a:r>
            <a:endParaRPr kumimoji="1" lang="en-US" altLang="zh-CN" dirty="0">
              <a:latin typeface="Microsoft YaHei" panose="020B0503020204020204" pitchFamily="34" charset="-122"/>
              <a:ea typeface="Microsoft YaHei" panose="020B0503020204020204" pitchFamily="34" charset="-122"/>
            </a:endParaRPr>
          </a:p>
        </p:txBody>
      </p:sp>
      <p:sp>
        <p:nvSpPr>
          <p:cNvPr id="15" name="文本框 7">
            <a:extLst>
              <a:ext uri="{FF2B5EF4-FFF2-40B4-BE49-F238E27FC236}">
                <a16:creationId xmlns:a16="http://schemas.microsoft.com/office/drawing/2014/main" id="{1511E034-EEA4-FA0A-692C-B95F3C395281}"/>
              </a:ext>
            </a:extLst>
          </p:cNvPr>
          <p:cNvSpPr txBox="1"/>
          <p:nvPr/>
        </p:nvSpPr>
        <p:spPr>
          <a:xfrm>
            <a:off x="381946" y="2821472"/>
            <a:ext cx="3129350" cy="523220"/>
          </a:xfrm>
          <a:prstGeom prst="rect">
            <a:avLst/>
          </a:prstGeom>
          <a:noFill/>
        </p:spPr>
        <p:txBody>
          <a:bodyPr wrap="square">
            <a:spAutoFit/>
          </a:bodyPr>
          <a:lstStyle/>
          <a:p>
            <a:pPr>
              <a:buFont typeface="Wingdings" pitchFamily="2" charset="2"/>
              <a:buChar char="p"/>
            </a:pPr>
            <a:r>
              <a:rPr lang="zh-CN" altLang="en-US" sz="2800" dirty="0">
                <a:latin typeface="Microsoft YaHei" panose="020B0503020204020204" pitchFamily="34" charset="-122"/>
                <a:ea typeface="Microsoft YaHei" panose="020B0503020204020204" pitchFamily="34" charset="-122"/>
              </a:rPr>
              <a:t>随机数生成</a:t>
            </a:r>
            <a:endParaRPr kumimoji="1" lang="en-US" altLang="zh-CN" sz="2800" dirty="0">
              <a:latin typeface="Microsoft YaHei" panose="020B0503020204020204" pitchFamily="34" charset="-122"/>
              <a:ea typeface="Microsoft YaHei" panose="020B0503020204020204" pitchFamily="34" charset="-122"/>
            </a:endParaRPr>
          </a:p>
        </p:txBody>
      </p:sp>
      <p:pic>
        <p:nvPicPr>
          <p:cNvPr id="16" name="图片 6">
            <a:extLst>
              <a:ext uri="{FF2B5EF4-FFF2-40B4-BE49-F238E27FC236}">
                <a16:creationId xmlns:a16="http://schemas.microsoft.com/office/drawing/2014/main" id="{4EA415C8-5D47-2B15-6FDB-14D78AE0AF36}"/>
              </a:ext>
            </a:extLst>
          </p:cNvPr>
          <p:cNvPicPr>
            <a:picLocks noChangeAspect="1"/>
          </p:cNvPicPr>
          <p:nvPr/>
        </p:nvPicPr>
        <p:blipFill>
          <a:blip r:embed="rId3"/>
          <a:stretch>
            <a:fillRect/>
          </a:stretch>
        </p:blipFill>
        <p:spPr>
          <a:xfrm>
            <a:off x="478311" y="1526033"/>
            <a:ext cx="4749800" cy="1181100"/>
          </a:xfrm>
          <a:prstGeom prst="rect">
            <a:avLst/>
          </a:prstGeom>
          <a:ln>
            <a:solidFill>
              <a:schemeClr val="tx1"/>
            </a:solidFill>
          </a:ln>
        </p:spPr>
      </p:pic>
      <p:pic>
        <p:nvPicPr>
          <p:cNvPr id="17" name="图片 10">
            <a:extLst>
              <a:ext uri="{FF2B5EF4-FFF2-40B4-BE49-F238E27FC236}">
                <a16:creationId xmlns:a16="http://schemas.microsoft.com/office/drawing/2014/main" id="{19A2D783-8517-B573-384B-6B0C56D507A4}"/>
              </a:ext>
            </a:extLst>
          </p:cNvPr>
          <p:cNvPicPr>
            <a:picLocks noChangeAspect="1"/>
          </p:cNvPicPr>
          <p:nvPr/>
        </p:nvPicPr>
        <p:blipFill>
          <a:blip r:embed="rId4"/>
          <a:srcRect r="3061"/>
          <a:stretch/>
        </p:blipFill>
        <p:spPr>
          <a:xfrm>
            <a:off x="478311" y="3459031"/>
            <a:ext cx="6401814" cy="2844800"/>
          </a:xfrm>
          <a:prstGeom prst="rect">
            <a:avLst/>
          </a:prstGeom>
          <a:ln>
            <a:solidFill>
              <a:schemeClr val="tx1"/>
            </a:solidFill>
          </a:ln>
        </p:spPr>
      </p:pic>
      <p:sp>
        <p:nvSpPr>
          <p:cNvPr id="18" name="文本框 14">
            <a:extLst>
              <a:ext uri="{FF2B5EF4-FFF2-40B4-BE49-F238E27FC236}">
                <a16:creationId xmlns:a16="http://schemas.microsoft.com/office/drawing/2014/main" id="{8F0D260F-5EE3-D990-0C93-896246596EF4}"/>
              </a:ext>
            </a:extLst>
          </p:cNvPr>
          <p:cNvSpPr txBox="1"/>
          <p:nvPr/>
        </p:nvSpPr>
        <p:spPr>
          <a:xfrm>
            <a:off x="7096762" y="894696"/>
            <a:ext cx="2925062" cy="523220"/>
          </a:xfrm>
          <a:prstGeom prst="rect">
            <a:avLst/>
          </a:prstGeom>
          <a:noFill/>
        </p:spPr>
        <p:txBody>
          <a:bodyPr wrap="square">
            <a:spAutoFit/>
          </a:bodyPr>
          <a:lstStyle/>
          <a:p>
            <a:pPr>
              <a:buFont typeface="Wingdings" pitchFamily="2" charset="2"/>
              <a:buChar char="p"/>
            </a:pPr>
            <a:r>
              <a:rPr lang="zh-CN" altLang="en-US" sz="2800" dirty="0">
                <a:latin typeface="Microsoft YaHei" panose="020B0503020204020204" pitchFamily="34" charset="-122"/>
                <a:ea typeface="Microsoft YaHei" panose="020B0503020204020204" pitchFamily="34" charset="-122"/>
              </a:rPr>
              <a:t>基本统计操作</a:t>
            </a:r>
            <a:endParaRPr lang="en-US" altLang="zh-CN" sz="2800" dirty="0">
              <a:latin typeface="Microsoft YaHei" panose="020B0503020204020204" pitchFamily="34" charset="-122"/>
              <a:ea typeface="Microsoft YaHei" panose="020B0503020204020204" pitchFamily="34" charset="-122"/>
            </a:endParaRPr>
          </a:p>
        </p:txBody>
      </p:sp>
      <p:pic>
        <p:nvPicPr>
          <p:cNvPr id="19" name="图片 15">
            <a:extLst>
              <a:ext uri="{FF2B5EF4-FFF2-40B4-BE49-F238E27FC236}">
                <a16:creationId xmlns:a16="http://schemas.microsoft.com/office/drawing/2014/main" id="{7223659A-86A4-0DCD-E7EA-AEAC031A4622}"/>
              </a:ext>
            </a:extLst>
          </p:cNvPr>
          <p:cNvPicPr>
            <a:picLocks noChangeAspect="1"/>
          </p:cNvPicPr>
          <p:nvPr/>
        </p:nvPicPr>
        <p:blipFill>
          <a:blip r:embed="rId5"/>
          <a:srcRect r="13232"/>
          <a:stretch/>
        </p:blipFill>
        <p:spPr>
          <a:xfrm>
            <a:off x="7345244" y="1599185"/>
            <a:ext cx="4121332" cy="4114800"/>
          </a:xfrm>
          <a:prstGeom prst="rect">
            <a:avLst/>
          </a:prstGeom>
          <a:ln>
            <a:solidFill>
              <a:schemeClr val="tx1"/>
            </a:solidFill>
          </a:ln>
        </p:spPr>
      </p:pic>
    </p:spTree>
    <p:extLst>
      <p:ext uri="{BB962C8B-B14F-4D97-AF65-F5344CB8AC3E}">
        <p14:creationId xmlns:p14="http://schemas.microsoft.com/office/powerpoint/2010/main" val="38652807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a:t>
            </a:r>
            <a:r>
              <a:rPr lang="zh-CN" altLang="en-US" dirty="0"/>
              <a:t> </a:t>
            </a:r>
            <a:r>
              <a:rPr lang="en-US" altLang="zh-CN" dirty="0"/>
              <a:t>AI</a:t>
            </a:r>
            <a:r>
              <a:rPr lang="zh-CN" altLang="en-US" dirty="0"/>
              <a:t>算法库</a:t>
            </a:r>
            <a:r>
              <a:rPr lang="en-US" altLang="zh-CN" dirty="0"/>
              <a:t>——Matplotlib</a:t>
            </a:r>
            <a:r>
              <a:rPr lang="zh-CN" altLang="en-US" dirty="0"/>
              <a:t>（可视化）</a:t>
            </a:r>
          </a:p>
        </p:txBody>
      </p:sp>
      <p:sp>
        <p:nvSpPr>
          <p:cNvPr id="6" name="文本框 19">
            <a:extLst>
              <a:ext uri="{FF2B5EF4-FFF2-40B4-BE49-F238E27FC236}">
                <a16:creationId xmlns:a16="http://schemas.microsoft.com/office/drawing/2014/main" id="{4575300A-BA28-53B1-6ECE-5DF1C0FFDCD2}"/>
              </a:ext>
            </a:extLst>
          </p:cNvPr>
          <p:cNvSpPr txBox="1"/>
          <p:nvPr/>
        </p:nvSpPr>
        <p:spPr>
          <a:xfrm>
            <a:off x="318684" y="870179"/>
            <a:ext cx="11554632" cy="2464842"/>
          </a:xfrm>
          <a:prstGeom prst="rect">
            <a:avLst/>
          </a:prstGeom>
          <a:noFill/>
        </p:spPr>
        <p:txBody>
          <a:bodyPr wrap="square">
            <a:spAutoFit/>
          </a:bodyPr>
          <a:lstStyle/>
          <a:p>
            <a:pPr>
              <a:lnSpc>
                <a:spcPct val="120000"/>
              </a:lnSpc>
              <a:buFont typeface="Wingdings" pitchFamily="2" charset="2"/>
              <a:buChar char="p"/>
            </a:pPr>
            <a:r>
              <a:rPr lang="en" altLang="zh-CN" sz="2800" b="0" i="0" dirty="0">
                <a:solidFill>
                  <a:srgbClr val="383A42"/>
                </a:solidFill>
                <a:effectLst/>
                <a:latin typeface="Microsoft YaHei" panose="020B0503020204020204" pitchFamily="34" charset="-122"/>
                <a:ea typeface="Microsoft YaHei" panose="020B0503020204020204" pitchFamily="34" charset="-122"/>
              </a:rPr>
              <a:t>Matplotlib</a:t>
            </a:r>
            <a:r>
              <a:rPr lang="zh-CN" altLang="en" sz="2800" b="0" i="0" dirty="0">
                <a:solidFill>
                  <a:srgbClr val="383A42"/>
                </a:solidFill>
                <a:effectLst/>
                <a:latin typeface="Microsoft YaHei" panose="020B0503020204020204" pitchFamily="34" charset="-122"/>
                <a:ea typeface="Microsoft YaHei" panose="020B0503020204020204" pitchFamily="34" charset="-122"/>
              </a:rPr>
              <a:t>库</a:t>
            </a:r>
            <a:r>
              <a:rPr lang="zh-CN" altLang="en-US" sz="2800" b="0" i="0" dirty="0">
                <a:solidFill>
                  <a:srgbClr val="383A42"/>
                </a:solidFill>
                <a:effectLst/>
                <a:latin typeface="Microsoft YaHei" panose="020B0503020204020204" pitchFamily="34" charset="-122"/>
                <a:ea typeface="Microsoft YaHei" panose="020B0503020204020204" pitchFamily="34" charset="-122"/>
              </a:rPr>
              <a:t>是一个</a:t>
            </a:r>
            <a:r>
              <a:rPr lang="en" altLang="zh-CN" sz="2800" dirty="0">
                <a:solidFill>
                  <a:srgbClr val="383A42"/>
                </a:solidFill>
                <a:latin typeface="Microsoft YaHei" panose="020B0503020204020204" pitchFamily="34" charset="-122"/>
                <a:ea typeface="Microsoft YaHei" panose="020B0503020204020204" pitchFamily="34" charset="-122"/>
              </a:rPr>
              <a:t>P</a:t>
            </a:r>
            <a:r>
              <a:rPr lang="en" altLang="zh-CN" sz="2800" b="0" i="0" dirty="0">
                <a:solidFill>
                  <a:srgbClr val="383A42"/>
                </a:solidFill>
                <a:effectLst/>
                <a:latin typeface="Microsoft YaHei" panose="020B0503020204020204" pitchFamily="34" charset="-122"/>
                <a:ea typeface="Microsoft YaHei" panose="020B0503020204020204" pitchFamily="34" charset="-122"/>
              </a:rPr>
              <a:t>ython</a:t>
            </a:r>
            <a:r>
              <a:rPr lang="zh-CN" altLang="en-US" sz="2800" dirty="0">
                <a:solidFill>
                  <a:srgbClr val="383A42"/>
                </a:solidFill>
                <a:latin typeface="Microsoft YaHei" panose="020B0503020204020204" pitchFamily="34" charset="-122"/>
                <a:ea typeface="Microsoft YaHei" panose="020B0503020204020204" pitchFamily="34" charset="-122"/>
              </a:rPr>
              <a:t>图形</a:t>
            </a:r>
            <a:r>
              <a:rPr lang="zh-CN" altLang="en" sz="2800" b="0" i="0" dirty="0">
                <a:solidFill>
                  <a:srgbClr val="383A42"/>
                </a:solidFill>
                <a:effectLst/>
                <a:latin typeface="Microsoft YaHei" panose="020B0503020204020204" pitchFamily="34" charset="-122"/>
                <a:ea typeface="Microsoft YaHei" panose="020B0503020204020204" pitchFamily="34" charset="-122"/>
              </a:rPr>
              <a:t>可视化</a:t>
            </a:r>
            <a:r>
              <a:rPr lang="zh-CN" altLang="en-US" sz="2800" b="0" i="0" dirty="0">
                <a:solidFill>
                  <a:srgbClr val="383A42"/>
                </a:solidFill>
                <a:effectLst/>
                <a:latin typeface="Microsoft YaHei" panose="020B0503020204020204" pitchFamily="34" charset="-122"/>
                <a:ea typeface="Microsoft YaHei" panose="020B0503020204020204" pitchFamily="34" charset="-122"/>
              </a:rPr>
              <a:t>库，</a:t>
            </a:r>
            <a:r>
              <a:rPr lang="zh-CN" altLang="en-US" sz="2800" b="0" i="0" dirty="0">
                <a:effectLst/>
                <a:latin typeface="Microsoft YaHei" panose="020B0503020204020204" pitchFamily="34" charset="-122"/>
                <a:ea typeface="Microsoft YaHei" panose="020B0503020204020204" pitchFamily="34" charset="-122"/>
              </a:rPr>
              <a:t>通过 </a:t>
            </a:r>
            <a:r>
              <a:rPr lang="en" altLang="zh-CN" sz="2800" b="0" i="0" dirty="0">
                <a:effectLst/>
                <a:latin typeface="Microsoft YaHei" panose="020B0503020204020204" pitchFamily="34" charset="-122"/>
                <a:ea typeface="Microsoft YaHei" panose="020B0503020204020204" pitchFamily="34" charset="-122"/>
              </a:rPr>
              <a:t>Matplotlib</a:t>
            </a:r>
            <a:r>
              <a:rPr lang="zh-CN" altLang="en" sz="2800" b="0" i="0" dirty="0">
                <a:effectLst/>
                <a:latin typeface="Microsoft YaHei" panose="020B0503020204020204" pitchFamily="34" charset="-122"/>
                <a:ea typeface="Microsoft YaHei" panose="020B0503020204020204" pitchFamily="34" charset="-122"/>
              </a:rPr>
              <a:t>，</a:t>
            </a:r>
            <a:r>
              <a:rPr lang="zh-CN" altLang="en-US" sz="2800" b="0" i="0" dirty="0">
                <a:effectLst/>
                <a:latin typeface="Microsoft YaHei" panose="020B0503020204020204" pitchFamily="34" charset="-122"/>
                <a:ea typeface="Microsoft YaHei" panose="020B0503020204020204" pitchFamily="34" charset="-122"/>
              </a:rPr>
              <a:t>我们可以仅编写几行代码，就生成直方图、折现图、散点图等，高效美观的展示我们的数据。</a:t>
            </a:r>
            <a:endParaRPr lang="en-US" altLang="zh-CN" sz="2800" b="0" i="0" dirty="0">
              <a:solidFill>
                <a:srgbClr val="383A42"/>
              </a:solidFill>
              <a:effectLst/>
              <a:latin typeface="Microsoft YaHei" panose="020B0503020204020204" pitchFamily="34" charset="-122"/>
              <a:ea typeface="Microsoft YaHei" panose="020B0503020204020204" pitchFamily="34" charset="-122"/>
            </a:endParaRPr>
          </a:p>
          <a:p>
            <a:pPr lvl="1">
              <a:lnSpc>
                <a:spcPct val="120000"/>
              </a:lnSpc>
              <a:buFont typeface="Wingdings" pitchFamily="2" charset="2"/>
              <a:buChar char="p"/>
            </a:pPr>
            <a:r>
              <a:rPr lang="zh-CN" altLang="en-US" sz="2800" dirty="0">
                <a:solidFill>
                  <a:srgbClr val="383A42"/>
                </a:solidFill>
                <a:latin typeface="Microsoft YaHei" panose="020B0503020204020204" pitchFamily="34" charset="-122"/>
                <a:ea typeface="Microsoft YaHei" panose="020B0503020204020204" pitchFamily="34" charset="-122"/>
              </a:rPr>
              <a:t>安装：</a:t>
            </a:r>
            <a:r>
              <a:rPr kumimoji="1" lang="en-US" altLang="zh-CN" sz="2800" dirty="0">
                <a:latin typeface="Microsoft YaHei" panose="020B0503020204020204" pitchFamily="34" charset="-122"/>
                <a:ea typeface="Microsoft YaHei" panose="020B0503020204020204" pitchFamily="34" charset="-122"/>
              </a:rPr>
              <a:t>pip3 install </a:t>
            </a:r>
            <a:r>
              <a:rPr lang="en" altLang="zh-CN" sz="2800" b="0" i="0" dirty="0">
                <a:solidFill>
                  <a:srgbClr val="383A42"/>
                </a:solidFill>
                <a:effectLst/>
                <a:latin typeface="Microsoft YaHei" panose="020B0503020204020204" pitchFamily="34" charset="-122"/>
                <a:ea typeface="Microsoft YaHei" panose="020B0503020204020204" pitchFamily="34" charset="-122"/>
              </a:rPr>
              <a:t>matplotlib</a:t>
            </a:r>
            <a:endParaRPr lang="en-US" altLang="zh-CN" sz="2800" b="0" i="0" dirty="0">
              <a:solidFill>
                <a:srgbClr val="383A42"/>
              </a:solidFill>
              <a:effectLst/>
              <a:latin typeface="Microsoft YaHei" panose="020B0503020204020204" pitchFamily="34" charset="-122"/>
              <a:ea typeface="Microsoft YaHei" panose="020B0503020204020204" pitchFamily="34" charset="-122"/>
            </a:endParaRPr>
          </a:p>
          <a:p>
            <a:pPr>
              <a:lnSpc>
                <a:spcPct val="120000"/>
              </a:lnSpc>
              <a:buFont typeface="Wingdings" pitchFamily="2" charset="2"/>
              <a:buChar char="p"/>
            </a:pPr>
            <a:endParaRPr lang="en" altLang="zh-CN" b="0" i="0" dirty="0">
              <a:solidFill>
                <a:srgbClr val="383A42"/>
              </a:solidFill>
              <a:effectLst/>
              <a:latin typeface="Microsoft YaHei" panose="020B0503020204020204" pitchFamily="34" charset="-122"/>
              <a:ea typeface="Microsoft YaHei" panose="020B0503020204020204" pitchFamily="34" charset="-122"/>
            </a:endParaRPr>
          </a:p>
        </p:txBody>
      </p:sp>
      <p:pic>
        <p:nvPicPr>
          <p:cNvPr id="8" name="图片 8">
            <a:extLst>
              <a:ext uri="{FF2B5EF4-FFF2-40B4-BE49-F238E27FC236}">
                <a16:creationId xmlns:a16="http://schemas.microsoft.com/office/drawing/2014/main" id="{39F71153-AD0A-62CD-B01C-5E1907BAE28F}"/>
              </a:ext>
            </a:extLst>
          </p:cNvPr>
          <p:cNvPicPr>
            <a:picLocks noChangeAspect="1"/>
          </p:cNvPicPr>
          <p:nvPr/>
        </p:nvPicPr>
        <p:blipFill>
          <a:blip r:embed="rId2"/>
          <a:srcRect r="26883"/>
          <a:stretch/>
        </p:blipFill>
        <p:spPr>
          <a:xfrm>
            <a:off x="545009" y="3578814"/>
            <a:ext cx="3519331" cy="965200"/>
          </a:xfrm>
          <a:prstGeom prst="rect">
            <a:avLst/>
          </a:prstGeom>
          <a:ln>
            <a:solidFill>
              <a:schemeClr val="tx1"/>
            </a:solidFill>
          </a:ln>
        </p:spPr>
      </p:pic>
      <p:pic>
        <p:nvPicPr>
          <p:cNvPr id="9" name="图片 10">
            <a:extLst>
              <a:ext uri="{FF2B5EF4-FFF2-40B4-BE49-F238E27FC236}">
                <a16:creationId xmlns:a16="http://schemas.microsoft.com/office/drawing/2014/main" id="{6393DAAB-E1DA-8AA8-F09E-2147EC7EEF1C}"/>
              </a:ext>
            </a:extLst>
          </p:cNvPr>
          <p:cNvPicPr>
            <a:picLocks noChangeAspect="1"/>
          </p:cNvPicPr>
          <p:nvPr/>
        </p:nvPicPr>
        <p:blipFill>
          <a:blip r:embed="rId3"/>
          <a:stretch>
            <a:fillRect/>
          </a:stretch>
        </p:blipFill>
        <p:spPr>
          <a:xfrm>
            <a:off x="4578436" y="3569299"/>
            <a:ext cx="3058587" cy="2606040"/>
          </a:xfrm>
          <a:prstGeom prst="rect">
            <a:avLst/>
          </a:prstGeom>
          <a:ln>
            <a:solidFill>
              <a:schemeClr val="tx1"/>
            </a:solidFill>
          </a:ln>
        </p:spPr>
      </p:pic>
      <p:pic>
        <p:nvPicPr>
          <p:cNvPr id="10" name="图片 12">
            <a:extLst>
              <a:ext uri="{FF2B5EF4-FFF2-40B4-BE49-F238E27FC236}">
                <a16:creationId xmlns:a16="http://schemas.microsoft.com/office/drawing/2014/main" id="{21B06D60-CECE-A933-07B6-D290AA9D6869}"/>
              </a:ext>
            </a:extLst>
          </p:cNvPr>
          <p:cNvPicPr>
            <a:picLocks noChangeAspect="1"/>
          </p:cNvPicPr>
          <p:nvPr/>
        </p:nvPicPr>
        <p:blipFill>
          <a:blip r:embed="rId4"/>
          <a:srcRect r="27650"/>
          <a:stretch/>
        </p:blipFill>
        <p:spPr>
          <a:xfrm>
            <a:off x="545009" y="5324829"/>
            <a:ext cx="3601881" cy="774700"/>
          </a:xfrm>
          <a:prstGeom prst="rect">
            <a:avLst/>
          </a:prstGeom>
          <a:ln>
            <a:solidFill>
              <a:schemeClr val="tx1"/>
            </a:solidFill>
          </a:ln>
        </p:spPr>
      </p:pic>
      <p:pic>
        <p:nvPicPr>
          <p:cNvPr id="11" name="图片 14">
            <a:extLst>
              <a:ext uri="{FF2B5EF4-FFF2-40B4-BE49-F238E27FC236}">
                <a16:creationId xmlns:a16="http://schemas.microsoft.com/office/drawing/2014/main" id="{3934A57C-25FB-5E30-ECAF-3E1FB5E03512}"/>
              </a:ext>
            </a:extLst>
          </p:cNvPr>
          <p:cNvPicPr>
            <a:picLocks noChangeAspect="1"/>
          </p:cNvPicPr>
          <p:nvPr/>
        </p:nvPicPr>
        <p:blipFill>
          <a:blip r:embed="rId5"/>
          <a:stretch>
            <a:fillRect/>
          </a:stretch>
        </p:blipFill>
        <p:spPr>
          <a:xfrm>
            <a:off x="8173414" y="3569299"/>
            <a:ext cx="3382675" cy="2606040"/>
          </a:xfrm>
          <a:prstGeom prst="rect">
            <a:avLst/>
          </a:prstGeom>
          <a:ln>
            <a:solidFill>
              <a:schemeClr val="tx1"/>
            </a:solidFill>
          </a:ln>
        </p:spPr>
      </p:pic>
      <p:sp>
        <p:nvSpPr>
          <p:cNvPr id="12" name="文本框 16">
            <a:extLst>
              <a:ext uri="{FF2B5EF4-FFF2-40B4-BE49-F238E27FC236}">
                <a16:creationId xmlns:a16="http://schemas.microsoft.com/office/drawing/2014/main" id="{C4000623-9751-F55A-456B-165F1E28E68A}"/>
              </a:ext>
            </a:extLst>
          </p:cNvPr>
          <p:cNvSpPr txBox="1"/>
          <p:nvPr/>
        </p:nvSpPr>
        <p:spPr>
          <a:xfrm>
            <a:off x="318684" y="4672811"/>
            <a:ext cx="2258952" cy="523220"/>
          </a:xfrm>
          <a:prstGeom prst="rect">
            <a:avLst/>
          </a:prstGeom>
          <a:noFill/>
        </p:spPr>
        <p:txBody>
          <a:bodyPr wrap="none" rtlCol="0">
            <a:spAutoFit/>
          </a:bodyPr>
          <a:lstStyle/>
          <a:p>
            <a:pPr marL="228600" indent="-228600">
              <a:spcBef>
                <a:spcPts val="1000"/>
              </a:spcBef>
              <a:buFont typeface="Wingdings" pitchFamily="2" charset="2"/>
              <a:buChar char="p"/>
            </a:pPr>
            <a:r>
              <a:rPr kumimoji="1" lang="en-US" altLang="zh-CN" sz="2800" dirty="0">
                <a:latin typeface="Microsoft YaHei" panose="020B0503020204020204" pitchFamily="34" charset="-122"/>
                <a:ea typeface="Microsoft YaHei" panose="020B0503020204020204" pitchFamily="34" charset="-122"/>
              </a:rPr>
              <a:t>Plot</a:t>
            </a:r>
            <a:r>
              <a:rPr kumimoji="1" lang="zh-CN" altLang="en-US" sz="2800" dirty="0">
                <a:latin typeface="Microsoft YaHei" panose="020B0503020204020204" pitchFamily="34" charset="-122"/>
                <a:ea typeface="Microsoft YaHei" panose="020B0503020204020204" pitchFamily="34" charset="-122"/>
              </a:rPr>
              <a:t>二维图</a:t>
            </a:r>
          </a:p>
        </p:txBody>
      </p:sp>
      <p:sp>
        <p:nvSpPr>
          <p:cNvPr id="13" name="内容占位符 2">
            <a:extLst>
              <a:ext uri="{FF2B5EF4-FFF2-40B4-BE49-F238E27FC236}">
                <a16:creationId xmlns:a16="http://schemas.microsoft.com/office/drawing/2014/main" id="{26DCC6C1-D400-5093-39D6-950E390C2023}"/>
              </a:ext>
            </a:extLst>
          </p:cNvPr>
          <p:cNvSpPr txBox="1">
            <a:spLocks/>
          </p:cNvSpPr>
          <p:nvPr/>
        </p:nvSpPr>
        <p:spPr>
          <a:xfrm>
            <a:off x="318684" y="3060657"/>
            <a:ext cx="2999459" cy="631337"/>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Font typeface="Wingdings" pitchFamily="2" charset="2"/>
              <a:buChar char="n"/>
              <a:defRPr sz="2800" b="0" i="0" kern="1200">
                <a:solidFill>
                  <a:schemeClr val="tx1"/>
                </a:solidFill>
                <a:latin typeface="Lantinghei SC Extralight" panose="02000000000000000000" pitchFamily="2" charset="-122"/>
                <a:ea typeface="Lantinghei SC Extralight" panose="02000000000000000000" pitchFamily="2" charset="-122"/>
                <a:cs typeface="+mn-cs"/>
              </a:defRPr>
            </a:lvl1pPr>
            <a:lvl2pPr marL="685800" indent="-228600" algn="l" defTabSz="914400" rtl="0" eaLnBrk="1" latinLnBrk="0" hangingPunct="1">
              <a:lnSpc>
                <a:spcPct val="100000"/>
              </a:lnSpc>
              <a:spcBef>
                <a:spcPts val="500"/>
              </a:spcBef>
              <a:buFont typeface="Wingdings" pitchFamily="2" charset="2"/>
              <a:buChar char="n"/>
              <a:defRPr sz="2400" b="0" i="0" kern="1200">
                <a:solidFill>
                  <a:schemeClr val="tx1"/>
                </a:solidFill>
                <a:latin typeface="Lantinghei SC Extralight" panose="02000000000000000000" pitchFamily="2" charset="-122"/>
                <a:ea typeface="Lantinghei SC Extralight" panose="02000000000000000000" pitchFamily="2" charset="-122"/>
                <a:cs typeface="+mn-cs"/>
              </a:defRPr>
            </a:lvl2pPr>
            <a:lvl3pPr marL="1143000" indent="-228600" algn="l" defTabSz="914400" rtl="0" eaLnBrk="1" latinLnBrk="0" hangingPunct="1">
              <a:lnSpc>
                <a:spcPct val="100000"/>
              </a:lnSpc>
              <a:spcBef>
                <a:spcPts val="500"/>
              </a:spcBef>
              <a:buFont typeface="Wingdings" pitchFamily="2" charset="2"/>
              <a:buChar char="n"/>
              <a:defRPr sz="2000" kern="1200">
                <a:solidFill>
                  <a:schemeClr val="tx1"/>
                </a:solidFill>
                <a:latin typeface="KaiTi" panose="02010609060101010101" pitchFamily="49" charset="-122"/>
                <a:ea typeface="KaiTi" panose="02010609060101010101" pitchFamily="49" charset="-122"/>
                <a:cs typeface="+mn-cs"/>
              </a:defRPr>
            </a:lvl3pPr>
            <a:lvl4pPr marL="1600200" indent="-228600" algn="l" defTabSz="914400" rtl="0" eaLnBrk="1" latinLnBrk="0" hangingPunct="1">
              <a:lnSpc>
                <a:spcPct val="100000"/>
              </a:lnSpc>
              <a:spcBef>
                <a:spcPts val="500"/>
              </a:spcBef>
              <a:buFont typeface="Wingdings" pitchFamily="2" charset="2"/>
              <a:buChar char="n"/>
              <a:defRPr sz="1800" kern="1200">
                <a:solidFill>
                  <a:schemeClr val="tx1"/>
                </a:solidFill>
                <a:latin typeface="KaiTi" panose="02010609060101010101" pitchFamily="49" charset="-122"/>
                <a:ea typeface="KaiTi" panose="02010609060101010101" pitchFamily="49" charset="-122"/>
                <a:cs typeface="+mn-cs"/>
              </a:defRPr>
            </a:lvl4pPr>
            <a:lvl5pPr marL="2057400" indent="-228600" algn="l" defTabSz="914400" rtl="0" eaLnBrk="1" latinLnBrk="0" hangingPunct="1">
              <a:lnSpc>
                <a:spcPct val="100000"/>
              </a:lnSpc>
              <a:spcBef>
                <a:spcPts val="500"/>
              </a:spcBef>
              <a:buFont typeface="Wingdings" pitchFamily="2" charset="2"/>
              <a:buChar char="n"/>
              <a:defRPr sz="1800" kern="1200">
                <a:solidFill>
                  <a:schemeClr val="tx1"/>
                </a:solidFill>
                <a:latin typeface="KaiTi" panose="02010609060101010101" pitchFamily="49" charset="-122"/>
                <a:ea typeface="KaiTi"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p"/>
            </a:pPr>
            <a:r>
              <a:rPr kumimoji="1" lang="zh-CN" altLang="en-US" dirty="0">
                <a:latin typeface="Microsoft YaHei" panose="020B0503020204020204" pitchFamily="34" charset="-122"/>
                <a:ea typeface="Microsoft YaHei" panose="020B0503020204020204" pitchFamily="34" charset="-122"/>
              </a:rPr>
              <a:t>导入库</a:t>
            </a:r>
            <a:endParaRPr kumimoji="1" lang="en-US" altLang="zh-CN" dirty="0">
              <a:latin typeface="Microsoft YaHei" panose="020B0503020204020204" pitchFamily="34" charset="-122"/>
              <a:ea typeface="Microsoft YaHei" panose="020B0503020204020204" pitchFamily="34" charset="-122"/>
            </a:endParaRPr>
          </a:p>
        </p:txBody>
      </p:sp>
      <p:sp>
        <p:nvSpPr>
          <p:cNvPr id="14" name="内容占位符 2">
            <a:extLst>
              <a:ext uri="{FF2B5EF4-FFF2-40B4-BE49-F238E27FC236}">
                <a16:creationId xmlns:a16="http://schemas.microsoft.com/office/drawing/2014/main" id="{A77C7BD3-9EA7-81DB-FDEA-ECD8B2F755C9}"/>
              </a:ext>
            </a:extLst>
          </p:cNvPr>
          <p:cNvSpPr txBox="1">
            <a:spLocks/>
          </p:cNvSpPr>
          <p:nvPr/>
        </p:nvSpPr>
        <p:spPr>
          <a:xfrm>
            <a:off x="4495886" y="3060657"/>
            <a:ext cx="2999459" cy="631337"/>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Font typeface="Wingdings" pitchFamily="2" charset="2"/>
              <a:buChar char="n"/>
              <a:defRPr sz="2800" b="0" i="0" kern="1200">
                <a:solidFill>
                  <a:schemeClr val="tx1"/>
                </a:solidFill>
                <a:latin typeface="Lantinghei SC Extralight" panose="02000000000000000000" pitchFamily="2" charset="-122"/>
                <a:ea typeface="Lantinghei SC Extralight" panose="02000000000000000000" pitchFamily="2" charset="-122"/>
                <a:cs typeface="+mn-cs"/>
              </a:defRPr>
            </a:lvl1pPr>
            <a:lvl2pPr marL="685800" indent="-228600" algn="l" defTabSz="914400" rtl="0" eaLnBrk="1" latinLnBrk="0" hangingPunct="1">
              <a:lnSpc>
                <a:spcPct val="100000"/>
              </a:lnSpc>
              <a:spcBef>
                <a:spcPts val="500"/>
              </a:spcBef>
              <a:buFont typeface="Wingdings" pitchFamily="2" charset="2"/>
              <a:buChar char="n"/>
              <a:defRPr sz="2400" b="0" i="0" kern="1200">
                <a:solidFill>
                  <a:schemeClr val="tx1"/>
                </a:solidFill>
                <a:latin typeface="Lantinghei SC Extralight" panose="02000000000000000000" pitchFamily="2" charset="-122"/>
                <a:ea typeface="Lantinghei SC Extralight" panose="02000000000000000000" pitchFamily="2" charset="-122"/>
                <a:cs typeface="+mn-cs"/>
              </a:defRPr>
            </a:lvl2pPr>
            <a:lvl3pPr marL="1143000" indent="-228600" algn="l" defTabSz="914400" rtl="0" eaLnBrk="1" latinLnBrk="0" hangingPunct="1">
              <a:lnSpc>
                <a:spcPct val="100000"/>
              </a:lnSpc>
              <a:spcBef>
                <a:spcPts val="500"/>
              </a:spcBef>
              <a:buFont typeface="Wingdings" pitchFamily="2" charset="2"/>
              <a:buChar char="n"/>
              <a:defRPr sz="2000" kern="1200">
                <a:solidFill>
                  <a:schemeClr val="tx1"/>
                </a:solidFill>
                <a:latin typeface="KaiTi" panose="02010609060101010101" pitchFamily="49" charset="-122"/>
                <a:ea typeface="KaiTi" panose="02010609060101010101" pitchFamily="49" charset="-122"/>
                <a:cs typeface="+mn-cs"/>
              </a:defRPr>
            </a:lvl3pPr>
            <a:lvl4pPr marL="1600200" indent="-228600" algn="l" defTabSz="914400" rtl="0" eaLnBrk="1" latinLnBrk="0" hangingPunct="1">
              <a:lnSpc>
                <a:spcPct val="100000"/>
              </a:lnSpc>
              <a:spcBef>
                <a:spcPts val="500"/>
              </a:spcBef>
              <a:buFont typeface="Wingdings" pitchFamily="2" charset="2"/>
              <a:buChar char="n"/>
              <a:defRPr sz="1800" kern="1200">
                <a:solidFill>
                  <a:schemeClr val="tx1"/>
                </a:solidFill>
                <a:latin typeface="KaiTi" panose="02010609060101010101" pitchFamily="49" charset="-122"/>
                <a:ea typeface="KaiTi" panose="02010609060101010101" pitchFamily="49" charset="-122"/>
                <a:cs typeface="+mn-cs"/>
              </a:defRPr>
            </a:lvl4pPr>
            <a:lvl5pPr marL="2057400" indent="-228600" algn="l" defTabSz="914400" rtl="0" eaLnBrk="1" latinLnBrk="0" hangingPunct="1">
              <a:lnSpc>
                <a:spcPct val="100000"/>
              </a:lnSpc>
              <a:spcBef>
                <a:spcPts val="500"/>
              </a:spcBef>
              <a:buFont typeface="Wingdings" pitchFamily="2" charset="2"/>
              <a:buChar char="n"/>
              <a:defRPr sz="1800" kern="1200">
                <a:solidFill>
                  <a:schemeClr val="tx1"/>
                </a:solidFill>
                <a:latin typeface="KaiTi" panose="02010609060101010101" pitchFamily="49" charset="-122"/>
                <a:ea typeface="KaiTi"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p"/>
            </a:pPr>
            <a:r>
              <a:rPr kumimoji="1" lang="zh-CN" altLang="en-US" dirty="0">
                <a:latin typeface="Microsoft YaHei" panose="020B0503020204020204" pitchFamily="34" charset="-122"/>
                <a:ea typeface="Microsoft YaHei" panose="020B0503020204020204" pitchFamily="34" charset="-122"/>
              </a:rPr>
              <a:t>示例</a:t>
            </a:r>
            <a:endParaRPr kumimoji="1" lang="en-US" altLang="zh-CN" dirty="0">
              <a:latin typeface="Microsoft YaHei" panose="020B0503020204020204" pitchFamily="34" charset="-122"/>
              <a:ea typeface="Microsoft YaHei" panose="020B0503020204020204" pitchFamily="34" charset="-122"/>
            </a:endParaRPr>
          </a:p>
        </p:txBody>
      </p:sp>
      <p:pic>
        <p:nvPicPr>
          <p:cNvPr id="16" name="Picture 15">
            <a:extLst>
              <a:ext uri="{FF2B5EF4-FFF2-40B4-BE49-F238E27FC236}">
                <a16:creationId xmlns:a16="http://schemas.microsoft.com/office/drawing/2014/main" id="{24D7B0D2-CFCB-AF72-D785-7BA1630F5BDD}"/>
              </a:ext>
            </a:extLst>
          </p:cNvPr>
          <p:cNvPicPr>
            <a:picLocks noChangeAspect="1"/>
          </p:cNvPicPr>
          <p:nvPr/>
        </p:nvPicPr>
        <p:blipFill>
          <a:blip r:embed="rId6"/>
          <a:stretch>
            <a:fillRect/>
          </a:stretch>
        </p:blipFill>
        <p:spPr>
          <a:xfrm>
            <a:off x="6652592" y="148539"/>
            <a:ext cx="2395688" cy="554249"/>
          </a:xfrm>
          <a:prstGeom prst="rect">
            <a:avLst/>
          </a:prstGeom>
        </p:spPr>
      </p:pic>
    </p:spTree>
    <p:extLst>
      <p:ext uri="{BB962C8B-B14F-4D97-AF65-F5344CB8AC3E}">
        <p14:creationId xmlns:p14="http://schemas.microsoft.com/office/powerpoint/2010/main" val="3095276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a:t>
            </a:r>
            <a:r>
              <a:rPr lang="zh-CN" altLang="en-US" dirty="0"/>
              <a:t> </a:t>
            </a:r>
            <a:r>
              <a:rPr lang="en-US" altLang="zh-CN" dirty="0"/>
              <a:t>AI</a:t>
            </a:r>
            <a:r>
              <a:rPr lang="zh-CN" altLang="en-US" dirty="0"/>
              <a:t>算法库</a:t>
            </a:r>
            <a:r>
              <a:rPr lang="en-US" altLang="zh-CN" dirty="0"/>
              <a:t>——Scikit-learn</a:t>
            </a:r>
            <a:r>
              <a:rPr lang="zh-CN" altLang="en-US" dirty="0"/>
              <a:t>（机器学习）</a:t>
            </a:r>
          </a:p>
        </p:txBody>
      </p:sp>
      <p:sp>
        <p:nvSpPr>
          <p:cNvPr id="3" name="内容占位符 2">
            <a:extLst>
              <a:ext uri="{FF2B5EF4-FFF2-40B4-BE49-F238E27FC236}">
                <a16:creationId xmlns:a16="http://schemas.microsoft.com/office/drawing/2014/main" id="{2924F21E-B905-79DB-27BC-37BCE016D8D7}"/>
              </a:ext>
            </a:extLst>
          </p:cNvPr>
          <p:cNvSpPr txBox="1">
            <a:spLocks/>
          </p:cNvSpPr>
          <p:nvPr/>
        </p:nvSpPr>
        <p:spPr>
          <a:xfrm>
            <a:off x="261641" y="944608"/>
            <a:ext cx="11652063" cy="5239181"/>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00000"/>
              </a:lnSpc>
              <a:spcBef>
                <a:spcPts val="1000"/>
              </a:spcBef>
              <a:buFont typeface="Wingdings" pitchFamily="2" charset="2"/>
              <a:buChar char="n"/>
              <a:defRPr sz="2800" b="0" i="0" kern="1200">
                <a:solidFill>
                  <a:schemeClr val="tx1"/>
                </a:solidFill>
                <a:latin typeface="Lantinghei SC Extralight" panose="02000000000000000000" pitchFamily="2" charset="-122"/>
                <a:ea typeface="Lantinghei SC Extralight" panose="02000000000000000000" pitchFamily="2" charset="-122"/>
                <a:cs typeface="+mn-cs"/>
              </a:defRPr>
            </a:lvl1pPr>
            <a:lvl2pPr marL="685800" indent="-228600" algn="l" defTabSz="914400" rtl="0" eaLnBrk="1" latinLnBrk="0" hangingPunct="1">
              <a:lnSpc>
                <a:spcPct val="100000"/>
              </a:lnSpc>
              <a:spcBef>
                <a:spcPts val="500"/>
              </a:spcBef>
              <a:buFont typeface="Wingdings" pitchFamily="2" charset="2"/>
              <a:buChar char="n"/>
              <a:defRPr sz="2400" b="0" i="0" kern="1200">
                <a:solidFill>
                  <a:schemeClr val="tx1"/>
                </a:solidFill>
                <a:latin typeface="Lantinghei SC Extralight" panose="02000000000000000000" pitchFamily="2" charset="-122"/>
                <a:ea typeface="Lantinghei SC Extralight" panose="02000000000000000000" pitchFamily="2" charset="-122"/>
                <a:cs typeface="+mn-cs"/>
              </a:defRPr>
            </a:lvl2pPr>
            <a:lvl3pPr marL="1143000" indent="-228600" algn="l" defTabSz="914400" rtl="0" eaLnBrk="1" latinLnBrk="0" hangingPunct="1">
              <a:lnSpc>
                <a:spcPct val="100000"/>
              </a:lnSpc>
              <a:spcBef>
                <a:spcPts val="500"/>
              </a:spcBef>
              <a:buFont typeface="Wingdings" pitchFamily="2" charset="2"/>
              <a:buChar char="n"/>
              <a:defRPr sz="2000" kern="1200">
                <a:solidFill>
                  <a:schemeClr val="tx1"/>
                </a:solidFill>
                <a:latin typeface="KaiTi" panose="02010609060101010101" pitchFamily="49" charset="-122"/>
                <a:ea typeface="KaiTi" panose="02010609060101010101" pitchFamily="49" charset="-122"/>
                <a:cs typeface="+mn-cs"/>
              </a:defRPr>
            </a:lvl3pPr>
            <a:lvl4pPr marL="1600200" indent="-228600" algn="l" defTabSz="914400" rtl="0" eaLnBrk="1" latinLnBrk="0" hangingPunct="1">
              <a:lnSpc>
                <a:spcPct val="100000"/>
              </a:lnSpc>
              <a:spcBef>
                <a:spcPts val="500"/>
              </a:spcBef>
              <a:buFont typeface="Wingdings" pitchFamily="2" charset="2"/>
              <a:buChar char="n"/>
              <a:defRPr sz="1800" kern="1200">
                <a:solidFill>
                  <a:schemeClr val="tx1"/>
                </a:solidFill>
                <a:latin typeface="KaiTi" panose="02010609060101010101" pitchFamily="49" charset="-122"/>
                <a:ea typeface="KaiTi" panose="02010609060101010101" pitchFamily="49" charset="-122"/>
                <a:cs typeface="+mn-cs"/>
              </a:defRPr>
            </a:lvl4pPr>
            <a:lvl5pPr marL="2057400" indent="-228600" algn="l" defTabSz="914400" rtl="0" eaLnBrk="1" latinLnBrk="0" hangingPunct="1">
              <a:lnSpc>
                <a:spcPct val="100000"/>
              </a:lnSpc>
              <a:spcBef>
                <a:spcPts val="500"/>
              </a:spcBef>
              <a:buFont typeface="Wingdings" pitchFamily="2" charset="2"/>
              <a:buChar char="n"/>
              <a:defRPr sz="1800" kern="1200">
                <a:solidFill>
                  <a:schemeClr val="tx1"/>
                </a:solidFill>
                <a:latin typeface="KaiTi" panose="02010609060101010101" pitchFamily="49" charset="-122"/>
                <a:ea typeface="KaiTi"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itchFamily="2" charset="2"/>
              <a:buChar char="p"/>
            </a:pPr>
            <a:r>
              <a:rPr lang="en" altLang="zh-CN" dirty="0">
                <a:latin typeface="Microsoft YaHei" panose="020B0503020204020204" pitchFamily="34" charset="-122"/>
                <a:ea typeface="Microsoft YaHei" panose="020B0503020204020204" pitchFamily="34" charset="-122"/>
              </a:rPr>
              <a:t>Scikit-learn</a:t>
            </a:r>
            <a:r>
              <a:rPr lang="zh-CN" altLang="en-US" dirty="0">
                <a:latin typeface="Microsoft YaHei" panose="020B0503020204020204" pitchFamily="34" charset="-122"/>
                <a:ea typeface="Microsoft YaHei" panose="020B0503020204020204" pitchFamily="34" charset="-122"/>
              </a:rPr>
              <a:t>是</a:t>
            </a:r>
            <a:r>
              <a:rPr lang="en" altLang="zh-CN" dirty="0">
                <a:latin typeface="Microsoft YaHei" panose="020B0503020204020204" pitchFamily="34" charset="-122"/>
                <a:ea typeface="Microsoft YaHei" panose="020B0503020204020204" pitchFamily="34" charset="-122"/>
              </a:rPr>
              <a:t>Python</a:t>
            </a:r>
            <a:r>
              <a:rPr lang="zh-CN" altLang="en-US" dirty="0">
                <a:latin typeface="Microsoft YaHei" panose="020B0503020204020204" pitchFamily="34" charset="-122"/>
                <a:ea typeface="Microsoft YaHei" panose="020B0503020204020204" pitchFamily="34" charset="-122"/>
              </a:rPr>
              <a:t>中最受欢迎的机器学习库</a:t>
            </a:r>
            <a:endParaRPr lang="en-US" altLang="zh-CN" dirty="0">
              <a:latin typeface="Microsoft YaHei" panose="020B0503020204020204" pitchFamily="34" charset="-122"/>
              <a:ea typeface="Microsoft YaHei" panose="020B0503020204020204" pitchFamily="34" charset="-122"/>
            </a:endParaRPr>
          </a:p>
          <a:p>
            <a:pPr lvl="1">
              <a:lnSpc>
                <a:spcPct val="120000"/>
              </a:lnSpc>
              <a:buFont typeface="Wingdings" pitchFamily="2" charset="2"/>
              <a:buChar char="p"/>
            </a:pPr>
            <a:r>
              <a:rPr lang="zh-CN" altLang="en-US" dirty="0">
                <a:latin typeface="Microsoft YaHei" panose="020B0503020204020204" pitchFamily="34" charset="-122"/>
                <a:ea typeface="Microsoft YaHei" panose="020B0503020204020204" pitchFamily="34" charset="-122"/>
              </a:rPr>
              <a:t>提供了丰富多样的机器学习算法，从简单的</a:t>
            </a:r>
            <a:r>
              <a:rPr lang="zh-CN" altLang="en-US" b="1" dirty="0">
                <a:latin typeface="Microsoft YaHei" panose="020B0503020204020204" pitchFamily="34" charset="-122"/>
                <a:ea typeface="Microsoft YaHei" panose="020B0503020204020204" pitchFamily="34" charset="-122"/>
              </a:rPr>
              <a:t>线性回归</a:t>
            </a:r>
            <a:r>
              <a:rPr lang="zh-CN" altLang="en-US" dirty="0">
                <a:latin typeface="Microsoft YaHei" panose="020B0503020204020204" pitchFamily="34" charset="-122"/>
                <a:ea typeface="Microsoft YaHei" panose="020B0503020204020204" pitchFamily="34" charset="-122"/>
              </a:rPr>
              <a:t>到复杂的</a:t>
            </a:r>
            <a:r>
              <a:rPr lang="zh-CN" altLang="en-US" b="1" dirty="0">
                <a:latin typeface="Microsoft YaHei" panose="020B0503020204020204" pitchFamily="34" charset="-122"/>
                <a:ea typeface="Microsoft YaHei" panose="020B0503020204020204" pitchFamily="34" charset="-122"/>
              </a:rPr>
              <a:t>深度学习模型</a:t>
            </a:r>
            <a:r>
              <a:rPr lang="zh-CN" altLang="en-US" dirty="0">
                <a:latin typeface="Microsoft YaHei" panose="020B0503020204020204" pitchFamily="34" charset="-122"/>
                <a:ea typeface="Microsoft YaHei" panose="020B0503020204020204" pitchFamily="34" charset="-122"/>
              </a:rPr>
              <a:t>。</a:t>
            </a:r>
            <a:endParaRPr lang="en-US" altLang="zh-CN" dirty="0">
              <a:latin typeface="Microsoft YaHei" panose="020B0503020204020204" pitchFamily="34" charset="-122"/>
              <a:ea typeface="Microsoft YaHei" panose="020B0503020204020204" pitchFamily="34" charset="-122"/>
            </a:endParaRPr>
          </a:p>
          <a:p>
            <a:pPr lvl="1">
              <a:lnSpc>
                <a:spcPct val="120000"/>
              </a:lnSpc>
              <a:buFont typeface="Wingdings" pitchFamily="2" charset="2"/>
              <a:buChar char="p"/>
            </a:pPr>
            <a:r>
              <a:rPr lang="zh-CN" altLang="en-US" dirty="0">
                <a:latin typeface="Microsoft YaHei" panose="020B0503020204020204" pitchFamily="34" charset="-122"/>
                <a:ea typeface="Microsoft YaHei" panose="020B0503020204020204" pitchFamily="34" charset="-122"/>
              </a:rPr>
              <a:t>提供了许多实用工具，帮助你进行特征工程、数据预处理、模型选择等等。</a:t>
            </a:r>
            <a:endParaRPr lang="en-US" altLang="zh-CN" dirty="0">
              <a:latin typeface="Microsoft YaHei" panose="020B0503020204020204" pitchFamily="34" charset="-122"/>
              <a:ea typeface="Microsoft YaHei" panose="020B0503020204020204" pitchFamily="34" charset="-122"/>
            </a:endParaRPr>
          </a:p>
          <a:p>
            <a:pPr lvl="1">
              <a:lnSpc>
                <a:spcPct val="120000"/>
              </a:lnSpc>
              <a:buFont typeface="Wingdings" pitchFamily="2" charset="2"/>
              <a:buChar char="p"/>
            </a:pPr>
            <a:r>
              <a:rPr lang="zh-CN" altLang="en-US" dirty="0">
                <a:latin typeface="Microsoft YaHei" panose="020B0503020204020204" pitchFamily="34" charset="-122"/>
                <a:ea typeface="Microsoft YaHei" panose="020B0503020204020204" pitchFamily="34" charset="-122"/>
              </a:rPr>
              <a:t>文档十分完善，有大量的示例代码和教程，可以轻松上手。</a:t>
            </a:r>
            <a:endParaRPr lang="en-US" altLang="zh-CN" dirty="0">
              <a:latin typeface="Microsoft YaHei" panose="020B0503020204020204" pitchFamily="34" charset="-122"/>
              <a:ea typeface="Microsoft YaHei" panose="020B0503020204020204" pitchFamily="34" charset="-122"/>
            </a:endParaRPr>
          </a:p>
          <a:p>
            <a:pPr lvl="1">
              <a:lnSpc>
                <a:spcPct val="120000"/>
              </a:lnSpc>
              <a:buFont typeface="Wingdings" pitchFamily="2" charset="2"/>
              <a:buChar char="p"/>
            </a:pPr>
            <a:r>
              <a:rPr lang="en-US" altLang="zh-CN" dirty="0" err="1">
                <a:latin typeface="Microsoft YaHei" panose="020B0503020204020204" pitchFamily="34" charset="-122"/>
                <a:ea typeface="Microsoft YaHei" panose="020B0503020204020204" pitchFamily="34" charset="-122"/>
              </a:rPr>
              <a:t>Sklearn</a:t>
            </a:r>
            <a:r>
              <a:rPr lang="zh-CN" altLang="en-US" dirty="0">
                <a:latin typeface="Microsoft YaHei" panose="020B0503020204020204" pitchFamily="34" charset="-122"/>
                <a:ea typeface="Microsoft YaHei" panose="020B0503020204020204" pitchFamily="34" charset="-122"/>
              </a:rPr>
              <a:t>使用需要熟悉基本操作，包括如何加载数据，选择模型，训练和评估模型，以及调整模型的参数以获得更好的性能等。</a:t>
            </a:r>
            <a:endParaRPr lang="en-US" altLang="zh-CN" dirty="0">
              <a:latin typeface="Microsoft YaHei" panose="020B0503020204020204" pitchFamily="34" charset="-122"/>
              <a:ea typeface="Microsoft YaHei" panose="020B0503020204020204" pitchFamily="34" charset="-122"/>
            </a:endParaRPr>
          </a:p>
          <a:p>
            <a:pPr>
              <a:lnSpc>
                <a:spcPct val="120000"/>
              </a:lnSpc>
              <a:buFont typeface="Wingdings" pitchFamily="2" charset="2"/>
              <a:buChar char="p"/>
            </a:pPr>
            <a:r>
              <a:rPr lang="en-US" altLang="zh-CN" dirty="0" err="1">
                <a:latin typeface="Microsoft YaHei" panose="020B0503020204020204" pitchFamily="34" charset="-122"/>
                <a:ea typeface="Microsoft YaHei" panose="020B0503020204020204" pitchFamily="34" charset="-122"/>
              </a:rPr>
              <a:t>Sklearn</a:t>
            </a:r>
            <a:r>
              <a:rPr lang="zh-CN" altLang="en-US" dirty="0">
                <a:latin typeface="Microsoft YaHei" panose="020B0503020204020204" pitchFamily="34" charset="-122"/>
                <a:ea typeface="Microsoft YaHei" panose="020B0503020204020204" pitchFamily="34" charset="-122"/>
              </a:rPr>
              <a:t>的下载安装</a:t>
            </a:r>
            <a:endParaRPr lang="en-US" altLang="zh-CN" dirty="0">
              <a:latin typeface="Microsoft YaHei" panose="020B0503020204020204" pitchFamily="34" charset="-122"/>
              <a:ea typeface="Microsoft YaHei" panose="020B0503020204020204" pitchFamily="34" charset="-122"/>
            </a:endParaRPr>
          </a:p>
          <a:p>
            <a:pPr lvl="1">
              <a:lnSpc>
                <a:spcPct val="120000"/>
              </a:lnSpc>
              <a:buFont typeface="Wingdings" pitchFamily="2" charset="2"/>
              <a:buChar char="p"/>
            </a:pPr>
            <a:r>
              <a:rPr lang="zh-CN" altLang="en-US" dirty="0">
                <a:latin typeface="Microsoft YaHei" panose="020B0503020204020204" pitchFamily="34" charset="-122"/>
                <a:ea typeface="Microsoft YaHei" panose="020B0503020204020204" pitchFamily="34" charset="-122"/>
              </a:rPr>
              <a:t>安装好</a:t>
            </a:r>
            <a:r>
              <a:rPr lang="en-US" altLang="zh-CN" dirty="0">
                <a:latin typeface="Microsoft YaHei" panose="020B0503020204020204" pitchFamily="34" charset="-122"/>
                <a:ea typeface="Microsoft YaHei" panose="020B0503020204020204" pitchFamily="34" charset="-122"/>
              </a:rPr>
              <a:t>python</a:t>
            </a:r>
            <a:r>
              <a:rPr lang="zh-CN" altLang="en-US" dirty="0">
                <a:latin typeface="Microsoft YaHei" panose="020B0503020204020204" pitchFamily="34" charset="-122"/>
                <a:ea typeface="Microsoft YaHei" panose="020B0503020204020204" pitchFamily="34" charset="-122"/>
              </a:rPr>
              <a:t>环境</a:t>
            </a:r>
            <a:endParaRPr lang="en-US" altLang="zh-CN" dirty="0">
              <a:latin typeface="Microsoft YaHei" panose="020B0503020204020204" pitchFamily="34" charset="-122"/>
              <a:ea typeface="Microsoft YaHei" panose="020B0503020204020204" pitchFamily="34" charset="-122"/>
            </a:endParaRPr>
          </a:p>
          <a:p>
            <a:pPr lvl="1">
              <a:lnSpc>
                <a:spcPct val="120000"/>
              </a:lnSpc>
              <a:buFont typeface="Wingdings" pitchFamily="2" charset="2"/>
              <a:buChar char="p"/>
            </a:pPr>
            <a:r>
              <a:rPr lang="zh-CN" altLang="en-US" dirty="0">
                <a:latin typeface="Microsoft YaHei" panose="020B0503020204020204" pitchFamily="34" charset="-122"/>
                <a:ea typeface="Microsoft YaHei" panose="020B0503020204020204" pitchFamily="34" charset="-122"/>
              </a:rPr>
              <a:t>输入</a:t>
            </a:r>
            <a:r>
              <a:rPr lang="en-US" altLang="zh-CN" dirty="0">
                <a:latin typeface="Microsoft YaHei" panose="020B0503020204020204" pitchFamily="34" charset="-122"/>
                <a:ea typeface="Microsoft YaHei" panose="020B0503020204020204" pitchFamily="34" charset="-122"/>
              </a:rPr>
              <a:t>python</a:t>
            </a:r>
            <a:r>
              <a:rPr lang="zh-CN" altLang="en-US" dirty="0">
                <a:latin typeface="Microsoft YaHei" panose="020B0503020204020204" pitchFamily="34" charset="-122"/>
                <a:ea typeface="Microsoft YaHei" panose="020B0503020204020204" pitchFamily="34" charset="-122"/>
              </a:rPr>
              <a:t> </a:t>
            </a:r>
            <a:r>
              <a:rPr lang="en-US" altLang="zh-CN" dirty="0">
                <a:latin typeface="Microsoft YaHei" panose="020B0503020204020204" pitchFamily="34" charset="-122"/>
                <a:ea typeface="Microsoft YaHei" panose="020B0503020204020204" pitchFamily="34" charset="-122"/>
              </a:rPr>
              <a:t>–m pip install scikit-learn</a:t>
            </a:r>
            <a:r>
              <a:rPr lang="zh-CN" altLang="en-US" dirty="0">
                <a:latin typeface="Microsoft YaHei" panose="020B0503020204020204" pitchFamily="34" charset="-122"/>
                <a:ea typeface="Microsoft YaHei" panose="020B0503020204020204" pitchFamily="34" charset="-122"/>
              </a:rPr>
              <a:t> 或者</a:t>
            </a:r>
            <a:endParaRPr lang="en-US" altLang="zh-CN" dirty="0">
              <a:latin typeface="Microsoft YaHei" panose="020B0503020204020204" pitchFamily="34" charset="-122"/>
              <a:ea typeface="Microsoft YaHei" panose="020B0503020204020204" pitchFamily="34" charset="-122"/>
            </a:endParaRPr>
          </a:p>
          <a:p>
            <a:pPr lvl="1">
              <a:lnSpc>
                <a:spcPct val="120000"/>
              </a:lnSpc>
              <a:buFont typeface="Wingdings" pitchFamily="2" charset="2"/>
              <a:buChar char="p"/>
            </a:pPr>
            <a:r>
              <a:rPr lang="zh-CN" altLang="en-US" dirty="0">
                <a:latin typeface="Microsoft YaHei" panose="020B0503020204020204" pitchFamily="34" charset="-122"/>
                <a:ea typeface="Microsoft YaHei" panose="020B0503020204020204" pitchFamily="34" charset="-122"/>
              </a:rPr>
              <a:t>输入 </a:t>
            </a:r>
            <a:r>
              <a:rPr lang="en" altLang="zh-CN" dirty="0">
                <a:latin typeface="Microsoft YaHei" panose="020B0503020204020204" pitchFamily="34" charset="-122"/>
                <a:ea typeface="Microsoft YaHei" panose="020B0503020204020204" pitchFamily="34" charset="-122"/>
              </a:rPr>
              <a:t>python -m pip install scikit-learn  -</a:t>
            </a:r>
            <a:r>
              <a:rPr lang="en" altLang="zh-CN" dirty="0" err="1">
                <a:latin typeface="Microsoft YaHei" panose="020B0503020204020204" pitchFamily="34" charset="-122"/>
                <a:ea typeface="Microsoft YaHei" panose="020B0503020204020204" pitchFamily="34" charset="-122"/>
              </a:rPr>
              <a:t>i</a:t>
            </a:r>
            <a:r>
              <a:rPr lang="en" altLang="zh-CN" dirty="0">
                <a:latin typeface="Microsoft YaHei" panose="020B0503020204020204" pitchFamily="34" charset="-122"/>
                <a:ea typeface="Microsoft YaHei" panose="020B0503020204020204" pitchFamily="34" charset="-122"/>
              </a:rPr>
              <a:t> https://</a:t>
            </a:r>
            <a:r>
              <a:rPr lang="en" altLang="zh-CN" dirty="0" err="1">
                <a:latin typeface="Microsoft YaHei" panose="020B0503020204020204" pitchFamily="34" charset="-122"/>
                <a:ea typeface="Microsoft YaHei" panose="020B0503020204020204" pitchFamily="34" charset="-122"/>
              </a:rPr>
              <a:t>pypi.tuna.tsinghua.edu.cn</a:t>
            </a:r>
            <a:r>
              <a:rPr lang="en" altLang="zh-CN" dirty="0">
                <a:latin typeface="Microsoft YaHei" panose="020B0503020204020204" pitchFamily="34" charset="-122"/>
                <a:ea typeface="Microsoft YaHei" panose="020B0503020204020204" pitchFamily="34" charset="-122"/>
              </a:rPr>
              <a:t>/simple</a:t>
            </a:r>
          </a:p>
        </p:txBody>
      </p:sp>
    </p:spTree>
    <p:extLst>
      <p:ext uri="{BB962C8B-B14F-4D97-AF65-F5344CB8AC3E}">
        <p14:creationId xmlns:p14="http://schemas.microsoft.com/office/powerpoint/2010/main" val="3650195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a:t>
            </a:r>
            <a:r>
              <a:rPr lang="zh-CN" altLang="en-US" dirty="0"/>
              <a:t> </a:t>
            </a:r>
            <a:r>
              <a:rPr lang="en-US" altLang="zh-CN" dirty="0"/>
              <a:t>AI</a:t>
            </a:r>
            <a:r>
              <a:rPr lang="zh-CN" altLang="en-US" dirty="0"/>
              <a:t>算法库</a:t>
            </a:r>
            <a:r>
              <a:rPr lang="en-US" altLang="zh-CN" dirty="0"/>
              <a:t>——Scikit-learn</a:t>
            </a:r>
            <a:r>
              <a:rPr lang="zh-CN" altLang="en-US" dirty="0"/>
              <a:t> </a:t>
            </a:r>
            <a:r>
              <a:rPr lang="en-US" altLang="zh-CN" dirty="0"/>
              <a:t>Intro</a:t>
            </a:r>
            <a:endParaRPr lang="zh-CN" altLang="en-US" dirty="0"/>
          </a:p>
        </p:txBody>
      </p:sp>
      <p:sp>
        <p:nvSpPr>
          <p:cNvPr id="4" name="内容占位符 2">
            <a:extLst>
              <a:ext uri="{FF2B5EF4-FFF2-40B4-BE49-F238E27FC236}">
                <a16:creationId xmlns:a16="http://schemas.microsoft.com/office/drawing/2014/main" id="{4170C2F6-1DB5-3F52-E771-CE0ED50F3291}"/>
              </a:ext>
            </a:extLst>
          </p:cNvPr>
          <p:cNvSpPr>
            <a:spLocks noGrp="1"/>
          </p:cNvSpPr>
          <p:nvPr>
            <p:ph idx="1"/>
          </p:nvPr>
        </p:nvSpPr>
        <p:spPr>
          <a:xfrm>
            <a:off x="249798" y="1326504"/>
            <a:ext cx="2716854" cy="2865110"/>
          </a:xfrm>
        </p:spPr>
        <p:txBody>
          <a:bodyPr>
            <a:normAutofit/>
          </a:bodyPr>
          <a:lstStyle/>
          <a:p>
            <a:pPr>
              <a:lnSpc>
                <a:spcPct val="140000"/>
              </a:lnSpc>
              <a:buFont typeface="Wingdings" pitchFamily="2" charset="2"/>
              <a:buChar char="p"/>
            </a:pPr>
            <a:r>
              <a:rPr lang="zh-CN" altLang="en-US" b="0" i="0" dirty="0">
                <a:effectLst/>
                <a:latin typeface="Microsoft YaHei" panose="020B0503020204020204" pitchFamily="34" charset="-122"/>
                <a:ea typeface="Microsoft YaHei" panose="020B0503020204020204" pitchFamily="34" charset="-122"/>
              </a:rPr>
              <a:t>由图中，可以看到机器学习 </a:t>
            </a:r>
            <a:r>
              <a:rPr lang="en" altLang="zh-CN" b="0" i="0" dirty="0" err="1">
                <a:effectLst/>
                <a:latin typeface="Microsoft YaHei" panose="020B0503020204020204" pitchFamily="34" charset="-122"/>
                <a:ea typeface="Microsoft YaHei" panose="020B0503020204020204" pitchFamily="34" charset="-122"/>
              </a:rPr>
              <a:t>sklearn</a:t>
            </a:r>
            <a:r>
              <a:rPr lang="en" altLang="zh-CN" b="0" i="0" dirty="0">
                <a:effectLst/>
                <a:latin typeface="Microsoft YaHei" panose="020B0503020204020204" pitchFamily="34" charset="-122"/>
                <a:ea typeface="Microsoft YaHei" panose="020B0503020204020204" pitchFamily="34" charset="-122"/>
              </a:rPr>
              <a:t> </a:t>
            </a:r>
            <a:r>
              <a:rPr lang="zh-CN" altLang="en-US" b="0" i="0" dirty="0">
                <a:effectLst/>
                <a:latin typeface="Microsoft YaHei" panose="020B0503020204020204" pitchFamily="34" charset="-122"/>
                <a:ea typeface="Microsoft YaHei" panose="020B0503020204020204" pitchFamily="34" charset="-122"/>
              </a:rPr>
              <a:t>库的算法主要有四类：分类，回归，聚类，降维。</a:t>
            </a:r>
            <a:endParaRPr lang="zh-CN" altLang="en-US" dirty="0">
              <a:latin typeface="Microsoft YaHei" panose="020B0503020204020204" pitchFamily="34" charset="-122"/>
              <a:ea typeface="Microsoft YaHei" panose="020B0503020204020204" pitchFamily="34" charset="-122"/>
            </a:endParaRPr>
          </a:p>
        </p:txBody>
      </p:sp>
      <p:pic>
        <p:nvPicPr>
          <p:cNvPr id="5" name="Picture 2">
            <a:extLst>
              <a:ext uri="{FF2B5EF4-FFF2-40B4-BE49-F238E27FC236}">
                <a16:creationId xmlns:a16="http://schemas.microsoft.com/office/drawing/2014/main" id="{F90ADBD8-14FB-5BB1-9CD8-46CDF1286B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6235" y="1391400"/>
            <a:ext cx="7905967" cy="4929106"/>
          </a:xfrm>
          <a:prstGeom prst="rect">
            <a:avLst/>
          </a:prstGeom>
          <a:noFill/>
          <a:extLst>
            <a:ext uri="{909E8E84-426E-40DD-AFC4-6F175D3DCCD1}">
              <a14:hiddenFill xmlns:a14="http://schemas.microsoft.com/office/drawing/2010/main">
                <a:solidFill>
                  <a:srgbClr val="FFFFFF"/>
                </a:solidFill>
              </a14:hiddenFill>
            </a:ext>
          </a:extLst>
        </p:spPr>
      </p:pic>
      <p:grpSp>
        <p:nvGrpSpPr>
          <p:cNvPr id="6" name="组合 10">
            <a:extLst>
              <a:ext uri="{FF2B5EF4-FFF2-40B4-BE49-F238E27FC236}">
                <a16:creationId xmlns:a16="http://schemas.microsoft.com/office/drawing/2014/main" id="{C012A1FB-4633-69BE-0D06-E6CE3B704352}"/>
              </a:ext>
            </a:extLst>
          </p:cNvPr>
          <p:cNvGrpSpPr/>
          <p:nvPr/>
        </p:nvGrpSpPr>
        <p:grpSpPr>
          <a:xfrm>
            <a:off x="3866644" y="1309328"/>
            <a:ext cx="7202360" cy="4771525"/>
            <a:chOff x="3866644" y="1309328"/>
            <a:chExt cx="7202360" cy="4771525"/>
          </a:xfrm>
        </p:grpSpPr>
        <p:sp>
          <p:nvSpPr>
            <p:cNvPr id="7" name="文本框 6">
              <a:extLst>
                <a:ext uri="{FF2B5EF4-FFF2-40B4-BE49-F238E27FC236}">
                  <a16:creationId xmlns:a16="http://schemas.microsoft.com/office/drawing/2014/main" id="{02BB4DF0-D74F-E31B-D6B4-869F451B3112}"/>
                </a:ext>
              </a:extLst>
            </p:cNvPr>
            <p:cNvSpPr txBox="1"/>
            <p:nvPr/>
          </p:nvSpPr>
          <p:spPr>
            <a:xfrm>
              <a:off x="4189809" y="1309328"/>
              <a:ext cx="646331" cy="369332"/>
            </a:xfrm>
            <a:prstGeom prst="rect">
              <a:avLst/>
            </a:prstGeom>
            <a:noFill/>
          </p:spPr>
          <p:txBody>
            <a:bodyPr wrap="none" rtlCol="0">
              <a:spAutoFit/>
            </a:bodyPr>
            <a:lstStyle/>
            <a:p>
              <a:r>
                <a:rPr kumimoji="1" lang="zh-CN" altLang="en-US" b="1" dirty="0">
                  <a:latin typeface="Lantinghei SC Demibold" panose="02000000000000000000" pitchFamily="2" charset="-122"/>
                  <a:ea typeface="Lantinghei SC Demibold" panose="02000000000000000000" pitchFamily="2" charset="-122"/>
                </a:rPr>
                <a:t>分类</a:t>
              </a:r>
            </a:p>
          </p:txBody>
        </p:sp>
        <p:sp>
          <p:nvSpPr>
            <p:cNvPr id="8" name="文本框 7">
              <a:extLst>
                <a:ext uri="{FF2B5EF4-FFF2-40B4-BE49-F238E27FC236}">
                  <a16:creationId xmlns:a16="http://schemas.microsoft.com/office/drawing/2014/main" id="{53E682AA-63C0-8BDF-C0FE-94294C186A16}"/>
                </a:ext>
              </a:extLst>
            </p:cNvPr>
            <p:cNvSpPr txBox="1"/>
            <p:nvPr/>
          </p:nvSpPr>
          <p:spPr>
            <a:xfrm>
              <a:off x="10422673" y="2286000"/>
              <a:ext cx="646331" cy="369332"/>
            </a:xfrm>
            <a:prstGeom prst="rect">
              <a:avLst/>
            </a:prstGeom>
            <a:noFill/>
          </p:spPr>
          <p:txBody>
            <a:bodyPr wrap="none" rtlCol="0">
              <a:spAutoFit/>
            </a:bodyPr>
            <a:lstStyle/>
            <a:p>
              <a:r>
                <a:rPr kumimoji="1" lang="zh-CN" altLang="en-US" b="1" dirty="0">
                  <a:latin typeface="Lantinghei SC Demibold" panose="02000000000000000000" pitchFamily="2" charset="-122"/>
                  <a:ea typeface="Lantinghei SC Demibold" panose="02000000000000000000" pitchFamily="2" charset="-122"/>
                </a:rPr>
                <a:t>回归</a:t>
              </a:r>
            </a:p>
          </p:txBody>
        </p:sp>
        <p:sp>
          <p:nvSpPr>
            <p:cNvPr id="9" name="文本框 8">
              <a:extLst>
                <a:ext uri="{FF2B5EF4-FFF2-40B4-BE49-F238E27FC236}">
                  <a16:creationId xmlns:a16="http://schemas.microsoft.com/office/drawing/2014/main" id="{ABDD2840-3D1E-85D7-8688-3BB795C458EA}"/>
                </a:ext>
              </a:extLst>
            </p:cNvPr>
            <p:cNvSpPr txBox="1"/>
            <p:nvPr/>
          </p:nvSpPr>
          <p:spPr>
            <a:xfrm>
              <a:off x="3866644" y="4458259"/>
              <a:ext cx="646331" cy="369332"/>
            </a:xfrm>
            <a:prstGeom prst="rect">
              <a:avLst/>
            </a:prstGeom>
            <a:noFill/>
          </p:spPr>
          <p:txBody>
            <a:bodyPr wrap="none" rtlCol="0">
              <a:spAutoFit/>
            </a:bodyPr>
            <a:lstStyle/>
            <a:p>
              <a:r>
                <a:rPr kumimoji="1" lang="zh-CN" altLang="en-US" b="1" dirty="0">
                  <a:latin typeface="Lantinghei SC Demibold" panose="02000000000000000000" pitchFamily="2" charset="-122"/>
                  <a:ea typeface="Lantinghei SC Demibold" panose="02000000000000000000" pitchFamily="2" charset="-122"/>
                </a:rPr>
                <a:t>聚类</a:t>
              </a:r>
            </a:p>
          </p:txBody>
        </p:sp>
        <p:sp>
          <p:nvSpPr>
            <p:cNvPr id="10" name="文本框 9">
              <a:extLst>
                <a:ext uri="{FF2B5EF4-FFF2-40B4-BE49-F238E27FC236}">
                  <a16:creationId xmlns:a16="http://schemas.microsoft.com/office/drawing/2014/main" id="{7DD7406D-7D02-DD17-3C05-113D32D3A843}"/>
                </a:ext>
              </a:extLst>
            </p:cNvPr>
            <p:cNvSpPr txBox="1"/>
            <p:nvPr/>
          </p:nvSpPr>
          <p:spPr>
            <a:xfrm>
              <a:off x="10099508" y="5711521"/>
              <a:ext cx="646331" cy="369332"/>
            </a:xfrm>
            <a:prstGeom prst="rect">
              <a:avLst/>
            </a:prstGeom>
            <a:noFill/>
          </p:spPr>
          <p:txBody>
            <a:bodyPr wrap="none" rtlCol="0">
              <a:spAutoFit/>
            </a:bodyPr>
            <a:lstStyle/>
            <a:p>
              <a:r>
                <a:rPr kumimoji="1" lang="zh-CN" altLang="en-US" dirty="0">
                  <a:latin typeface="LANTINGHEI SC DEMIBOLD" panose="02000000000000000000" pitchFamily="2" charset="-122"/>
                  <a:ea typeface="LANTINGHEI SC DEMIBOLD" panose="02000000000000000000" pitchFamily="2" charset="-122"/>
                </a:rPr>
                <a:t>降维</a:t>
              </a:r>
            </a:p>
          </p:txBody>
        </p:sp>
      </p:grpSp>
    </p:spTree>
    <p:extLst>
      <p:ext uri="{BB962C8B-B14F-4D97-AF65-F5344CB8AC3E}">
        <p14:creationId xmlns:p14="http://schemas.microsoft.com/office/powerpoint/2010/main" val="3201128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a:t>
            </a:r>
            <a:r>
              <a:rPr lang="zh-CN" altLang="en-US" dirty="0"/>
              <a:t> </a:t>
            </a:r>
            <a:r>
              <a:rPr lang="zh-CN" altLang="en-CN" dirty="0"/>
              <a:t>结语</a:t>
            </a:r>
            <a:endParaRPr lang="zh-CN" altLang="en-US" dirty="0"/>
          </a:p>
        </p:txBody>
      </p:sp>
      <p:sp>
        <p:nvSpPr>
          <p:cNvPr id="21" name="内容占位符 6">
            <a:extLst>
              <a:ext uri="{FF2B5EF4-FFF2-40B4-BE49-F238E27FC236}">
                <a16:creationId xmlns:a16="http://schemas.microsoft.com/office/drawing/2014/main" id="{035D3BB4-EDE2-4886-6803-3494E3E2F2E8}"/>
              </a:ext>
            </a:extLst>
          </p:cNvPr>
          <p:cNvSpPr>
            <a:spLocks noGrp="1"/>
          </p:cNvSpPr>
          <p:nvPr>
            <p:ph idx="1"/>
          </p:nvPr>
        </p:nvSpPr>
        <p:spPr>
          <a:xfrm>
            <a:off x="439615" y="1180975"/>
            <a:ext cx="11286483" cy="4292173"/>
          </a:xfrm>
        </p:spPr>
        <p:txBody>
          <a:bodyPr/>
          <a:lstStyle/>
          <a:p>
            <a:pPr>
              <a:lnSpc>
                <a:spcPct val="120000"/>
              </a:lnSpc>
              <a:buFont typeface="Wingdings" pitchFamily="2" charset="2"/>
              <a:buChar char="p"/>
            </a:pPr>
            <a:r>
              <a:rPr lang="en-CN" altLang="zh-CN" sz="2400" b="0" dirty="0">
                <a:latin typeface="Microsoft YaHei" panose="020B0503020204020204" pitchFamily="34" charset="-122"/>
                <a:ea typeface="Microsoft YaHei" panose="020B0503020204020204" pitchFamily="34" charset="-122"/>
              </a:rPr>
              <a:t>人工智能开源框架的崛起不仅推动了技术的快速发展</a:t>
            </a:r>
            <a:r>
              <a:rPr lang="zh-CN" altLang="en-US" sz="2400" b="0" dirty="0">
                <a:latin typeface="Microsoft YaHei" panose="020B0503020204020204" pitchFamily="34" charset="-122"/>
                <a:ea typeface="Microsoft YaHei" panose="020B0503020204020204" pitchFamily="34" charset="-122"/>
              </a:rPr>
              <a:t>，更在很大程度上促进了全球合作于创新。通过这些开源框架，我们能够更高效地构建智能应用，从而解决现实世界的复杂问题。无论是</a:t>
            </a:r>
            <a:r>
              <a:rPr lang="en-US" altLang="zh-CN" sz="2400" b="0" dirty="0">
                <a:latin typeface="Microsoft YaHei" panose="020B0503020204020204" pitchFamily="34" charset="-122"/>
                <a:ea typeface="Microsoft YaHei" panose="020B0503020204020204" pitchFamily="34" charset="-122"/>
              </a:rPr>
              <a:t>TensorFlow</a:t>
            </a:r>
            <a:r>
              <a:rPr lang="zh-CN" altLang="en-US" sz="2400" b="0" dirty="0">
                <a:latin typeface="Microsoft YaHei" panose="020B0503020204020204" pitchFamily="34" charset="-122"/>
                <a:ea typeface="Microsoft YaHei" panose="020B0503020204020204" pitchFamily="34" charset="-122"/>
              </a:rPr>
              <a:t>，</a:t>
            </a:r>
            <a:r>
              <a:rPr lang="en-US" altLang="zh-CN" sz="2400" b="0" dirty="0">
                <a:latin typeface="Microsoft YaHei" panose="020B0503020204020204" pitchFamily="34" charset="-122"/>
                <a:ea typeface="Microsoft YaHei" panose="020B0503020204020204" pitchFamily="34" charset="-122"/>
              </a:rPr>
              <a:t>PyTorch</a:t>
            </a:r>
            <a:r>
              <a:rPr lang="zh-CN" altLang="en-US" sz="2400" b="0" dirty="0">
                <a:latin typeface="Microsoft YaHei" panose="020B0503020204020204" pitchFamily="34" charset="-122"/>
                <a:ea typeface="Microsoft YaHei" panose="020B0503020204020204" pitchFamily="34" charset="-122"/>
              </a:rPr>
              <a:t>还是其他优秀的开源项目，他们的存在都让我们看到了技术发展的无限可能。</a:t>
            </a:r>
            <a:endParaRPr lang="en-US" altLang="zh-CN" sz="2400" b="0" dirty="0">
              <a:latin typeface="Microsoft YaHei" panose="020B0503020204020204" pitchFamily="34" charset="-122"/>
              <a:ea typeface="Microsoft YaHei" panose="020B0503020204020204" pitchFamily="34" charset="-122"/>
            </a:endParaRPr>
          </a:p>
          <a:p>
            <a:pPr>
              <a:lnSpc>
                <a:spcPct val="120000"/>
              </a:lnSpc>
              <a:buFont typeface="Wingdings" pitchFamily="2" charset="2"/>
              <a:buChar char="p"/>
            </a:pPr>
            <a:r>
              <a:rPr lang="zh-CN" altLang="en-US" sz="2400" b="0" dirty="0">
                <a:latin typeface="Microsoft YaHei" panose="020B0503020204020204" pitchFamily="34" charset="-122"/>
                <a:ea typeface="Microsoft YaHei" panose="020B0503020204020204" pitchFamily="34" charset="-122"/>
              </a:rPr>
              <a:t>在这个瞬息万变的时代，开源精神为我们提供了无限的机会与可能。我们不仅能够从中学习最先进的技术，还能够通过贡献自己的力量，推动整个行业的进步。正如开源运动的核心理念所言：分享与协作使我们更加强大。</a:t>
            </a:r>
            <a:endParaRPr lang="en-CN" altLang="zh-CN" sz="2400" b="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090958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C02C7AE-B473-BC1B-B982-ECAF6CC4C4D4}"/>
              </a:ext>
            </a:extLst>
          </p:cNvPr>
          <p:cNvPicPr>
            <a:picLocks noChangeAspect="1"/>
          </p:cNvPicPr>
          <p:nvPr/>
        </p:nvPicPr>
        <p:blipFill>
          <a:blip r:embed="rId2"/>
          <a:stretch>
            <a:fillRect/>
          </a:stretch>
        </p:blipFill>
        <p:spPr>
          <a:xfrm>
            <a:off x="4800157" y="1734743"/>
            <a:ext cx="6725427" cy="3388514"/>
          </a:xfrm>
          <a:prstGeom prst="rect">
            <a:avLst/>
          </a:prstGeom>
        </p:spPr>
      </p:pic>
      <p:sp>
        <p:nvSpPr>
          <p:cNvPr id="2" name="标题 1">
            <a:extLst>
              <a:ext uri="{FF2B5EF4-FFF2-40B4-BE49-F238E27FC236}">
                <a16:creationId xmlns:a16="http://schemas.microsoft.com/office/drawing/2014/main" id="{8166BD27-BEF1-DF42-8647-5D0C3EA955D6}"/>
              </a:ext>
            </a:extLst>
          </p:cNvPr>
          <p:cNvSpPr>
            <a:spLocks noGrp="1"/>
          </p:cNvSpPr>
          <p:nvPr>
            <p:ph type="title"/>
          </p:nvPr>
        </p:nvSpPr>
        <p:spPr/>
        <p:txBody>
          <a:bodyPr/>
          <a:lstStyle/>
          <a:p>
            <a:r>
              <a:rPr kumimoji="1" lang="zh-CN" altLang="en-US" dirty="0"/>
              <a:t>提纲</a:t>
            </a:r>
          </a:p>
        </p:txBody>
      </p:sp>
      <p:sp>
        <p:nvSpPr>
          <p:cNvPr id="3" name="内容占位符 2">
            <a:extLst>
              <a:ext uri="{FF2B5EF4-FFF2-40B4-BE49-F238E27FC236}">
                <a16:creationId xmlns:a16="http://schemas.microsoft.com/office/drawing/2014/main" id="{A2D0DB05-8797-7647-B132-FFE2E7510516}"/>
              </a:ext>
            </a:extLst>
          </p:cNvPr>
          <p:cNvSpPr>
            <a:spLocks noGrp="1"/>
          </p:cNvSpPr>
          <p:nvPr>
            <p:ph idx="1"/>
          </p:nvPr>
        </p:nvSpPr>
        <p:spPr/>
        <p:txBody>
          <a:bodyPr/>
          <a:lstStyle/>
          <a:p>
            <a:r>
              <a:rPr kumimoji="1" lang="en-US" altLang="zh-CN" sz="2400" dirty="0">
                <a:solidFill>
                  <a:schemeClr val="bg1">
                    <a:lumMod val="50000"/>
                  </a:schemeClr>
                </a:solidFill>
              </a:rPr>
              <a:t>3.1</a:t>
            </a:r>
            <a:r>
              <a:rPr kumimoji="1" lang="zh-CN" altLang="en-US" sz="2400" dirty="0">
                <a:solidFill>
                  <a:schemeClr val="bg1">
                    <a:lumMod val="50000"/>
                  </a:schemeClr>
                </a:solidFill>
              </a:rPr>
              <a:t> 从手写数字识别说起</a:t>
            </a:r>
            <a:endParaRPr kumimoji="1" lang="en-US" altLang="zh-CN" sz="2400" dirty="0">
              <a:solidFill>
                <a:schemeClr val="bg1">
                  <a:lumMod val="50000"/>
                </a:schemeClr>
              </a:solidFill>
            </a:endParaRPr>
          </a:p>
          <a:p>
            <a:r>
              <a:rPr kumimoji="1" lang="en-US" altLang="zh-CN" sz="2400" dirty="0">
                <a:solidFill>
                  <a:schemeClr val="bg1">
                    <a:lumMod val="50000"/>
                  </a:schemeClr>
                </a:solidFill>
              </a:rPr>
              <a:t>3.2 </a:t>
            </a:r>
            <a:r>
              <a:rPr kumimoji="1" lang="zh-CN" altLang="en-US" sz="2400" dirty="0">
                <a:solidFill>
                  <a:schemeClr val="bg1">
                    <a:lumMod val="50000"/>
                  </a:schemeClr>
                </a:solidFill>
              </a:rPr>
              <a:t>基本环境搭建与配置</a:t>
            </a:r>
          </a:p>
          <a:p>
            <a:r>
              <a:rPr kumimoji="1" lang="en-US" altLang="zh-CN" sz="2400" dirty="0">
                <a:solidFill>
                  <a:schemeClr val="bg1">
                    <a:lumMod val="50000"/>
                  </a:schemeClr>
                </a:solidFill>
              </a:rPr>
              <a:t>3.3 PYTHON</a:t>
            </a:r>
            <a:r>
              <a:rPr kumimoji="1" lang="zh-CN" altLang="en-US" sz="2400" dirty="0">
                <a:solidFill>
                  <a:schemeClr val="bg1">
                    <a:lumMod val="50000"/>
                  </a:schemeClr>
                </a:solidFill>
              </a:rPr>
              <a:t>入门</a:t>
            </a:r>
          </a:p>
          <a:p>
            <a:r>
              <a:rPr kumimoji="1" lang="en-US" altLang="zh-CN" sz="2400" dirty="0">
                <a:solidFill>
                  <a:schemeClr val="bg1">
                    <a:lumMod val="50000"/>
                  </a:schemeClr>
                </a:solidFill>
              </a:rPr>
              <a:t>3.4 AI</a:t>
            </a:r>
            <a:r>
              <a:rPr kumimoji="1" lang="zh-CN" altLang="en-US" sz="2400" dirty="0">
                <a:solidFill>
                  <a:schemeClr val="bg1">
                    <a:lumMod val="50000"/>
                  </a:schemeClr>
                </a:solidFill>
              </a:rPr>
              <a:t>算法库和开发工具包</a:t>
            </a:r>
          </a:p>
          <a:p>
            <a:r>
              <a:rPr kumimoji="1" lang="en-US" altLang="zh-CN" sz="2400" dirty="0">
                <a:solidFill>
                  <a:schemeClr val="tx1"/>
                </a:solidFill>
              </a:rPr>
              <a:t>3.5</a:t>
            </a:r>
            <a:r>
              <a:rPr kumimoji="1" lang="zh-CN" altLang="en-US" sz="2400" dirty="0">
                <a:solidFill>
                  <a:schemeClr val="tx1"/>
                </a:solidFill>
              </a:rPr>
              <a:t>深度学习框架</a:t>
            </a:r>
          </a:p>
          <a:p>
            <a:endParaRPr kumimoji="1" lang="zh-CN" altLang="en-US" sz="2400" dirty="0"/>
          </a:p>
        </p:txBody>
      </p:sp>
      <p:sp>
        <p:nvSpPr>
          <p:cNvPr id="5" name="文本框 4">
            <a:extLst>
              <a:ext uri="{FF2B5EF4-FFF2-40B4-BE49-F238E27FC236}">
                <a16:creationId xmlns:a16="http://schemas.microsoft.com/office/drawing/2014/main" id="{0211E28A-4EA5-F641-BA32-4A365C3B657D}"/>
              </a:ext>
            </a:extLst>
          </p:cNvPr>
          <p:cNvSpPr txBox="1"/>
          <p:nvPr/>
        </p:nvSpPr>
        <p:spPr>
          <a:xfrm>
            <a:off x="4800157" y="2529989"/>
            <a:ext cx="1107996" cy="369332"/>
          </a:xfrm>
          <a:prstGeom prst="rect">
            <a:avLst/>
          </a:prstGeom>
          <a:solidFill>
            <a:srgbClr val="234C9F"/>
          </a:solidFill>
        </p:spPr>
        <p:txBody>
          <a:bodyPr wrap="none" rtlCol="0">
            <a:sp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知识图谱</a:t>
            </a:r>
          </a:p>
        </p:txBody>
      </p:sp>
    </p:spTree>
    <p:extLst>
      <p:ext uri="{BB962C8B-B14F-4D97-AF65-F5344CB8AC3E}">
        <p14:creationId xmlns:p14="http://schemas.microsoft.com/office/powerpoint/2010/main" val="2758668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a:t>
            </a:r>
            <a:r>
              <a:rPr lang="zh-CN" altLang="en-US" dirty="0"/>
              <a:t> 人工智能开源框架</a:t>
            </a:r>
          </a:p>
        </p:txBody>
      </p:sp>
      <p:sp>
        <p:nvSpPr>
          <p:cNvPr id="3" name="内容占位符 6">
            <a:extLst>
              <a:ext uri="{FF2B5EF4-FFF2-40B4-BE49-F238E27FC236}">
                <a16:creationId xmlns:a16="http://schemas.microsoft.com/office/drawing/2014/main" id="{4D40C8FA-21B0-87FE-C711-8EFE74470500}"/>
              </a:ext>
            </a:extLst>
          </p:cNvPr>
          <p:cNvSpPr>
            <a:spLocks noGrp="1"/>
          </p:cNvSpPr>
          <p:nvPr>
            <p:ph idx="1"/>
          </p:nvPr>
        </p:nvSpPr>
        <p:spPr>
          <a:xfrm>
            <a:off x="258279" y="1036133"/>
            <a:ext cx="5180828" cy="5134974"/>
          </a:xfrm>
        </p:spPr>
        <p:txBody>
          <a:bodyPr>
            <a:normAutofit fontScale="85000" lnSpcReduction="10000"/>
          </a:bodyPr>
          <a:lstStyle/>
          <a:p>
            <a:pPr>
              <a:buFont typeface="Wingdings" pitchFamily="2" charset="2"/>
              <a:buChar char="p"/>
            </a:pPr>
            <a:r>
              <a:rPr lang="zh-CN" altLang="en-US" sz="2800" b="1" dirty="0">
                <a:latin typeface="Microsoft YaHei" panose="020B0503020204020204" pitchFamily="34" charset="-122"/>
                <a:ea typeface="Microsoft YaHei" panose="020B0503020204020204" pitchFamily="34" charset="-122"/>
              </a:rPr>
              <a:t>人工智能框架</a:t>
            </a:r>
            <a:r>
              <a:rPr lang="zh-CN" altLang="en-US" sz="2800" dirty="0">
                <a:latin typeface="Microsoft YaHei" panose="020B0503020204020204" pitchFamily="34" charset="-122"/>
                <a:ea typeface="Microsoft YaHei" panose="020B0503020204020204" pitchFamily="34" charset="-122"/>
              </a:rPr>
              <a:t>是</a:t>
            </a:r>
            <a:r>
              <a:rPr lang="en-US" altLang="zh-CN" sz="2800" b="1" dirty="0">
                <a:latin typeface="Microsoft YaHei" panose="020B0503020204020204" pitchFamily="34" charset="-122"/>
                <a:ea typeface="Microsoft YaHei" panose="020B0503020204020204" pitchFamily="34" charset="-122"/>
              </a:rPr>
              <a:t>AI</a:t>
            </a:r>
            <a:r>
              <a:rPr lang="zh-CN" altLang="en-US" sz="2800" b="1" dirty="0">
                <a:latin typeface="Microsoft YaHei" panose="020B0503020204020204" pitchFamily="34" charset="-122"/>
                <a:ea typeface="Microsoft YaHei" panose="020B0503020204020204" pitchFamily="34" charset="-122"/>
              </a:rPr>
              <a:t>算法模型设计、训练于验证的一套标准接口、</a:t>
            </a:r>
            <a:r>
              <a:rPr lang="zh-CN" altLang="en-CN" sz="2800" b="1" dirty="0">
                <a:latin typeface="Microsoft YaHei" panose="020B0503020204020204" pitchFamily="34" charset="-122"/>
                <a:ea typeface="Microsoft YaHei" panose="020B0503020204020204" pitchFamily="34" charset="-122"/>
              </a:rPr>
              <a:t>特性库</a:t>
            </a:r>
            <a:r>
              <a:rPr lang="zh-CN" altLang="en-US" sz="2800" b="1" dirty="0">
                <a:latin typeface="Microsoft YaHei" panose="020B0503020204020204" pitchFamily="34" charset="-122"/>
                <a:ea typeface="Microsoft YaHei" panose="020B0503020204020204" pitchFamily="34" charset="-122"/>
              </a:rPr>
              <a:t>与工具包</a:t>
            </a:r>
            <a:r>
              <a:rPr lang="zh-CN" altLang="en-US" sz="2800" dirty="0">
                <a:latin typeface="Microsoft YaHei" panose="020B0503020204020204" pitchFamily="34" charset="-122"/>
                <a:ea typeface="Microsoft YaHei" panose="020B0503020204020204" pitchFamily="34" charset="-122"/>
              </a:rPr>
              <a:t>，集成了</a:t>
            </a:r>
            <a:r>
              <a:rPr lang="zh-CN" altLang="en-US" sz="2800" b="1" dirty="0">
                <a:latin typeface="Microsoft YaHei" panose="020B0503020204020204" pitchFamily="34" charset="-122"/>
                <a:ea typeface="Microsoft YaHei" panose="020B0503020204020204" pitchFamily="34" charset="-122"/>
              </a:rPr>
              <a:t>算法的封装、数据调用以及计算资源</a:t>
            </a:r>
            <a:r>
              <a:rPr lang="zh-CN" altLang="en-US" sz="2800" dirty="0">
                <a:latin typeface="Microsoft YaHei" panose="020B0503020204020204" pitchFamily="34" charset="-122"/>
                <a:ea typeface="Microsoft YaHei" panose="020B0503020204020204" pitchFamily="34" charset="-122"/>
              </a:rPr>
              <a:t>的使用。</a:t>
            </a:r>
            <a:endParaRPr lang="en-US" altLang="zh-CN" sz="2800" dirty="0">
              <a:latin typeface="Microsoft YaHei" panose="020B0503020204020204" pitchFamily="34" charset="-122"/>
              <a:ea typeface="Microsoft YaHei" panose="020B0503020204020204" pitchFamily="34" charset="-122"/>
            </a:endParaRPr>
          </a:p>
          <a:p>
            <a:pPr>
              <a:buFont typeface="Wingdings" pitchFamily="2" charset="2"/>
              <a:buChar char="p"/>
            </a:pPr>
            <a:r>
              <a:rPr lang="zh-CN" altLang="en-US" sz="2800" dirty="0">
                <a:latin typeface="Microsoft YaHei" panose="020B0503020204020204" pitchFamily="34" charset="-122"/>
                <a:ea typeface="Microsoft YaHei" panose="020B0503020204020204" pitchFamily="34" charset="-122"/>
              </a:rPr>
              <a:t>开源人工智能框架为开发人员创建</a:t>
            </a:r>
            <a:r>
              <a:rPr lang="zh-CN" altLang="en-US" sz="2800" b="1" dirty="0">
                <a:latin typeface="Microsoft YaHei" panose="020B0503020204020204" pitchFamily="34" charset="-122"/>
                <a:ea typeface="Microsoft YaHei" panose="020B0503020204020204" pitchFamily="34" charset="-122"/>
              </a:rPr>
              <a:t>人工智能应用程序</a:t>
            </a:r>
            <a:r>
              <a:rPr lang="zh-CN" altLang="en-US" sz="2800" dirty="0">
                <a:latin typeface="Microsoft YaHei" panose="020B0503020204020204" pitchFamily="34" charset="-122"/>
                <a:ea typeface="Microsoft YaHei" panose="020B0503020204020204" pitchFamily="34" charset="-122"/>
              </a:rPr>
              <a:t>提供了便捷的工具。</a:t>
            </a:r>
            <a:endParaRPr lang="en-US" altLang="zh-CN" sz="2800" dirty="0">
              <a:latin typeface="Microsoft YaHei" panose="020B0503020204020204" pitchFamily="34" charset="-122"/>
              <a:ea typeface="Microsoft YaHei" panose="020B0503020204020204" pitchFamily="34" charset="-122"/>
            </a:endParaRPr>
          </a:p>
          <a:p>
            <a:pPr>
              <a:buFont typeface="Wingdings" pitchFamily="2" charset="2"/>
              <a:buChar char="p"/>
            </a:pPr>
            <a:r>
              <a:rPr lang="zh-CN" altLang="en-US" sz="2800" dirty="0">
                <a:latin typeface="Microsoft YaHei" panose="020B0503020204020204" pitchFamily="34" charset="-122"/>
                <a:ea typeface="Microsoft YaHei" panose="020B0503020204020204" pitchFamily="34" charset="-122"/>
              </a:rPr>
              <a:t>这些框架</a:t>
            </a:r>
            <a:r>
              <a:rPr lang="zh-CN" altLang="en-US" sz="2800" b="1" dirty="0">
                <a:latin typeface="Microsoft YaHei" panose="020B0503020204020204" pitchFamily="34" charset="-122"/>
                <a:ea typeface="Microsoft YaHei" panose="020B0503020204020204" pitchFamily="34" charset="-122"/>
              </a:rPr>
              <a:t>免费</a:t>
            </a:r>
            <a:r>
              <a:rPr lang="zh-CN" altLang="en-US" sz="2800" dirty="0">
                <a:latin typeface="Microsoft YaHei" panose="020B0503020204020204" pitchFamily="34" charset="-122"/>
                <a:ea typeface="Microsoft YaHei" panose="020B0503020204020204" pitchFamily="34" charset="-122"/>
              </a:rPr>
              <a:t>提供，鼓励合作，并通过</a:t>
            </a:r>
            <a:r>
              <a:rPr lang="zh-CN" altLang="en-US" sz="2800" b="1" dirty="0">
                <a:latin typeface="Microsoft YaHei" panose="020B0503020204020204" pitchFamily="34" charset="-122"/>
                <a:ea typeface="Microsoft YaHei" panose="020B0503020204020204" pitchFamily="34" charset="-122"/>
              </a:rPr>
              <a:t>社区贡献促进创新</a:t>
            </a:r>
            <a:r>
              <a:rPr lang="zh-CN" altLang="en-US" sz="2800" dirty="0">
                <a:latin typeface="Microsoft YaHei" panose="020B0503020204020204" pitchFamily="34" charset="-122"/>
                <a:ea typeface="Microsoft YaHei" panose="020B0503020204020204" pitchFamily="34" charset="-122"/>
              </a:rPr>
              <a:t>。</a:t>
            </a:r>
            <a:endParaRPr lang="en-CN" altLang="zh-CN" sz="2800" dirty="0">
              <a:latin typeface="Microsoft YaHei" panose="020B0503020204020204" pitchFamily="34" charset="-122"/>
              <a:ea typeface="Microsoft YaHei" panose="020B0503020204020204" pitchFamily="34" charset="-122"/>
            </a:endParaRPr>
          </a:p>
        </p:txBody>
      </p:sp>
      <p:pic>
        <p:nvPicPr>
          <p:cNvPr id="4" name="Picture 2" descr="The growth and development of AI in the past decade | nasscom | The  Official Community of Indian IT Industry">
            <a:extLst>
              <a:ext uri="{FF2B5EF4-FFF2-40B4-BE49-F238E27FC236}">
                <a16:creationId xmlns:a16="http://schemas.microsoft.com/office/drawing/2014/main" id="{640DC60C-7A84-C2AB-8A18-FEF91D7C2E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31872" y="1081284"/>
            <a:ext cx="6277436" cy="46159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70057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a:t>
            </a:r>
            <a:r>
              <a:rPr lang="zh-CN" altLang="en-US" dirty="0"/>
              <a:t> 各种人工智能开源框架</a:t>
            </a:r>
          </a:p>
        </p:txBody>
      </p:sp>
      <p:pic>
        <p:nvPicPr>
          <p:cNvPr id="3" name="Picture 2">
            <a:extLst>
              <a:ext uri="{FF2B5EF4-FFF2-40B4-BE49-F238E27FC236}">
                <a16:creationId xmlns:a16="http://schemas.microsoft.com/office/drawing/2014/main" id="{DFC95DE2-EBE1-2046-2062-4A03C649AE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6553" y="3350617"/>
            <a:ext cx="717847" cy="449216"/>
          </a:xfrm>
          <a:prstGeom prst="rect">
            <a:avLst/>
          </a:prstGeom>
          <a:noFill/>
          <a:extLst>
            <a:ext uri="{909E8E84-426E-40DD-AFC4-6F175D3DCCD1}">
              <a14:hiddenFill xmlns:a14="http://schemas.microsoft.com/office/drawing/2010/main">
                <a:solidFill>
                  <a:srgbClr val="FFFFFF"/>
                </a:solidFill>
              </a14:hiddenFill>
            </a:ext>
          </a:extLst>
        </p:spPr>
      </p:pic>
      <p:sp>
        <p:nvSpPr>
          <p:cNvPr id="4" name="内容占位符 2">
            <a:extLst>
              <a:ext uri="{FF2B5EF4-FFF2-40B4-BE49-F238E27FC236}">
                <a16:creationId xmlns:a16="http://schemas.microsoft.com/office/drawing/2014/main" id="{F96EBDBB-9570-DFEC-0293-DA90FDD7904E}"/>
              </a:ext>
            </a:extLst>
          </p:cNvPr>
          <p:cNvSpPr>
            <a:spLocks noGrp="1"/>
          </p:cNvSpPr>
          <p:nvPr>
            <p:ph idx="1"/>
          </p:nvPr>
        </p:nvSpPr>
        <p:spPr>
          <a:xfrm>
            <a:off x="350537" y="830718"/>
            <a:ext cx="12043104" cy="631337"/>
          </a:xfrm>
        </p:spPr>
        <p:txBody>
          <a:bodyPr/>
          <a:lstStyle/>
          <a:p>
            <a:pPr>
              <a:lnSpc>
                <a:spcPct val="100000"/>
              </a:lnSpc>
              <a:buFont typeface="Wingdings" pitchFamily="2" charset="2"/>
              <a:buChar char="p"/>
            </a:pPr>
            <a:r>
              <a:rPr kumimoji="1" lang="zh-CN" altLang="en-US" dirty="0">
                <a:latin typeface="Microsoft YaHei" panose="020B0503020204020204" pitchFamily="34" charset="-122"/>
                <a:ea typeface="Microsoft YaHei" panose="020B0503020204020204" pitchFamily="34" charset="-122"/>
              </a:rPr>
              <a:t>人工智能开源工具和框架，目的是帮助开发者快速搭建和部署</a:t>
            </a:r>
            <a:r>
              <a:rPr kumimoji="1" lang="en" altLang="zh-CN" dirty="0">
                <a:latin typeface="Microsoft YaHei" panose="020B0503020204020204" pitchFamily="34" charset="-122"/>
                <a:ea typeface="Microsoft YaHei" panose="020B0503020204020204" pitchFamily="34" charset="-122"/>
              </a:rPr>
              <a:t>AI</a:t>
            </a:r>
            <a:r>
              <a:rPr kumimoji="1" lang="zh-CN" altLang="en-US" dirty="0">
                <a:latin typeface="Microsoft YaHei" panose="020B0503020204020204" pitchFamily="34" charset="-122"/>
                <a:ea typeface="Microsoft YaHei" panose="020B0503020204020204" pitchFamily="34" charset="-122"/>
              </a:rPr>
              <a:t>模型</a:t>
            </a:r>
            <a:endParaRPr kumimoji="1" lang="en-US" altLang="zh-CN" dirty="0">
              <a:latin typeface="Microsoft YaHei" panose="020B0503020204020204" pitchFamily="34" charset="-122"/>
              <a:ea typeface="Microsoft YaHei" panose="020B0503020204020204" pitchFamily="34" charset="-122"/>
            </a:endParaRPr>
          </a:p>
          <a:p>
            <a:pPr lvl="1">
              <a:lnSpc>
                <a:spcPct val="100000"/>
              </a:lnSpc>
              <a:buFont typeface="Wingdings" pitchFamily="2" charset="2"/>
              <a:buChar char="p"/>
            </a:pPr>
            <a:endParaRPr kumimoji="1" lang="en" altLang="zh-CN" dirty="0">
              <a:latin typeface="Microsoft YaHei" panose="020B0503020204020204" pitchFamily="34" charset="-122"/>
              <a:ea typeface="Microsoft YaHei" panose="020B0503020204020204" pitchFamily="34" charset="-122"/>
            </a:endParaRPr>
          </a:p>
          <a:p>
            <a:pPr lvl="1">
              <a:lnSpc>
                <a:spcPct val="100000"/>
              </a:lnSpc>
              <a:buFont typeface="Wingdings" pitchFamily="2" charset="2"/>
              <a:buChar char="p"/>
            </a:pPr>
            <a:endParaRPr kumimoji="1" lang="zh-CN" altLang="en" dirty="0">
              <a:latin typeface="Microsoft YaHei" panose="020B0503020204020204" pitchFamily="34" charset="-122"/>
              <a:ea typeface="Microsoft YaHei" panose="020B0503020204020204" pitchFamily="34" charset="-122"/>
            </a:endParaRPr>
          </a:p>
        </p:txBody>
      </p:sp>
      <p:sp>
        <p:nvSpPr>
          <p:cNvPr id="5" name="文本框 5">
            <a:extLst>
              <a:ext uri="{FF2B5EF4-FFF2-40B4-BE49-F238E27FC236}">
                <a16:creationId xmlns:a16="http://schemas.microsoft.com/office/drawing/2014/main" id="{79B6B412-EFAA-0396-8D69-BFF652062ECA}"/>
              </a:ext>
            </a:extLst>
          </p:cNvPr>
          <p:cNvSpPr txBox="1"/>
          <p:nvPr/>
        </p:nvSpPr>
        <p:spPr>
          <a:xfrm>
            <a:off x="510880" y="2282232"/>
            <a:ext cx="2058402" cy="1474772"/>
          </a:xfrm>
          <a:prstGeom prst="rect">
            <a:avLst/>
          </a:prstGeom>
          <a:noFill/>
          <a:ln>
            <a:solidFill>
              <a:schemeClr val="accent4"/>
            </a:solidFill>
          </a:ln>
        </p:spPr>
        <p:txBody>
          <a:bodyPr wrap="square" rtlCol="0">
            <a:noAutofit/>
          </a:bodyPr>
          <a:lstStyle>
            <a:defPPr>
              <a:defRPr lang="zh-CN"/>
            </a:defPPr>
            <a:lvl1pPr>
              <a:lnSpc>
                <a:spcPct val="130000"/>
              </a:lnSpc>
              <a:defRPr kumimoji="1" b="1">
                <a:latin typeface="Microsoft YaHei Light" panose="020B0503020204020204" pitchFamily="34" charset="-122"/>
                <a:ea typeface="Microsoft YaHei Light" panose="020B0503020204020204" pitchFamily="34" charset="-122"/>
              </a:defRPr>
            </a:lvl1pPr>
          </a:lstStyle>
          <a:p>
            <a:pPr algn="just"/>
            <a:r>
              <a:rPr lang="zh-CN" altLang="en-US" b="0" dirty="0">
                <a:latin typeface="Lantinghei SC Extralight" panose="02000000000000000000" pitchFamily="2" charset="-122"/>
                <a:ea typeface="Lantinghei SC Extralight" panose="02000000000000000000" pitchFamily="2" charset="-122"/>
              </a:rPr>
              <a:t>用于机器学习的</a:t>
            </a:r>
            <a:r>
              <a:rPr lang="en" altLang="zh-CN" b="0" dirty="0">
                <a:latin typeface="Lantinghei SC Extralight" panose="02000000000000000000" pitchFamily="2" charset="-122"/>
                <a:ea typeface="Lantinghei SC Extralight" panose="02000000000000000000" pitchFamily="2" charset="-122"/>
              </a:rPr>
              <a:t>Python</a:t>
            </a:r>
            <a:r>
              <a:rPr lang="zh-CN" altLang="en-US" b="0" dirty="0">
                <a:latin typeface="Lantinghei SC Extralight" panose="02000000000000000000" pitchFamily="2" charset="-122"/>
                <a:ea typeface="Lantinghei SC Extralight" panose="02000000000000000000" pitchFamily="2" charset="-122"/>
              </a:rPr>
              <a:t>库，提供各种常用的</a:t>
            </a:r>
            <a:r>
              <a:rPr lang="zh-CN" altLang="en-US" dirty="0">
                <a:latin typeface="Lantinghei SC Extralight" panose="02000000000000000000" pitchFamily="2" charset="-122"/>
                <a:ea typeface="Lantinghei SC Extralight" panose="02000000000000000000" pitchFamily="2" charset="-122"/>
              </a:rPr>
              <a:t>机器学习算法和工具</a:t>
            </a:r>
            <a:r>
              <a:rPr lang="zh-CN" altLang="en-US" b="0" dirty="0">
                <a:latin typeface="Lantinghei SC Extralight" panose="02000000000000000000" pitchFamily="2" charset="-122"/>
                <a:ea typeface="Lantinghei SC Extralight" panose="02000000000000000000" pitchFamily="2" charset="-122"/>
              </a:rPr>
              <a:t>。</a:t>
            </a:r>
          </a:p>
        </p:txBody>
      </p:sp>
      <p:sp>
        <p:nvSpPr>
          <p:cNvPr id="7" name="文本框 6">
            <a:extLst>
              <a:ext uri="{FF2B5EF4-FFF2-40B4-BE49-F238E27FC236}">
                <a16:creationId xmlns:a16="http://schemas.microsoft.com/office/drawing/2014/main" id="{5B03C9AB-8534-CFF9-E89E-76DC6E02B38E}"/>
              </a:ext>
            </a:extLst>
          </p:cNvPr>
          <p:cNvSpPr txBox="1"/>
          <p:nvPr/>
        </p:nvSpPr>
        <p:spPr>
          <a:xfrm>
            <a:off x="510880" y="1912900"/>
            <a:ext cx="2058402" cy="369332"/>
          </a:xfrm>
          <a:prstGeom prst="rect">
            <a:avLst/>
          </a:prstGeom>
          <a:solidFill>
            <a:srgbClr val="0070C0"/>
          </a:solidFill>
          <a:ln>
            <a:solidFill>
              <a:schemeClr val="accent4"/>
            </a:solidFill>
          </a:ln>
        </p:spPr>
        <p:txBody>
          <a:bodyPr wrap="square" rtlCol="0">
            <a:spAutoFit/>
          </a:bodyPr>
          <a:lstStyle/>
          <a:p>
            <a:pPr marL="285750" indent="-285750">
              <a:buFont typeface="Wingdings" pitchFamily="2" charset="2"/>
              <a:buChar char="u"/>
            </a:pPr>
            <a:r>
              <a:rPr kumimoji="1" lang="en" altLang="zh-CN" dirty="0">
                <a:solidFill>
                  <a:schemeClr val="bg1"/>
                </a:solidFill>
                <a:latin typeface="Microsoft YaHei" panose="020B0503020204020204" pitchFamily="34" charset="-122"/>
                <a:ea typeface="Microsoft YaHei" panose="020B0503020204020204" pitchFamily="34" charset="-122"/>
              </a:rPr>
              <a:t>Scikit-learn</a:t>
            </a:r>
            <a:endParaRPr kumimoji="1" lang="en-US" altLang="zh-CN" dirty="0">
              <a:solidFill>
                <a:schemeClr val="bg1"/>
              </a:solidFill>
              <a:latin typeface="Microsoft YaHei" panose="020B0503020204020204" pitchFamily="34" charset="-122"/>
              <a:ea typeface="Microsoft YaHei" panose="020B0503020204020204" pitchFamily="34" charset="-122"/>
            </a:endParaRPr>
          </a:p>
        </p:txBody>
      </p:sp>
      <p:sp>
        <p:nvSpPr>
          <p:cNvPr id="8" name="文本框 7">
            <a:extLst>
              <a:ext uri="{FF2B5EF4-FFF2-40B4-BE49-F238E27FC236}">
                <a16:creationId xmlns:a16="http://schemas.microsoft.com/office/drawing/2014/main" id="{7CDC00A8-D5F3-2F4E-BD9A-AA928C22145B}"/>
              </a:ext>
            </a:extLst>
          </p:cNvPr>
          <p:cNvSpPr txBox="1"/>
          <p:nvPr/>
        </p:nvSpPr>
        <p:spPr>
          <a:xfrm>
            <a:off x="4974330" y="2294373"/>
            <a:ext cx="1925876" cy="1474772"/>
          </a:xfrm>
          <a:prstGeom prst="rect">
            <a:avLst/>
          </a:prstGeom>
          <a:noFill/>
          <a:ln>
            <a:solidFill>
              <a:schemeClr val="accent4"/>
            </a:solidFill>
          </a:ln>
        </p:spPr>
        <p:txBody>
          <a:bodyPr wrap="square" rtlCol="0">
            <a:noAutofit/>
          </a:bodyPr>
          <a:lstStyle>
            <a:defPPr>
              <a:defRPr lang="zh-CN"/>
            </a:defPPr>
            <a:lvl1pPr>
              <a:lnSpc>
                <a:spcPct val="130000"/>
              </a:lnSpc>
              <a:defRPr kumimoji="1" b="1">
                <a:latin typeface="Microsoft YaHei Light" panose="020B0503020204020204" pitchFamily="34" charset="-122"/>
                <a:ea typeface="Microsoft YaHei Light" panose="020B0503020204020204" pitchFamily="34" charset="-122"/>
              </a:defRPr>
            </a:lvl1pPr>
          </a:lstStyle>
          <a:p>
            <a:pPr algn="just"/>
            <a:r>
              <a:rPr lang="zh-CN" altLang="en-US" b="0" dirty="0">
                <a:latin typeface="Lantinghei SC Extralight" panose="02000000000000000000" pitchFamily="2" charset="-122"/>
                <a:ea typeface="Lantinghei SC Extralight" panose="02000000000000000000" pitchFamily="2" charset="-122"/>
              </a:rPr>
              <a:t>由</a:t>
            </a:r>
            <a:r>
              <a:rPr lang="en" altLang="zh-CN" b="0" dirty="0">
                <a:latin typeface="Lantinghei SC Extralight" panose="02000000000000000000" pitchFamily="2" charset="-122"/>
                <a:ea typeface="Lantinghei SC Extralight" panose="02000000000000000000" pitchFamily="2" charset="-122"/>
              </a:rPr>
              <a:t>Google</a:t>
            </a:r>
            <a:r>
              <a:rPr lang="zh-CN" altLang="en-US" b="0" dirty="0">
                <a:latin typeface="Lantinghei SC Extralight" panose="02000000000000000000" pitchFamily="2" charset="-122"/>
                <a:ea typeface="Lantinghei SC Extralight" panose="02000000000000000000" pitchFamily="2" charset="-122"/>
              </a:rPr>
              <a:t>开发的</a:t>
            </a:r>
            <a:r>
              <a:rPr lang="zh-CN" altLang="en-US" dirty="0">
                <a:latin typeface="Lantinghei SC Extralight" panose="02000000000000000000" pitchFamily="2" charset="-122"/>
                <a:ea typeface="Lantinghei SC Extralight" panose="02000000000000000000" pitchFamily="2" charset="-122"/>
              </a:rPr>
              <a:t>深度学习框架</a:t>
            </a:r>
            <a:r>
              <a:rPr lang="zh-CN" altLang="en-US" b="0" dirty="0">
                <a:latin typeface="Lantinghei SC Extralight" panose="02000000000000000000" pitchFamily="2" charset="-122"/>
                <a:ea typeface="Lantinghei SC Extralight" panose="02000000000000000000" pitchFamily="2" charset="-122"/>
              </a:rPr>
              <a:t>，支持灵活的模型构建和训练</a:t>
            </a:r>
          </a:p>
        </p:txBody>
      </p:sp>
      <p:sp>
        <p:nvSpPr>
          <p:cNvPr id="9" name="文本框 8">
            <a:extLst>
              <a:ext uri="{FF2B5EF4-FFF2-40B4-BE49-F238E27FC236}">
                <a16:creationId xmlns:a16="http://schemas.microsoft.com/office/drawing/2014/main" id="{8588D7B8-86E9-7489-9EAC-1B85F69211A2}"/>
              </a:ext>
            </a:extLst>
          </p:cNvPr>
          <p:cNvSpPr txBox="1"/>
          <p:nvPr/>
        </p:nvSpPr>
        <p:spPr>
          <a:xfrm>
            <a:off x="4974330" y="1925042"/>
            <a:ext cx="1925876" cy="369332"/>
          </a:xfrm>
          <a:prstGeom prst="rect">
            <a:avLst/>
          </a:prstGeom>
          <a:solidFill>
            <a:srgbClr val="0070C0"/>
          </a:solidFill>
          <a:ln>
            <a:solidFill>
              <a:schemeClr val="accent4"/>
            </a:solidFill>
          </a:ln>
        </p:spPr>
        <p:txBody>
          <a:bodyPr wrap="square" rtlCol="0">
            <a:spAutoFit/>
          </a:bodyPr>
          <a:lstStyle/>
          <a:p>
            <a:pPr marL="285750" indent="-285750">
              <a:buFont typeface="Wingdings" pitchFamily="2" charset="2"/>
              <a:buChar char="u"/>
            </a:pPr>
            <a:r>
              <a:rPr kumimoji="1" lang="en" altLang="zh-CN" dirty="0">
                <a:solidFill>
                  <a:schemeClr val="bg1"/>
                </a:solidFill>
                <a:latin typeface="Microsoft YaHei" panose="020B0503020204020204" pitchFamily="34" charset="-122"/>
                <a:ea typeface="Microsoft YaHei" panose="020B0503020204020204" pitchFamily="34" charset="-122"/>
              </a:rPr>
              <a:t>TensorFlow</a:t>
            </a:r>
            <a:endParaRPr kumimoji="1" lang="en-US" altLang="zh-CN" dirty="0">
              <a:solidFill>
                <a:schemeClr val="bg1"/>
              </a:solidFill>
              <a:latin typeface="Microsoft YaHei" panose="020B0503020204020204" pitchFamily="34" charset="-122"/>
              <a:ea typeface="Microsoft YaHei" panose="020B0503020204020204" pitchFamily="34" charset="-122"/>
            </a:endParaRPr>
          </a:p>
        </p:txBody>
      </p:sp>
      <p:sp>
        <p:nvSpPr>
          <p:cNvPr id="10" name="文本框 9">
            <a:extLst>
              <a:ext uri="{FF2B5EF4-FFF2-40B4-BE49-F238E27FC236}">
                <a16:creationId xmlns:a16="http://schemas.microsoft.com/office/drawing/2014/main" id="{A3C19AC9-DCA8-9239-C8B8-54CBD73F7C19}"/>
              </a:ext>
            </a:extLst>
          </p:cNvPr>
          <p:cNvSpPr txBox="1"/>
          <p:nvPr/>
        </p:nvSpPr>
        <p:spPr>
          <a:xfrm>
            <a:off x="2742605" y="2295941"/>
            <a:ext cx="2058402" cy="1490405"/>
          </a:xfrm>
          <a:prstGeom prst="rect">
            <a:avLst/>
          </a:prstGeom>
          <a:noFill/>
          <a:ln>
            <a:solidFill>
              <a:schemeClr val="accent4"/>
            </a:solidFill>
          </a:ln>
        </p:spPr>
        <p:txBody>
          <a:bodyPr wrap="square" rtlCol="0">
            <a:noAutofit/>
          </a:bodyPr>
          <a:lstStyle>
            <a:defPPr>
              <a:defRPr lang="zh-CN"/>
            </a:defPPr>
            <a:lvl1pPr>
              <a:lnSpc>
                <a:spcPct val="130000"/>
              </a:lnSpc>
              <a:defRPr kumimoji="1" b="1">
                <a:latin typeface="Microsoft YaHei Light" panose="020B0503020204020204" pitchFamily="34" charset="-122"/>
                <a:ea typeface="Microsoft YaHei Light" panose="020B0503020204020204" pitchFamily="34" charset="-122"/>
              </a:defRPr>
            </a:lvl1pPr>
          </a:lstStyle>
          <a:p>
            <a:pPr algn="just"/>
            <a:r>
              <a:rPr lang="zh-CN" altLang="en-US" b="0" dirty="0">
                <a:latin typeface="Lantinghei SC Extralight" panose="02000000000000000000" pitchFamily="2" charset="-122"/>
                <a:ea typeface="Lantinghei SC Extralight" panose="02000000000000000000" pitchFamily="2" charset="-122"/>
              </a:rPr>
              <a:t>由</a:t>
            </a:r>
            <a:r>
              <a:rPr lang="en" altLang="zh-CN" b="0" dirty="0">
                <a:latin typeface="Lantinghei SC Extralight" panose="02000000000000000000" pitchFamily="2" charset="-122"/>
                <a:ea typeface="Lantinghei SC Extralight" panose="02000000000000000000" pitchFamily="2" charset="-122"/>
              </a:rPr>
              <a:t>Facebook</a:t>
            </a:r>
            <a:r>
              <a:rPr lang="zh-CN" altLang="en-US" b="0" dirty="0">
                <a:latin typeface="Lantinghei SC Extralight" panose="02000000000000000000" pitchFamily="2" charset="-122"/>
                <a:ea typeface="Lantinghei SC Extralight" panose="02000000000000000000" pitchFamily="2" charset="-122"/>
              </a:rPr>
              <a:t>开发的</a:t>
            </a:r>
            <a:r>
              <a:rPr lang="zh-CN" altLang="en-US" dirty="0">
                <a:latin typeface="Lantinghei SC Extralight" panose="02000000000000000000" pitchFamily="2" charset="-122"/>
                <a:ea typeface="Lantinghei SC Extralight" panose="02000000000000000000" pitchFamily="2" charset="-122"/>
              </a:rPr>
              <a:t>深度学习框架</a:t>
            </a:r>
            <a:r>
              <a:rPr lang="zh-CN" altLang="en-US" b="0" dirty="0">
                <a:latin typeface="Lantinghei SC Extralight" panose="02000000000000000000" pitchFamily="2" charset="-122"/>
                <a:ea typeface="Lantinghei SC Extralight" panose="02000000000000000000" pitchFamily="2" charset="-122"/>
              </a:rPr>
              <a:t>，提供动态计算图和易用的</a:t>
            </a:r>
            <a:r>
              <a:rPr lang="en" altLang="zh-CN" b="0" dirty="0">
                <a:latin typeface="Lantinghei SC Extralight" panose="02000000000000000000" pitchFamily="2" charset="-122"/>
                <a:ea typeface="Lantinghei SC Extralight" panose="02000000000000000000" pitchFamily="2" charset="-122"/>
              </a:rPr>
              <a:t>API</a:t>
            </a:r>
            <a:endParaRPr lang="zh-CN" altLang="en-US" b="0" dirty="0">
              <a:latin typeface="Lantinghei SC Extralight" panose="02000000000000000000" pitchFamily="2" charset="-122"/>
              <a:ea typeface="Lantinghei SC Extralight" panose="02000000000000000000" pitchFamily="2" charset="-122"/>
            </a:endParaRPr>
          </a:p>
        </p:txBody>
      </p:sp>
      <p:sp>
        <p:nvSpPr>
          <p:cNvPr id="11" name="文本框 10">
            <a:extLst>
              <a:ext uri="{FF2B5EF4-FFF2-40B4-BE49-F238E27FC236}">
                <a16:creationId xmlns:a16="http://schemas.microsoft.com/office/drawing/2014/main" id="{EC9A702F-A096-85D3-82EA-3A01335BC9D2}"/>
              </a:ext>
            </a:extLst>
          </p:cNvPr>
          <p:cNvSpPr txBox="1"/>
          <p:nvPr/>
        </p:nvSpPr>
        <p:spPr>
          <a:xfrm>
            <a:off x="2742605" y="1926609"/>
            <a:ext cx="2058402" cy="369332"/>
          </a:xfrm>
          <a:prstGeom prst="rect">
            <a:avLst/>
          </a:prstGeom>
          <a:solidFill>
            <a:srgbClr val="0070C0"/>
          </a:solidFill>
          <a:ln>
            <a:solidFill>
              <a:schemeClr val="accent4"/>
            </a:solidFill>
          </a:ln>
        </p:spPr>
        <p:txBody>
          <a:bodyPr wrap="square" rtlCol="0">
            <a:spAutoFit/>
          </a:bodyPr>
          <a:lstStyle/>
          <a:p>
            <a:pPr marL="285750" indent="-285750">
              <a:buFont typeface="Wingdings" pitchFamily="2" charset="2"/>
              <a:buChar char="u"/>
            </a:pPr>
            <a:r>
              <a:rPr kumimoji="1" lang="en" altLang="zh-CN" dirty="0">
                <a:solidFill>
                  <a:schemeClr val="bg1"/>
                </a:solidFill>
                <a:latin typeface="Microsoft YaHei" panose="020B0503020204020204" pitchFamily="34" charset="-122"/>
                <a:ea typeface="Microsoft YaHei" panose="020B0503020204020204" pitchFamily="34" charset="-122"/>
              </a:rPr>
              <a:t>PyTorch</a:t>
            </a:r>
            <a:endParaRPr kumimoji="1" lang="en-US" altLang="zh-CN" dirty="0">
              <a:solidFill>
                <a:schemeClr val="bg1"/>
              </a:solidFill>
              <a:latin typeface="Microsoft YaHei" panose="020B0503020204020204" pitchFamily="34" charset="-122"/>
              <a:ea typeface="Microsoft YaHei" panose="020B0503020204020204" pitchFamily="34" charset="-122"/>
            </a:endParaRPr>
          </a:p>
        </p:txBody>
      </p:sp>
      <p:sp>
        <p:nvSpPr>
          <p:cNvPr id="12" name="文本框 11">
            <a:extLst>
              <a:ext uri="{FF2B5EF4-FFF2-40B4-BE49-F238E27FC236}">
                <a16:creationId xmlns:a16="http://schemas.microsoft.com/office/drawing/2014/main" id="{76433ADE-DF7F-0979-6544-A90896FDC0BC}"/>
              </a:ext>
            </a:extLst>
          </p:cNvPr>
          <p:cNvSpPr txBox="1"/>
          <p:nvPr/>
        </p:nvSpPr>
        <p:spPr>
          <a:xfrm>
            <a:off x="9172556" y="4427262"/>
            <a:ext cx="2634091" cy="1474772"/>
          </a:xfrm>
          <a:prstGeom prst="rect">
            <a:avLst/>
          </a:prstGeom>
          <a:noFill/>
          <a:ln>
            <a:solidFill>
              <a:schemeClr val="accent4"/>
            </a:solidFill>
          </a:ln>
        </p:spPr>
        <p:txBody>
          <a:bodyPr wrap="square" rtlCol="0">
            <a:noAutofit/>
          </a:bodyPr>
          <a:lstStyle/>
          <a:p>
            <a:pPr algn="just">
              <a:lnSpc>
                <a:spcPct val="130000"/>
              </a:lnSpc>
            </a:pPr>
            <a:r>
              <a:rPr kumimoji="1" lang="zh-CN" altLang="en-US" b="1" dirty="0">
                <a:latin typeface="Lantinghei SC Extralight" panose="02000000000000000000" pitchFamily="2" charset="-122"/>
                <a:ea typeface="Lantinghei SC Extralight" panose="02000000000000000000" pitchFamily="2" charset="-122"/>
              </a:rPr>
              <a:t>高层神经网络</a:t>
            </a:r>
            <a:r>
              <a:rPr kumimoji="1" lang="en" altLang="zh-CN" b="1" dirty="0">
                <a:latin typeface="LANTINGHEI SC EXTRALIGHT" panose="02000000000000000000" pitchFamily="2" charset="-122"/>
                <a:ea typeface="LANTINGHEI SC EXTRALIGHT" panose="02000000000000000000" pitchFamily="2" charset="-122"/>
              </a:rPr>
              <a:t>API</a:t>
            </a:r>
            <a:r>
              <a:rPr kumimoji="1" lang="zh-CN" altLang="en" dirty="0">
                <a:latin typeface="Lantinghei SC Extralight" panose="02000000000000000000" pitchFamily="2" charset="-122"/>
                <a:ea typeface="Lantinghei SC Extralight" panose="02000000000000000000" pitchFamily="2" charset="-122"/>
              </a:rPr>
              <a:t>，</a:t>
            </a:r>
            <a:r>
              <a:rPr kumimoji="1" lang="zh-CN" altLang="en-US" dirty="0">
                <a:latin typeface="Lantinghei SC Extralight" panose="02000000000000000000" pitchFamily="2" charset="-122"/>
                <a:ea typeface="Lantinghei SC Extralight" panose="02000000000000000000" pitchFamily="2" charset="-122"/>
              </a:rPr>
              <a:t>支持多种深度学习框架，</a:t>
            </a:r>
          </a:p>
        </p:txBody>
      </p:sp>
      <p:sp>
        <p:nvSpPr>
          <p:cNvPr id="13" name="文本框 12">
            <a:extLst>
              <a:ext uri="{FF2B5EF4-FFF2-40B4-BE49-F238E27FC236}">
                <a16:creationId xmlns:a16="http://schemas.microsoft.com/office/drawing/2014/main" id="{EC6982AB-A6E8-FDE9-908F-202CFAD47DA2}"/>
              </a:ext>
            </a:extLst>
          </p:cNvPr>
          <p:cNvSpPr txBox="1"/>
          <p:nvPr/>
        </p:nvSpPr>
        <p:spPr>
          <a:xfrm>
            <a:off x="9172557" y="4057930"/>
            <a:ext cx="2634092" cy="369332"/>
          </a:xfrm>
          <a:prstGeom prst="rect">
            <a:avLst/>
          </a:prstGeom>
          <a:solidFill>
            <a:srgbClr val="0070C0"/>
          </a:solidFill>
          <a:ln>
            <a:solidFill>
              <a:schemeClr val="accent4"/>
            </a:solidFill>
          </a:ln>
        </p:spPr>
        <p:txBody>
          <a:bodyPr wrap="square" rtlCol="0">
            <a:spAutoFit/>
          </a:bodyPr>
          <a:lstStyle/>
          <a:p>
            <a:pPr marL="285750" indent="-285750">
              <a:buFont typeface="Wingdings" pitchFamily="2" charset="2"/>
              <a:buChar char="u"/>
            </a:pPr>
            <a:r>
              <a:rPr kumimoji="1" lang="en" altLang="zh-CN" dirty="0" err="1">
                <a:solidFill>
                  <a:schemeClr val="bg1"/>
                </a:solidFill>
                <a:latin typeface="Microsoft YaHei" panose="020B0503020204020204" pitchFamily="34" charset="-122"/>
                <a:ea typeface="Microsoft YaHei" panose="020B0503020204020204" pitchFamily="34" charset="-122"/>
              </a:rPr>
              <a:t>Keras</a:t>
            </a:r>
            <a:endParaRPr kumimoji="1" lang="en-US" altLang="zh-CN" dirty="0">
              <a:solidFill>
                <a:schemeClr val="bg1"/>
              </a:solidFill>
              <a:latin typeface="Microsoft YaHei" panose="020B0503020204020204" pitchFamily="34" charset="-122"/>
              <a:ea typeface="Microsoft YaHei" panose="020B0503020204020204" pitchFamily="34" charset="-122"/>
            </a:endParaRPr>
          </a:p>
        </p:txBody>
      </p:sp>
      <p:sp>
        <p:nvSpPr>
          <p:cNvPr id="15" name="文本框 16">
            <a:extLst>
              <a:ext uri="{FF2B5EF4-FFF2-40B4-BE49-F238E27FC236}">
                <a16:creationId xmlns:a16="http://schemas.microsoft.com/office/drawing/2014/main" id="{C4DCB1DC-C380-6DD1-9077-7683398F0E3B}"/>
              </a:ext>
            </a:extLst>
          </p:cNvPr>
          <p:cNvSpPr txBox="1"/>
          <p:nvPr/>
        </p:nvSpPr>
        <p:spPr>
          <a:xfrm>
            <a:off x="9172554" y="5179126"/>
            <a:ext cx="2630749" cy="784958"/>
          </a:xfrm>
          <a:prstGeom prst="rect">
            <a:avLst/>
          </a:prstGeom>
          <a:noFill/>
          <a:ln>
            <a:noFill/>
          </a:ln>
        </p:spPr>
        <p:txBody>
          <a:bodyPr wrap="square">
            <a:spAutoFit/>
          </a:bodyPr>
          <a:lstStyle/>
          <a:p>
            <a:pPr algn="just">
              <a:lnSpc>
                <a:spcPct val="130000"/>
              </a:lnSpc>
            </a:pPr>
            <a:r>
              <a:rPr kumimoji="1" lang="zh-CN" altLang="en-US" dirty="0">
                <a:latin typeface="Lantinghei SC Extralight" panose="02000000000000000000" pitchFamily="2" charset="-122"/>
                <a:ea typeface="Lantinghei SC Extralight" panose="02000000000000000000" pitchFamily="2" charset="-122"/>
              </a:rPr>
              <a:t>如</a:t>
            </a:r>
            <a:r>
              <a:rPr kumimoji="1" lang="en" altLang="zh-CN" dirty="0">
                <a:latin typeface="Lantinghei SC Extralight" panose="02000000000000000000" pitchFamily="2" charset="-122"/>
                <a:ea typeface="Lantinghei SC Extralight" panose="02000000000000000000" pitchFamily="2" charset="-122"/>
              </a:rPr>
              <a:t>TensorFlow</a:t>
            </a:r>
            <a:r>
              <a:rPr kumimoji="1" lang="zh-CN" altLang="en-US" dirty="0">
                <a:latin typeface="Lantinghei SC Extralight" panose="02000000000000000000" pitchFamily="2" charset="-122"/>
                <a:ea typeface="Lantinghei SC Extralight" panose="02000000000000000000" pitchFamily="2" charset="-122"/>
              </a:rPr>
              <a:t>和</a:t>
            </a:r>
            <a:r>
              <a:rPr kumimoji="1" lang="en" altLang="zh-CN" dirty="0">
                <a:latin typeface="Lantinghei SC Extralight" panose="02000000000000000000" pitchFamily="2" charset="-122"/>
                <a:ea typeface="Lantinghei SC Extralight" panose="02000000000000000000" pitchFamily="2" charset="-122"/>
              </a:rPr>
              <a:t>Theano</a:t>
            </a:r>
            <a:endParaRPr kumimoji="1" lang="zh-CN" altLang="en-US" dirty="0">
              <a:latin typeface="Lantinghei SC Extralight" panose="02000000000000000000" pitchFamily="2" charset="-122"/>
              <a:ea typeface="Lantinghei SC Extralight" panose="02000000000000000000" pitchFamily="2" charset="-122"/>
            </a:endParaRPr>
          </a:p>
        </p:txBody>
      </p:sp>
      <p:sp>
        <p:nvSpPr>
          <p:cNvPr id="16" name="文本框 17">
            <a:extLst>
              <a:ext uri="{FF2B5EF4-FFF2-40B4-BE49-F238E27FC236}">
                <a16:creationId xmlns:a16="http://schemas.microsoft.com/office/drawing/2014/main" id="{36274F95-E931-F7A5-389C-162A8A89211A}"/>
              </a:ext>
            </a:extLst>
          </p:cNvPr>
          <p:cNvSpPr txBox="1"/>
          <p:nvPr/>
        </p:nvSpPr>
        <p:spPr>
          <a:xfrm>
            <a:off x="510880" y="4413962"/>
            <a:ext cx="2538736" cy="1474772"/>
          </a:xfrm>
          <a:prstGeom prst="rect">
            <a:avLst/>
          </a:prstGeom>
          <a:noFill/>
          <a:ln>
            <a:solidFill>
              <a:schemeClr val="accent4"/>
            </a:solidFill>
          </a:ln>
        </p:spPr>
        <p:txBody>
          <a:bodyPr wrap="square" rtlCol="0">
            <a:noAutofit/>
          </a:bodyPr>
          <a:lstStyle>
            <a:defPPr>
              <a:defRPr lang="zh-CN"/>
            </a:defPPr>
            <a:lvl1pPr>
              <a:lnSpc>
                <a:spcPct val="130000"/>
              </a:lnSpc>
              <a:defRPr kumimoji="1" b="1">
                <a:latin typeface="Microsoft YaHei Light" panose="020B0503020204020204" pitchFamily="34" charset="-122"/>
                <a:ea typeface="Microsoft YaHei Light" panose="020B0503020204020204" pitchFamily="34" charset="-122"/>
              </a:defRPr>
            </a:lvl1pPr>
          </a:lstStyle>
          <a:p>
            <a:pPr algn="just"/>
            <a:r>
              <a:rPr lang="zh-CN" altLang="en-US" b="0" dirty="0">
                <a:latin typeface="Lantinghei SC Extralight" panose="02000000000000000000" pitchFamily="2" charset="-122"/>
                <a:ea typeface="Lantinghei SC Extralight" panose="02000000000000000000" pitchFamily="2" charset="-122"/>
              </a:rPr>
              <a:t>用于</a:t>
            </a:r>
            <a:r>
              <a:rPr lang="zh-CN" altLang="en-US" dirty="0">
                <a:latin typeface="Lantinghei SC Extralight" panose="02000000000000000000" pitchFamily="2" charset="-122"/>
                <a:ea typeface="Lantinghei SC Extralight" panose="02000000000000000000" pitchFamily="2" charset="-122"/>
              </a:rPr>
              <a:t>计算机视觉的开源库</a:t>
            </a:r>
            <a:r>
              <a:rPr lang="zh-CN" altLang="en-US" b="0" dirty="0">
                <a:latin typeface="Lantinghei SC Extralight" panose="02000000000000000000" pitchFamily="2" charset="-122"/>
                <a:ea typeface="Lantinghei SC Extralight" panose="02000000000000000000" pitchFamily="2" charset="-122"/>
              </a:rPr>
              <a:t>，提供各种图像处理和计算机视觉算法</a:t>
            </a:r>
          </a:p>
        </p:txBody>
      </p:sp>
      <p:sp>
        <p:nvSpPr>
          <p:cNvPr id="17" name="文本框 18">
            <a:extLst>
              <a:ext uri="{FF2B5EF4-FFF2-40B4-BE49-F238E27FC236}">
                <a16:creationId xmlns:a16="http://schemas.microsoft.com/office/drawing/2014/main" id="{F512C246-B316-FF3B-E593-8761C2973F6C}"/>
              </a:ext>
            </a:extLst>
          </p:cNvPr>
          <p:cNvSpPr txBox="1"/>
          <p:nvPr/>
        </p:nvSpPr>
        <p:spPr>
          <a:xfrm>
            <a:off x="510880" y="4044630"/>
            <a:ext cx="2538736" cy="369332"/>
          </a:xfrm>
          <a:prstGeom prst="rect">
            <a:avLst/>
          </a:prstGeom>
          <a:solidFill>
            <a:srgbClr val="0070C0"/>
          </a:solidFill>
          <a:ln>
            <a:solidFill>
              <a:schemeClr val="accent4"/>
            </a:solidFill>
          </a:ln>
        </p:spPr>
        <p:txBody>
          <a:bodyPr wrap="square" rtlCol="0">
            <a:spAutoFit/>
          </a:bodyPr>
          <a:lstStyle/>
          <a:p>
            <a:pPr marL="285750" indent="-285750">
              <a:buFont typeface="Wingdings" pitchFamily="2" charset="2"/>
              <a:buChar char="u"/>
            </a:pPr>
            <a:r>
              <a:rPr kumimoji="1" lang="en" altLang="zh-CN" dirty="0">
                <a:solidFill>
                  <a:schemeClr val="bg1"/>
                </a:solidFill>
                <a:latin typeface="Microsoft YaHei" panose="020B0503020204020204" pitchFamily="34" charset="-122"/>
                <a:ea typeface="Microsoft YaHei" panose="020B0503020204020204" pitchFamily="34" charset="-122"/>
              </a:rPr>
              <a:t>OpenCV</a:t>
            </a:r>
            <a:endParaRPr kumimoji="1" lang="en-US" altLang="zh-CN" dirty="0">
              <a:solidFill>
                <a:schemeClr val="bg1"/>
              </a:solidFill>
              <a:latin typeface="Microsoft YaHei" panose="020B0503020204020204" pitchFamily="34" charset="-122"/>
              <a:ea typeface="Microsoft YaHei" panose="020B0503020204020204" pitchFamily="34" charset="-122"/>
            </a:endParaRPr>
          </a:p>
        </p:txBody>
      </p:sp>
      <p:sp>
        <p:nvSpPr>
          <p:cNvPr id="18" name="文本框 19">
            <a:extLst>
              <a:ext uri="{FF2B5EF4-FFF2-40B4-BE49-F238E27FC236}">
                <a16:creationId xmlns:a16="http://schemas.microsoft.com/office/drawing/2014/main" id="{BA757FC6-0578-E565-6B9E-10051E7A262E}"/>
              </a:ext>
            </a:extLst>
          </p:cNvPr>
          <p:cNvSpPr txBox="1"/>
          <p:nvPr/>
        </p:nvSpPr>
        <p:spPr>
          <a:xfrm>
            <a:off x="3376099" y="4427262"/>
            <a:ext cx="2634092" cy="1474772"/>
          </a:xfrm>
          <a:prstGeom prst="rect">
            <a:avLst/>
          </a:prstGeom>
          <a:noFill/>
          <a:ln>
            <a:solidFill>
              <a:schemeClr val="accent4"/>
            </a:solidFill>
          </a:ln>
        </p:spPr>
        <p:txBody>
          <a:bodyPr wrap="square" rtlCol="0">
            <a:noAutofit/>
          </a:bodyPr>
          <a:lstStyle>
            <a:defPPr>
              <a:defRPr lang="zh-CN"/>
            </a:defPPr>
            <a:lvl1pPr>
              <a:lnSpc>
                <a:spcPct val="130000"/>
              </a:lnSpc>
              <a:defRPr kumimoji="1" b="1">
                <a:latin typeface="Microsoft YaHei Light" panose="020B0503020204020204" pitchFamily="34" charset="-122"/>
                <a:ea typeface="Microsoft YaHei Light" panose="020B0503020204020204" pitchFamily="34" charset="-122"/>
              </a:defRPr>
            </a:lvl1pPr>
          </a:lstStyle>
          <a:p>
            <a:pPr algn="just"/>
            <a:r>
              <a:rPr kumimoji="1" lang="en" altLang="zh-CN" b="0" dirty="0">
                <a:latin typeface="Lantinghei SC Extralight" panose="02000000000000000000" pitchFamily="2" charset="-122"/>
                <a:ea typeface="Lantinghei SC Extralight" panose="02000000000000000000" pitchFamily="2" charset="-122"/>
              </a:rPr>
              <a:t>Apache</a:t>
            </a:r>
            <a:r>
              <a:rPr kumimoji="1" lang="zh-CN" altLang="en" b="0" dirty="0">
                <a:latin typeface="Lantinghei SC Extralight" panose="02000000000000000000" pitchFamily="2" charset="-122"/>
                <a:ea typeface="Lantinghei SC Extralight" panose="02000000000000000000" pitchFamily="2" charset="-122"/>
              </a:rPr>
              <a:t>的</a:t>
            </a:r>
            <a:r>
              <a:rPr lang="zh-CN" altLang="en-US" b="0" dirty="0">
                <a:latin typeface="Lantinghei SC Extralight" panose="02000000000000000000" pitchFamily="2" charset="-122"/>
                <a:ea typeface="Lantinghei SC Extralight" panose="02000000000000000000" pitchFamily="2" charset="-122"/>
              </a:rPr>
              <a:t>支持</a:t>
            </a:r>
            <a:r>
              <a:rPr lang="zh-CN" altLang="en-US" dirty="0">
                <a:latin typeface="Lantinghei SC Extralight" panose="02000000000000000000" pitchFamily="2" charset="-122"/>
                <a:ea typeface="Lantinghei SC Extralight" panose="02000000000000000000" pitchFamily="2" charset="-122"/>
              </a:rPr>
              <a:t>分布式训练的深度学习框架</a:t>
            </a:r>
            <a:r>
              <a:rPr lang="zh-CN" altLang="en-US" b="0" dirty="0">
                <a:latin typeface="Lantinghei SC Extralight" panose="02000000000000000000" pitchFamily="2" charset="-122"/>
                <a:ea typeface="Lantinghei SC Extralight" panose="02000000000000000000" pitchFamily="2" charset="-122"/>
              </a:rPr>
              <a:t>，提供灵活的</a:t>
            </a:r>
            <a:r>
              <a:rPr lang="en" altLang="zh-CN" b="0" dirty="0">
                <a:latin typeface="Lantinghei SC Extralight" panose="02000000000000000000" pitchFamily="2" charset="-122"/>
                <a:ea typeface="Lantinghei SC Extralight" panose="02000000000000000000" pitchFamily="2" charset="-122"/>
              </a:rPr>
              <a:t>API</a:t>
            </a:r>
            <a:r>
              <a:rPr lang="zh-CN" altLang="en-US" b="0" dirty="0">
                <a:latin typeface="Lantinghei SC Extralight" panose="02000000000000000000" pitchFamily="2" charset="-122"/>
                <a:ea typeface="Lantinghei SC Extralight" panose="02000000000000000000" pitchFamily="2" charset="-122"/>
              </a:rPr>
              <a:t>和高性能计算</a:t>
            </a:r>
          </a:p>
        </p:txBody>
      </p:sp>
      <p:sp>
        <p:nvSpPr>
          <p:cNvPr id="19" name="文本框 20">
            <a:extLst>
              <a:ext uri="{FF2B5EF4-FFF2-40B4-BE49-F238E27FC236}">
                <a16:creationId xmlns:a16="http://schemas.microsoft.com/office/drawing/2014/main" id="{D21513FC-3AC1-0681-798C-D989ABB8020F}"/>
              </a:ext>
            </a:extLst>
          </p:cNvPr>
          <p:cNvSpPr txBox="1"/>
          <p:nvPr/>
        </p:nvSpPr>
        <p:spPr>
          <a:xfrm>
            <a:off x="3376099" y="4057931"/>
            <a:ext cx="2634092" cy="369332"/>
          </a:xfrm>
          <a:prstGeom prst="rect">
            <a:avLst/>
          </a:prstGeom>
          <a:solidFill>
            <a:srgbClr val="0070C0"/>
          </a:solidFill>
          <a:ln>
            <a:solidFill>
              <a:schemeClr val="accent4"/>
            </a:solidFill>
          </a:ln>
        </p:spPr>
        <p:txBody>
          <a:bodyPr wrap="square" rtlCol="0">
            <a:spAutoFit/>
          </a:bodyPr>
          <a:lstStyle/>
          <a:p>
            <a:pPr marL="285750" indent="-285750">
              <a:buFont typeface="Wingdings" pitchFamily="2" charset="2"/>
              <a:buChar char="u"/>
            </a:pPr>
            <a:r>
              <a:rPr kumimoji="1" lang="en" altLang="zh-CN" dirty="0">
                <a:solidFill>
                  <a:schemeClr val="bg1"/>
                </a:solidFill>
                <a:latin typeface="Microsoft YaHei" panose="020B0503020204020204" pitchFamily="34" charset="-122"/>
                <a:ea typeface="Microsoft YaHei" panose="020B0503020204020204" pitchFamily="34" charset="-122"/>
              </a:rPr>
              <a:t>MXNet</a:t>
            </a:r>
            <a:endParaRPr kumimoji="1" lang="en-US" altLang="zh-CN" dirty="0">
              <a:solidFill>
                <a:schemeClr val="bg1"/>
              </a:solidFill>
              <a:latin typeface="Microsoft YaHei" panose="020B0503020204020204" pitchFamily="34" charset="-122"/>
              <a:ea typeface="Microsoft YaHei" panose="020B0503020204020204" pitchFamily="34" charset="-122"/>
            </a:endParaRPr>
          </a:p>
        </p:txBody>
      </p:sp>
      <p:sp>
        <p:nvSpPr>
          <p:cNvPr id="20" name="文本框 21">
            <a:extLst>
              <a:ext uri="{FF2B5EF4-FFF2-40B4-BE49-F238E27FC236}">
                <a16:creationId xmlns:a16="http://schemas.microsoft.com/office/drawing/2014/main" id="{16FE69C0-34B5-F2F1-E2AB-48AEC6045940}"/>
              </a:ext>
            </a:extLst>
          </p:cNvPr>
          <p:cNvSpPr txBox="1"/>
          <p:nvPr/>
        </p:nvSpPr>
        <p:spPr>
          <a:xfrm>
            <a:off x="9214859" y="2290868"/>
            <a:ext cx="2598687" cy="1458693"/>
          </a:xfrm>
          <a:prstGeom prst="rect">
            <a:avLst/>
          </a:prstGeom>
          <a:noFill/>
          <a:ln>
            <a:solidFill>
              <a:schemeClr val="accent4"/>
            </a:solidFill>
          </a:ln>
        </p:spPr>
        <p:txBody>
          <a:bodyPr wrap="square" rtlCol="0">
            <a:noAutofit/>
          </a:bodyPr>
          <a:lstStyle>
            <a:defPPr>
              <a:defRPr lang="zh-CN"/>
            </a:defPPr>
            <a:lvl1pPr>
              <a:lnSpc>
                <a:spcPct val="130000"/>
              </a:lnSpc>
              <a:defRPr kumimoji="1" b="1">
                <a:latin typeface="Microsoft YaHei Light" panose="020B0503020204020204" pitchFamily="34" charset="-122"/>
                <a:ea typeface="Microsoft YaHei Light" panose="020B0503020204020204" pitchFamily="34" charset="-122"/>
              </a:defRPr>
            </a:lvl1pPr>
          </a:lstStyle>
          <a:p>
            <a:pPr algn="just"/>
            <a:r>
              <a:rPr lang="zh-CN" altLang="en-US" b="0" dirty="0">
                <a:latin typeface="Lantinghei SC Extralight" panose="02000000000000000000" pitchFamily="2" charset="-122"/>
                <a:ea typeface="Lantinghei SC Extralight" panose="02000000000000000000" pitchFamily="2" charset="-122"/>
              </a:rPr>
              <a:t>由</a:t>
            </a:r>
            <a:r>
              <a:rPr lang="en" altLang="zh-CN" b="0" dirty="0">
                <a:latin typeface="Lantinghei SC Extralight" panose="02000000000000000000" pitchFamily="2" charset="-122"/>
                <a:ea typeface="Lantinghei SC Extralight" panose="02000000000000000000" pitchFamily="2" charset="-122"/>
              </a:rPr>
              <a:t>Berkeley Vision and Learning Center</a:t>
            </a:r>
            <a:r>
              <a:rPr lang="zh-CN" altLang="en-US" b="0" dirty="0">
                <a:latin typeface="Lantinghei SC Extralight" panose="02000000000000000000" pitchFamily="2" charset="-122"/>
                <a:ea typeface="Lantinghei SC Extralight" panose="02000000000000000000" pitchFamily="2" charset="-122"/>
              </a:rPr>
              <a:t>开发的</a:t>
            </a:r>
            <a:r>
              <a:rPr lang="zh-CN" altLang="en-US" dirty="0">
                <a:latin typeface="Lantinghei SC Extralight" panose="02000000000000000000" pitchFamily="2" charset="-122"/>
                <a:ea typeface="Lantinghei SC Extralight" panose="02000000000000000000" pitchFamily="2" charset="-122"/>
              </a:rPr>
              <a:t>深度学习框架</a:t>
            </a:r>
            <a:r>
              <a:rPr lang="zh-CN" altLang="en-US" b="0" dirty="0">
                <a:latin typeface="Lantinghei SC Extralight" panose="02000000000000000000" pitchFamily="2" charset="-122"/>
                <a:ea typeface="Lantinghei SC Extralight" panose="02000000000000000000" pitchFamily="2" charset="-122"/>
              </a:rPr>
              <a:t>，适用于计算机视觉任务</a:t>
            </a:r>
          </a:p>
        </p:txBody>
      </p:sp>
      <p:sp>
        <p:nvSpPr>
          <p:cNvPr id="21" name="文本框 22">
            <a:extLst>
              <a:ext uri="{FF2B5EF4-FFF2-40B4-BE49-F238E27FC236}">
                <a16:creationId xmlns:a16="http://schemas.microsoft.com/office/drawing/2014/main" id="{29B6D0E2-7662-346C-3DDB-6162B3D49994}"/>
              </a:ext>
            </a:extLst>
          </p:cNvPr>
          <p:cNvSpPr txBox="1"/>
          <p:nvPr/>
        </p:nvSpPr>
        <p:spPr>
          <a:xfrm>
            <a:off x="9214859" y="1921536"/>
            <a:ext cx="2598687" cy="369332"/>
          </a:xfrm>
          <a:prstGeom prst="rect">
            <a:avLst/>
          </a:prstGeom>
          <a:solidFill>
            <a:srgbClr val="0070C0"/>
          </a:solidFill>
          <a:ln>
            <a:solidFill>
              <a:schemeClr val="accent4"/>
            </a:solidFill>
          </a:ln>
        </p:spPr>
        <p:txBody>
          <a:bodyPr wrap="square" rtlCol="0">
            <a:spAutoFit/>
          </a:bodyPr>
          <a:lstStyle/>
          <a:p>
            <a:pPr marL="285750" indent="-285750">
              <a:buFont typeface="Wingdings" pitchFamily="2" charset="2"/>
              <a:buChar char="u"/>
            </a:pPr>
            <a:r>
              <a:rPr kumimoji="1" lang="en" altLang="zh-CN" dirty="0">
                <a:solidFill>
                  <a:schemeClr val="bg1"/>
                </a:solidFill>
                <a:latin typeface="Microsoft YaHei" panose="020B0503020204020204" pitchFamily="34" charset="-122"/>
                <a:ea typeface="Microsoft YaHei" panose="020B0503020204020204" pitchFamily="34" charset="-122"/>
              </a:rPr>
              <a:t>Caffe</a:t>
            </a:r>
            <a:endParaRPr kumimoji="1" lang="en-US" altLang="zh-CN" dirty="0">
              <a:solidFill>
                <a:schemeClr val="bg1"/>
              </a:solidFill>
              <a:latin typeface="Microsoft YaHei" panose="020B0503020204020204" pitchFamily="34" charset="-122"/>
              <a:ea typeface="Microsoft YaHei" panose="020B0503020204020204" pitchFamily="34" charset="-122"/>
            </a:endParaRPr>
          </a:p>
        </p:txBody>
      </p:sp>
      <p:sp>
        <p:nvSpPr>
          <p:cNvPr id="22" name="文本框 23">
            <a:extLst>
              <a:ext uri="{FF2B5EF4-FFF2-40B4-BE49-F238E27FC236}">
                <a16:creationId xmlns:a16="http://schemas.microsoft.com/office/drawing/2014/main" id="{8415398D-D982-2D86-0D05-C26E9252AEDA}"/>
              </a:ext>
            </a:extLst>
          </p:cNvPr>
          <p:cNvSpPr txBox="1"/>
          <p:nvPr/>
        </p:nvSpPr>
        <p:spPr>
          <a:xfrm>
            <a:off x="6310284" y="4427262"/>
            <a:ext cx="2510524" cy="1474772"/>
          </a:xfrm>
          <a:prstGeom prst="rect">
            <a:avLst/>
          </a:prstGeom>
          <a:noFill/>
          <a:ln>
            <a:solidFill>
              <a:schemeClr val="accent4"/>
            </a:solidFill>
          </a:ln>
        </p:spPr>
        <p:txBody>
          <a:bodyPr wrap="square" rtlCol="0">
            <a:noAutofit/>
          </a:bodyPr>
          <a:lstStyle>
            <a:defPPr>
              <a:defRPr lang="zh-CN"/>
            </a:defPPr>
            <a:lvl1pPr>
              <a:lnSpc>
                <a:spcPct val="130000"/>
              </a:lnSpc>
              <a:defRPr kumimoji="1" b="1">
                <a:latin typeface="Microsoft YaHei Light" panose="020B0503020204020204" pitchFamily="34" charset="-122"/>
                <a:ea typeface="Microsoft YaHei Light" panose="020B0503020204020204" pitchFamily="34" charset="-122"/>
              </a:defRPr>
            </a:lvl1pPr>
          </a:lstStyle>
          <a:p>
            <a:pPr algn="just"/>
            <a:r>
              <a:rPr lang="zh-CN" altLang="en-US" b="0" dirty="0">
                <a:latin typeface="Lantinghei SC Extralight" panose="02000000000000000000" pitchFamily="2" charset="-122"/>
                <a:ea typeface="Lantinghei SC Extralight" panose="02000000000000000000" pitchFamily="2" charset="-122"/>
              </a:rPr>
              <a:t>用于</a:t>
            </a:r>
            <a:r>
              <a:rPr lang="zh-CN" altLang="en-US" dirty="0">
                <a:latin typeface="Lantinghei SC Extralight" panose="02000000000000000000" pitchFamily="2" charset="-122"/>
                <a:ea typeface="Lantinghei SC Extralight" panose="02000000000000000000" pitchFamily="2" charset="-122"/>
              </a:rPr>
              <a:t>深度学习的数学表达式库</a:t>
            </a:r>
            <a:r>
              <a:rPr lang="zh-CN" altLang="en-US" b="0" dirty="0">
                <a:latin typeface="Lantinghei SC Extralight" panose="02000000000000000000" pitchFamily="2" charset="-122"/>
                <a:ea typeface="Lantinghei SC Extralight" panose="02000000000000000000" pitchFamily="2" charset="-122"/>
              </a:rPr>
              <a:t>，支持定义、优化和评估数学表达式</a:t>
            </a:r>
          </a:p>
        </p:txBody>
      </p:sp>
      <p:sp>
        <p:nvSpPr>
          <p:cNvPr id="23" name="文本框 24">
            <a:extLst>
              <a:ext uri="{FF2B5EF4-FFF2-40B4-BE49-F238E27FC236}">
                <a16:creationId xmlns:a16="http://schemas.microsoft.com/office/drawing/2014/main" id="{5BF99302-152D-6445-0B7A-837E172111D3}"/>
              </a:ext>
            </a:extLst>
          </p:cNvPr>
          <p:cNvSpPr txBox="1"/>
          <p:nvPr/>
        </p:nvSpPr>
        <p:spPr>
          <a:xfrm>
            <a:off x="6310284" y="4057930"/>
            <a:ext cx="2510524" cy="369332"/>
          </a:xfrm>
          <a:prstGeom prst="rect">
            <a:avLst/>
          </a:prstGeom>
          <a:solidFill>
            <a:srgbClr val="0070C0"/>
          </a:solidFill>
          <a:ln>
            <a:solidFill>
              <a:schemeClr val="accent4"/>
            </a:solidFill>
          </a:ln>
        </p:spPr>
        <p:txBody>
          <a:bodyPr wrap="square" rtlCol="0">
            <a:spAutoFit/>
          </a:bodyPr>
          <a:lstStyle/>
          <a:p>
            <a:pPr marL="285750" indent="-285750">
              <a:buFont typeface="Wingdings" pitchFamily="2" charset="2"/>
              <a:buChar char="u"/>
            </a:pPr>
            <a:r>
              <a:rPr kumimoji="1" lang="en" altLang="zh-CN" dirty="0">
                <a:solidFill>
                  <a:schemeClr val="bg1"/>
                </a:solidFill>
                <a:latin typeface="Microsoft YaHei" panose="020B0503020204020204" pitchFamily="34" charset="-122"/>
                <a:ea typeface="Microsoft YaHei" panose="020B0503020204020204" pitchFamily="34" charset="-122"/>
              </a:rPr>
              <a:t>Theano</a:t>
            </a:r>
            <a:endParaRPr kumimoji="1" lang="en-US" altLang="zh-CN" dirty="0">
              <a:solidFill>
                <a:schemeClr val="bg1"/>
              </a:solidFill>
              <a:latin typeface="Microsoft YaHei" panose="020B0503020204020204" pitchFamily="34" charset="-122"/>
              <a:ea typeface="Microsoft YaHei" panose="020B0503020204020204" pitchFamily="34" charset="-122"/>
            </a:endParaRPr>
          </a:p>
        </p:txBody>
      </p:sp>
      <p:sp>
        <p:nvSpPr>
          <p:cNvPr id="24" name="圆角矩形 27">
            <a:extLst>
              <a:ext uri="{FF2B5EF4-FFF2-40B4-BE49-F238E27FC236}">
                <a16:creationId xmlns:a16="http://schemas.microsoft.com/office/drawing/2014/main" id="{95AACB17-EE06-EA82-4E4B-B232735B0970}"/>
              </a:ext>
            </a:extLst>
          </p:cNvPr>
          <p:cNvSpPr/>
          <p:nvPr/>
        </p:nvSpPr>
        <p:spPr>
          <a:xfrm>
            <a:off x="293146" y="1203010"/>
            <a:ext cx="11605708" cy="5154796"/>
          </a:xfrm>
          <a:prstGeom prst="roundRect">
            <a:avLst>
              <a:gd name="adj" fmla="val 3547"/>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文本框 30">
            <a:extLst>
              <a:ext uri="{FF2B5EF4-FFF2-40B4-BE49-F238E27FC236}">
                <a16:creationId xmlns:a16="http://schemas.microsoft.com/office/drawing/2014/main" id="{14B59C16-23CA-4066-3485-57241CAFEC75}"/>
              </a:ext>
            </a:extLst>
          </p:cNvPr>
          <p:cNvSpPr txBox="1"/>
          <p:nvPr/>
        </p:nvSpPr>
        <p:spPr>
          <a:xfrm>
            <a:off x="7073529" y="2290868"/>
            <a:ext cx="1925876" cy="1474772"/>
          </a:xfrm>
          <a:prstGeom prst="rect">
            <a:avLst/>
          </a:prstGeom>
          <a:noFill/>
          <a:ln>
            <a:solidFill>
              <a:schemeClr val="accent4"/>
            </a:solidFill>
          </a:ln>
        </p:spPr>
        <p:txBody>
          <a:bodyPr wrap="square" rtlCol="0">
            <a:noAutofit/>
          </a:bodyPr>
          <a:lstStyle>
            <a:defPPr>
              <a:defRPr lang="zh-CN"/>
            </a:defPPr>
            <a:lvl1pPr>
              <a:lnSpc>
                <a:spcPct val="130000"/>
              </a:lnSpc>
              <a:defRPr kumimoji="1" b="1">
                <a:latin typeface="Microsoft YaHei Light" panose="020B0503020204020204" pitchFamily="34" charset="-122"/>
                <a:ea typeface="Microsoft YaHei Light" panose="020B0503020204020204" pitchFamily="34" charset="-122"/>
              </a:defRPr>
            </a:lvl1pPr>
          </a:lstStyle>
          <a:p>
            <a:pPr algn="just"/>
            <a:r>
              <a:rPr lang="zh-CN" altLang="en-US" b="0" dirty="0">
                <a:latin typeface="Lantinghei SC Extralight" panose="02000000000000000000" pitchFamily="2" charset="-122"/>
                <a:ea typeface="Lantinghei SC Extralight" panose="02000000000000000000" pitchFamily="2" charset="-122"/>
              </a:rPr>
              <a:t>由</a:t>
            </a:r>
            <a:r>
              <a:rPr lang="en-US" altLang="zh-CN" b="0" dirty="0">
                <a:latin typeface="Lantinghei SC Extralight" panose="02000000000000000000" pitchFamily="2" charset="-122"/>
                <a:ea typeface="Lantinghei SC Extralight" panose="02000000000000000000" pitchFamily="2" charset="-122"/>
              </a:rPr>
              <a:t>MS</a:t>
            </a:r>
            <a:r>
              <a:rPr lang="zh-CN" altLang="en-US" b="0" dirty="0">
                <a:latin typeface="Lantinghei SC Extralight" panose="02000000000000000000" pitchFamily="2" charset="-122"/>
                <a:ea typeface="Lantinghei SC Extralight" panose="02000000000000000000" pitchFamily="2" charset="-122"/>
              </a:rPr>
              <a:t>微软开发的</a:t>
            </a:r>
            <a:r>
              <a:rPr lang="en-US" altLang="zh-CN" b="0" dirty="0">
                <a:latin typeface="Lantinghei SC Extralight" panose="02000000000000000000" pitchFamily="2" charset="-122"/>
                <a:ea typeface="Lantinghei SC Extralight" panose="02000000000000000000" pitchFamily="2" charset="-122"/>
              </a:rPr>
              <a:t>CNTK</a:t>
            </a:r>
            <a:r>
              <a:rPr lang="zh-CN" altLang="en-US" b="0" dirty="0">
                <a:latin typeface="Lantinghei SC Extralight" panose="02000000000000000000" pitchFamily="2" charset="-122"/>
                <a:ea typeface="Lantinghei SC Extralight" panose="02000000000000000000" pitchFamily="2" charset="-122"/>
              </a:rPr>
              <a:t>开源工具包，</a:t>
            </a:r>
            <a:r>
              <a:rPr lang="zh-CN" altLang="en-US" dirty="0">
                <a:latin typeface="Lantinghei SC Extralight" panose="02000000000000000000" pitchFamily="2" charset="-122"/>
                <a:ea typeface="Lantinghei SC Extralight" panose="02000000000000000000" pitchFamily="2" charset="-122"/>
              </a:rPr>
              <a:t>商业级分布式深度学习</a:t>
            </a:r>
          </a:p>
        </p:txBody>
      </p:sp>
      <p:sp>
        <p:nvSpPr>
          <p:cNvPr id="26" name="文本框 31">
            <a:extLst>
              <a:ext uri="{FF2B5EF4-FFF2-40B4-BE49-F238E27FC236}">
                <a16:creationId xmlns:a16="http://schemas.microsoft.com/office/drawing/2014/main" id="{8DC5809B-089F-6F32-CFA8-F0202AE222C7}"/>
              </a:ext>
            </a:extLst>
          </p:cNvPr>
          <p:cNvSpPr txBox="1"/>
          <p:nvPr/>
        </p:nvSpPr>
        <p:spPr>
          <a:xfrm>
            <a:off x="7073529" y="1921537"/>
            <a:ext cx="1925876" cy="369332"/>
          </a:xfrm>
          <a:prstGeom prst="rect">
            <a:avLst/>
          </a:prstGeom>
          <a:solidFill>
            <a:srgbClr val="0070C0"/>
          </a:solidFill>
          <a:ln>
            <a:solidFill>
              <a:schemeClr val="accent4"/>
            </a:solidFill>
          </a:ln>
        </p:spPr>
        <p:txBody>
          <a:bodyPr wrap="square" rtlCol="0">
            <a:spAutoFit/>
          </a:bodyPr>
          <a:lstStyle/>
          <a:p>
            <a:pPr marL="285750" indent="-285750">
              <a:buFont typeface="Wingdings" pitchFamily="2" charset="2"/>
              <a:buChar char="u"/>
            </a:pPr>
            <a:r>
              <a:rPr kumimoji="1" lang="en" altLang="zh-CN" dirty="0">
                <a:solidFill>
                  <a:schemeClr val="bg1"/>
                </a:solidFill>
                <a:latin typeface="Microsoft YaHei" panose="020B0503020204020204" pitchFamily="34" charset="-122"/>
                <a:ea typeface="Microsoft YaHei" panose="020B0503020204020204" pitchFamily="34" charset="-122"/>
              </a:rPr>
              <a:t>CNTK</a:t>
            </a:r>
            <a:endParaRPr kumimoji="1" lang="en-US" altLang="zh-CN" dirty="0">
              <a:solidFill>
                <a:schemeClr val="bg1"/>
              </a:solidFill>
              <a:latin typeface="Microsoft YaHei" panose="020B0503020204020204" pitchFamily="34" charset="-122"/>
              <a:ea typeface="Microsoft YaHei" panose="020B0503020204020204" pitchFamily="34" charset="-122"/>
            </a:endParaRPr>
          </a:p>
        </p:txBody>
      </p:sp>
      <p:sp>
        <p:nvSpPr>
          <p:cNvPr id="27" name="文本框 32">
            <a:extLst>
              <a:ext uri="{FF2B5EF4-FFF2-40B4-BE49-F238E27FC236}">
                <a16:creationId xmlns:a16="http://schemas.microsoft.com/office/drawing/2014/main" id="{696E761B-77A2-00F7-19E0-A4465121675C}"/>
              </a:ext>
            </a:extLst>
          </p:cNvPr>
          <p:cNvSpPr txBox="1"/>
          <p:nvPr/>
        </p:nvSpPr>
        <p:spPr>
          <a:xfrm>
            <a:off x="441420" y="1217422"/>
            <a:ext cx="11254010" cy="646331"/>
          </a:xfrm>
          <a:prstGeom prst="rect">
            <a:avLst/>
          </a:prstGeom>
          <a:noFill/>
        </p:spPr>
        <p:txBody>
          <a:bodyPr wrap="square" rtlCol="0">
            <a:spAutoFit/>
          </a:bodyPr>
          <a:lstStyle/>
          <a:p>
            <a:r>
              <a:rPr kumimoji="1" lang="en-US" altLang="zh-CN" dirty="0">
                <a:latin typeface="Microsoft YaHei" panose="020B0503020204020204" pitchFamily="34" charset="-122"/>
                <a:ea typeface="Microsoft YaHei" panose="020B0503020204020204" pitchFamily="34" charset="-122"/>
              </a:rPr>
              <a:t>1.</a:t>
            </a:r>
            <a:r>
              <a:rPr kumimoji="1" lang="zh-CN" altLang="en-US" dirty="0">
                <a:latin typeface="Microsoft YaHei" panose="020B0503020204020204" pitchFamily="34" charset="-122"/>
                <a:ea typeface="Microsoft YaHei" panose="020B0503020204020204" pitchFamily="34" charset="-122"/>
              </a:rPr>
              <a:t> 编程语言：</a:t>
            </a:r>
            <a:r>
              <a:rPr kumimoji="1" lang="en-US" altLang="zh-CN" dirty="0">
                <a:latin typeface="Microsoft YaHei" panose="020B0503020204020204" pitchFamily="34" charset="-122"/>
                <a:ea typeface="Microsoft YaHei" panose="020B0503020204020204" pitchFamily="34" charset="-122"/>
              </a:rPr>
              <a:t>python</a:t>
            </a:r>
          </a:p>
          <a:p>
            <a:r>
              <a:rPr kumimoji="1" lang="en-US" altLang="zh-CN" dirty="0">
                <a:latin typeface="Microsoft YaHei" panose="020B0503020204020204" pitchFamily="34" charset="-122"/>
                <a:ea typeface="Microsoft YaHei" panose="020B0503020204020204" pitchFamily="34" charset="-122"/>
              </a:rPr>
              <a:t>2.</a:t>
            </a:r>
            <a:r>
              <a:rPr kumimoji="1" lang="zh-CN" altLang="en-US" dirty="0">
                <a:latin typeface="Microsoft YaHei" panose="020B0503020204020204" pitchFamily="34" charset="-122"/>
                <a:ea typeface="Microsoft YaHei" panose="020B0503020204020204" pitchFamily="34" charset="-122"/>
              </a:rPr>
              <a:t> 开发环境：</a:t>
            </a:r>
            <a:r>
              <a:rPr kumimoji="1" lang="en-US" altLang="zh-CN" dirty="0">
                <a:latin typeface="Microsoft YaHei" panose="020B0503020204020204" pitchFamily="34" charset="-122"/>
                <a:ea typeface="Microsoft YaHei" panose="020B0503020204020204" pitchFamily="34" charset="-122"/>
              </a:rPr>
              <a:t>python IDLE, PyCharm, Jupyter notebook</a:t>
            </a:r>
          </a:p>
        </p:txBody>
      </p:sp>
    </p:spTree>
    <p:extLst>
      <p:ext uri="{BB962C8B-B14F-4D97-AF65-F5344CB8AC3E}">
        <p14:creationId xmlns:p14="http://schemas.microsoft.com/office/powerpoint/2010/main" val="3108885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a:t>
            </a:r>
            <a:r>
              <a:rPr lang="en-US" altLang="zh-CN" dirty="0"/>
              <a:t>1</a:t>
            </a:r>
            <a:r>
              <a:rPr lang="zh-CN" altLang="en-US" dirty="0"/>
              <a:t>）深度学习框架</a:t>
            </a:r>
            <a:r>
              <a:rPr lang="en-US" altLang="zh-CN" dirty="0"/>
              <a:t>——</a:t>
            </a:r>
            <a:r>
              <a:rPr lang="en-US" altLang="zh-CN" dirty="0" err="1"/>
              <a:t>PyTorch</a:t>
            </a:r>
            <a:endParaRPr lang="zh-CN" altLang="en-US" dirty="0"/>
          </a:p>
        </p:txBody>
      </p:sp>
      <p:sp>
        <p:nvSpPr>
          <p:cNvPr id="3" name="内容占位符 2">
            <a:extLst>
              <a:ext uri="{FF2B5EF4-FFF2-40B4-BE49-F238E27FC236}">
                <a16:creationId xmlns:a16="http://schemas.microsoft.com/office/drawing/2014/main" id="{C19FBCD9-2E07-776F-5B85-BBD59F1EA350}"/>
              </a:ext>
            </a:extLst>
          </p:cNvPr>
          <p:cNvSpPr>
            <a:spLocks noGrp="1"/>
          </p:cNvSpPr>
          <p:nvPr>
            <p:ph idx="1"/>
          </p:nvPr>
        </p:nvSpPr>
        <p:spPr>
          <a:xfrm>
            <a:off x="299907" y="888090"/>
            <a:ext cx="11577531" cy="2178940"/>
          </a:xfrm>
        </p:spPr>
        <p:txBody>
          <a:bodyPr>
            <a:noAutofit/>
          </a:bodyPr>
          <a:lstStyle/>
          <a:p>
            <a:pPr>
              <a:buFont typeface="Wingdings" pitchFamily="2" charset="2"/>
              <a:buChar char="p"/>
            </a:pPr>
            <a:r>
              <a:rPr kumimoji="1" lang="en-US" altLang="zh-CN" b="0" dirty="0">
                <a:latin typeface="Microsoft YaHei" panose="020B0503020204020204" pitchFamily="34" charset="-122"/>
                <a:ea typeface="Microsoft YaHei" panose="020B0503020204020204" pitchFamily="34" charset="-122"/>
              </a:rPr>
              <a:t>PyTorch</a:t>
            </a:r>
            <a:r>
              <a:rPr kumimoji="1" lang="zh-CN" altLang="en-US" b="0" dirty="0">
                <a:latin typeface="Microsoft YaHei" panose="020B0503020204020204" pitchFamily="34" charset="-122"/>
                <a:ea typeface="Microsoft YaHei" panose="020B0503020204020204" pitchFamily="34" charset="-122"/>
              </a:rPr>
              <a:t>是什么</a:t>
            </a:r>
          </a:p>
          <a:p>
            <a:pPr lvl="1">
              <a:buFont typeface="Wingdings" pitchFamily="2" charset="2"/>
              <a:buChar char="p"/>
            </a:pPr>
            <a:r>
              <a:rPr lang="en" altLang="zh-CN" b="0" dirty="0">
                <a:effectLst/>
                <a:latin typeface="Microsoft YaHei" panose="020B0503020204020204" pitchFamily="34" charset="-122"/>
                <a:ea typeface="Microsoft YaHei" panose="020B0503020204020204" pitchFamily="34" charset="-122"/>
              </a:rPr>
              <a:t>Facebook</a:t>
            </a:r>
            <a:r>
              <a:rPr lang="zh-CN" altLang="en-US" b="0" dirty="0">
                <a:effectLst/>
                <a:latin typeface="Microsoft YaHei" panose="020B0503020204020204" pitchFamily="34" charset="-122"/>
                <a:ea typeface="Microsoft YaHei" panose="020B0503020204020204" pitchFamily="34" charset="-122"/>
              </a:rPr>
              <a:t>于</a:t>
            </a:r>
            <a:r>
              <a:rPr lang="en-US" altLang="zh-CN" b="0" dirty="0">
                <a:effectLst/>
                <a:latin typeface="Microsoft YaHei" panose="020B0503020204020204" pitchFamily="34" charset="-122"/>
                <a:ea typeface="Microsoft YaHei" panose="020B0503020204020204" pitchFamily="34" charset="-122"/>
              </a:rPr>
              <a:t>2017</a:t>
            </a:r>
            <a:r>
              <a:rPr lang="zh-CN" altLang="en-US" b="0" dirty="0">
                <a:effectLst/>
                <a:latin typeface="Microsoft YaHei" panose="020B0503020204020204" pitchFamily="34" charset="-122"/>
                <a:ea typeface="Microsoft YaHei" panose="020B0503020204020204" pitchFamily="34" charset="-122"/>
              </a:rPr>
              <a:t>年发布的</a:t>
            </a:r>
            <a:r>
              <a:rPr lang="zh-CN" altLang="en-US" b="0" dirty="0">
                <a:solidFill>
                  <a:srgbClr val="002060"/>
                </a:solidFill>
                <a:effectLst/>
                <a:latin typeface="Microsoft YaHei" panose="020B0503020204020204" pitchFamily="34" charset="-122"/>
                <a:ea typeface="Microsoft YaHei" panose="020B0503020204020204" pitchFamily="34" charset="-122"/>
              </a:rPr>
              <a:t>机器学习框架</a:t>
            </a:r>
            <a:r>
              <a:rPr lang="zh-CN" altLang="en-US" b="0" dirty="0">
                <a:effectLst/>
                <a:latin typeface="Microsoft YaHei" panose="020B0503020204020204" pitchFamily="34" charset="-122"/>
                <a:ea typeface="Microsoft YaHei" panose="020B0503020204020204" pitchFamily="34" charset="-122"/>
              </a:rPr>
              <a:t>，</a:t>
            </a:r>
            <a:r>
              <a:rPr lang="zh-CN" altLang="en-US" b="0" dirty="0">
                <a:solidFill>
                  <a:srgbClr val="002060"/>
                </a:solidFill>
                <a:latin typeface="Microsoft YaHei" panose="020B0503020204020204" pitchFamily="34" charset="-122"/>
                <a:ea typeface="Microsoft YaHei" panose="020B0503020204020204" pitchFamily="34" charset="-122"/>
              </a:rPr>
              <a:t>基于</a:t>
            </a:r>
            <a:r>
              <a:rPr lang="en" altLang="zh-CN" b="0" dirty="0">
                <a:solidFill>
                  <a:srgbClr val="002060"/>
                </a:solidFill>
                <a:latin typeface="Microsoft YaHei" panose="020B0503020204020204" pitchFamily="34" charset="-122"/>
                <a:ea typeface="Microsoft YaHei" panose="020B0503020204020204" pitchFamily="34" charset="-122"/>
              </a:rPr>
              <a:t>Python</a:t>
            </a:r>
            <a:r>
              <a:rPr lang="zh-CN" altLang="en-US" b="0" dirty="0">
                <a:solidFill>
                  <a:srgbClr val="002060"/>
                </a:solidFill>
                <a:latin typeface="Microsoft YaHei" panose="020B0503020204020204" pitchFamily="34" charset="-122"/>
                <a:ea typeface="Microsoft YaHei" panose="020B0503020204020204" pitchFamily="34" charset="-122"/>
              </a:rPr>
              <a:t>的科学计算包</a:t>
            </a:r>
            <a:r>
              <a:rPr lang="zh-CN" altLang="en-US" b="0" dirty="0">
                <a:effectLst/>
                <a:latin typeface="Microsoft YaHei" panose="020B0503020204020204" pitchFamily="34" charset="-122"/>
                <a:ea typeface="Microsoft YaHei" panose="020B0503020204020204" pitchFamily="34" charset="-122"/>
              </a:rPr>
              <a:t>，服务于以下两种场景</a:t>
            </a:r>
            <a:r>
              <a:rPr lang="en-US" altLang="zh-CN" b="0" dirty="0">
                <a:effectLst/>
                <a:latin typeface="Microsoft YaHei" panose="020B0503020204020204" pitchFamily="34" charset="-122"/>
                <a:ea typeface="Microsoft YaHei" panose="020B0503020204020204" pitchFamily="34" charset="-122"/>
              </a:rPr>
              <a:t>:</a:t>
            </a:r>
            <a:r>
              <a:rPr lang="zh-CN" altLang="en-US" b="0" dirty="0">
                <a:solidFill>
                  <a:srgbClr val="002060"/>
                </a:solidFill>
                <a:latin typeface="Microsoft YaHei" panose="020B0503020204020204" pitchFamily="34" charset="-122"/>
                <a:ea typeface="Microsoft YaHei" panose="020B0503020204020204" pitchFamily="34" charset="-122"/>
              </a:rPr>
              <a:t>使用</a:t>
            </a:r>
            <a:r>
              <a:rPr lang="en" altLang="zh-CN" b="0" dirty="0">
                <a:solidFill>
                  <a:srgbClr val="002060"/>
                </a:solidFill>
                <a:latin typeface="Microsoft YaHei" panose="020B0503020204020204" pitchFamily="34" charset="-122"/>
                <a:ea typeface="Microsoft YaHei" panose="020B0503020204020204" pitchFamily="34" charset="-122"/>
              </a:rPr>
              <a:t>GPU</a:t>
            </a:r>
            <a:r>
              <a:rPr lang="zh-CN" altLang="en-US" b="0" dirty="0">
                <a:solidFill>
                  <a:srgbClr val="002060"/>
                </a:solidFill>
                <a:latin typeface="Microsoft YaHei" panose="020B0503020204020204" pitchFamily="34" charset="-122"/>
                <a:ea typeface="Microsoft YaHei" panose="020B0503020204020204" pitchFamily="34" charset="-122"/>
              </a:rPr>
              <a:t>的强大计算能力</a:t>
            </a:r>
            <a:r>
              <a:rPr lang="zh-CN" altLang="en-US" b="0" dirty="0">
                <a:effectLst/>
                <a:latin typeface="Microsoft YaHei" panose="020B0503020204020204" pitchFamily="34" charset="-122"/>
                <a:ea typeface="Microsoft YaHei" panose="020B0503020204020204" pitchFamily="34" charset="-122"/>
              </a:rPr>
              <a:t>，提供最大的灵活性和高速的</a:t>
            </a:r>
            <a:r>
              <a:rPr lang="zh-CN" altLang="en-US" b="0" dirty="0">
                <a:solidFill>
                  <a:srgbClr val="002060"/>
                </a:solidFill>
                <a:latin typeface="Microsoft YaHei" panose="020B0503020204020204" pitchFamily="34" charset="-122"/>
                <a:ea typeface="Microsoft YaHei" panose="020B0503020204020204" pitchFamily="34" charset="-122"/>
              </a:rPr>
              <a:t>深度学习研究平台</a:t>
            </a:r>
          </a:p>
          <a:p>
            <a:pPr lvl="1">
              <a:buFont typeface="Wingdings" pitchFamily="2" charset="2"/>
              <a:buChar char="p"/>
            </a:pPr>
            <a:r>
              <a:rPr lang="zh-CN" altLang="en-US" b="0" dirty="0">
                <a:effectLst/>
                <a:latin typeface="Microsoft YaHei" panose="020B0503020204020204" pitchFamily="34" charset="-122"/>
                <a:ea typeface="Microsoft YaHei" panose="020B0503020204020204" pitchFamily="34" charset="-122"/>
              </a:rPr>
              <a:t>以其灵活性和直观的方式而受到广大开发者的青睐</a:t>
            </a:r>
            <a:r>
              <a:rPr lang="zh-CN" altLang="en-US" b="0" dirty="0">
                <a:latin typeface="Microsoft YaHei" panose="020B0503020204020204" pitchFamily="34" charset="-122"/>
                <a:ea typeface="Microsoft YaHei" panose="020B0503020204020204" pitchFamily="34" charset="-122"/>
              </a:rPr>
              <a:t>，</a:t>
            </a:r>
            <a:r>
              <a:rPr lang="zh-CN" altLang="en-US" b="0" dirty="0">
                <a:effectLst/>
                <a:latin typeface="Microsoft YaHei" panose="020B0503020204020204" pitchFamily="34" charset="-122"/>
                <a:ea typeface="Microsoft YaHei" panose="020B0503020204020204" pitchFamily="34" charset="-122"/>
              </a:rPr>
              <a:t>支持</a:t>
            </a:r>
            <a:r>
              <a:rPr lang="zh-CN" altLang="en-US" b="0" dirty="0">
                <a:solidFill>
                  <a:srgbClr val="002060"/>
                </a:solidFill>
                <a:latin typeface="Microsoft YaHei" panose="020B0503020204020204" pitchFamily="34" charset="-122"/>
                <a:ea typeface="Microsoft YaHei" panose="020B0503020204020204" pitchFamily="34" charset="-122"/>
              </a:rPr>
              <a:t>动态图</a:t>
            </a:r>
            <a:r>
              <a:rPr lang="zh-CN" altLang="en-US" b="0" dirty="0">
                <a:effectLst/>
                <a:latin typeface="Microsoft YaHei" panose="020B0503020204020204" pitchFamily="34" charset="-122"/>
                <a:ea typeface="Microsoft YaHei" panose="020B0503020204020204" pitchFamily="34" charset="-122"/>
              </a:rPr>
              <a:t>，使得</a:t>
            </a:r>
            <a:r>
              <a:rPr lang="zh-CN" altLang="en-US" b="0" dirty="0">
                <a:solidFill>
                  <a:srgbClr val="002060"/>
                </a:solidFill>
                <a:latin typeface="Microsoft YaHei" panose="020B0503020204020204" pitchFamily="34" charset="-122"/>
                <a:ea typeface="Microsoft YaHei" panose="020B0503020204020204" pitchFamily="34" charset="-122"/>
              </a:rPr>
              <a:t>调试和开发过程</a:t>
            </a:r>
            <a:r>
              <a:rPr lang="zh-CN" altLang="en-US" b="0" dirty="0">
                <a:effectLst/>
                <a:latin typeface="Microsoft YaHei" panose="020B0503020204020204" pitchFamily="34" charset="-122"/>
                <a:ea typeface="Microsoft YaHei" panose="020B0503020204020204" pitchFamily="34" charset="-122"/>
              </a:rPr>
              <a:t>更加直观和高效。</a:t>
            </a:r>
            <a:endParaRPr lang="en-US" altLang="zh-CN" b="0" dirty="0">
              <a:effectLst/>
              <a:latin typeface="Microsoft YaHei" panose="020B0503020204020204" pitchFamily="34" charset="-122"/>
              <a:ea typeface="Microsoft YaHei" panose="020B0503020204020204" pitchFamily="34" charset="-122"/>
            </a:endParaRPr>
          </a:p>
          <a:p>
            <a:pPr lvl="1">
              <a:buFont typeface="Wingdings" pitchFamily="2" charset="2"/>
              <a:buChar char="p"/>
            </a:pPr>
            <a:r>
              <a:rPr lang="zh-CN" altLang="en-US" b="0" dirty="0">
                <a:effectLst/>
                <a:latin typeface="Microsoft YaHei" panose="020B0503020204020204" pitchFamily="34" charset="-122"/>
                <a:ea typeface="Microsoft YaHei" panose="020B0503020204020204" pitchFamily="34" charset="-122"/>
              </a:rPr>
              <a:t>提供丰富的</a:t>
            </a:r>
            <a:r>
              <a:rPr lang="zh-CN" altLang="en-US" b="0" dirty="0">
                <a:solidFill>
                  <a:srgbClr val="002060"/>
                </a:solidFill>
                <a:latin typeface="Microsoft YaHei" panose="020B0503020204020204" pitchFamily="34" charset="-122"/>
                <a:ea typeface="Microsoft YaHei" panose="020B0503020204020204" pitchFamily="34" charset="-122"/>
              </a:rPr>
              <a:t>预训练模型和工具</a:t>
            </a:r>
            <a:r>
              <a:rPr lang="zh-CN" altLang="en-US" b="0" dirty="0">
                <a:effectLst/>
                <a:latin typeface="Microsoft YaHei" panose="020B0503020204020204" pitchFamily="34" charset="-122"/>
                <a:ea typeface="Microsoft YaHei" panose="020B0503020204020204" pitchFamily="34" charset="-122"/>
              </a:rPr>
              <a:t>，方便开发者进行</a:t>
            </a:r>
            <a:r>
              <a:rPr lang="zh-CN" altLang="en-US" b="0" dirty="0">
                <a:solidFill>
                  <a:srgbClr val="002060"/>
                </a:solidFill>
                <a:latin typeface="Microsoft YaHei" panose="020B0503020204020204" pitchFamily="34" charset="-122"/>
                <a:ea typeface="Microsoft YaHei" panose="020B0503020204020204" pitchFamily="34" charset="-122"/>
              </a:rPr>
              <a:t>迁移学习和快速原型设计</a:t>
            </a:r>
            <a:r>
              <a:rPr lang="zh-CN" altLang="en-US" b="0" dirty="0">
                <a:effectLst/>
                <a:latin typeface="Microsoft YaHei" panose="020B0503020204020204" pitchFamily="34" charset="-122"/>
                <a:ea typeface="Microsoft YaHei" panose="020B0503020204020204" pitchFamily="34" charset="-122"/>
              </a:rPr>
              <a:t>。</a:t>
            </a:r>
            <a:endParaRPr kumimoji="1" lang="zh-CN" altLang="en-US" b="0" dirty="0">
              <a:latin typeface="Microsoft YaHei" panose="020B0503020204020204" pitchFamily="34" charset="-122"/>
              <a:ea typeface="Microsoft YaHei" panose="020B0503020204020204" pitchFamily="34" charset="-122"/>
            </a:endParaRPr>
          </a:p>
        </p:txBody>
      </p:sp>
      <p:sp>
        <p:nvSpPr>
          <p:cNvPr id="4" name="文本框 12">
            <a:extLst>
              <a:ext uri="{FF2B5EF4-FFF2-40B4-BE49-F238E27FC236}">
                <a16:creationId xmlns:a16="http://schemas.microsoft.com/office/drawing/2014/main" id="{89D1A748-0FB4-3557-AD05-177FE35EB7B1}"/>
              </a:ext>
            </a:extLst>
          </p:cNvPr>
          <p:cNvSpPr txBox="1"/>
          <p:nvPr/>
        </p:nvSpPr>
        <p:spPr>
          <a:xfrm>
            <a:off x="299906" y="3469606"/>
            <a:ext cx="11577531" cy="2000548"/>
          </a:xfrm>
          <a:prstGeom prst="rect">
            <a:avLst/>
          </a:prstGeom>
          <a:noFill/>
        </p:spPr>
        <p:txBody>
          <a:bodyPr wrap="square">
            <a:spAutoFit/>
          </a:bodyPr>
          <a:lstStyle/>
          <a:p>
            <a:pPr marL="228600" indent="-228600">
              <a:spcBef>
                <a:spcPts val="1000"/>
              </a:spcBef>
              <a:buFont typeface="Wingdings" pitchFamily="2" charset="2"/>
              <a:buChar char="p"/>
            </a:pPr>
            <a:r>
              <a:rPr kumimoji="1" lang="en-US" altLang="zh-CN" sz="2400" dirty="0" err="1">
                <a:latin typeface="Microsoft YaHei" panose="020B0503020204020204" pitchFamily="34" charset="-122"/>
                <a:ea typeface="Microsoft YaHei" panose="020B0503020204020204" pitchFamily="34" charset="-122"/>
              </a:rPr>
              <a:t>PyTorch</a:t>
            </a:r>
            <a:r>
              <a:rPr kumimoji="1" lang="zh-CN" altLang="en-US" sz="2400" dirty="0">
                <a:latin typeface="Microsoft YaHei" panose="020B0503020204020204" pitchFamily="34" charset="-122"/>
                <a:ea typeface="Microsoft YaHei" panose="020B0503020204020204" pitchFamily="34" charset="-122"/>
              </a:rPr>
              <a:t>的由来</a:t>
            </a:r>
            <a:endParaRPr kumimoji="1" lang="en" altLang="zh-CN" sz="2400" dirty="0">
              <a:latin typeface="Microsoft YaHei" panose="020B0503020204020204" pitchFamily="34" charset="-122"/>
              <a:ea typeface="Microsoft YaHei" panose="020B0503020204020204" pitchFamily="34" charset="-122"/>
            </a:endParaRPr>
          </a:p>
          <a:p>
            <a:pPr marL="742950" lvl="1" indent="-285750">
              <a:buFont typeface="Wingdings" pitchFamily="2" charset="2"/>
              <a:buChar char="p"/>
            </a:pPr>
            <a:r>
              <a:rPr lang="en" altLang="zh-CN" sz="2000" dirty="0">
                <a:solidFill>
                  <a:srgbClr val="002060"/>
                </a:solidFill>
                <a:latin typeface="Microsoft YaHei" panose="020B0503020204020204" pitchFamily="34" charset="-122"/>
                <a:ea typeface="Microsoft YaHei" panose="020B0503020204020204" pitchFamily="34" charset="-122"/>
              </a:rPr>
              <a:t>Torch</a:t>
            </a:r>
            <a:r>
              <a:rPr lang="zh-CN" altLang="en-US" sz="2000" dirty="0">
                <a:effectLst/>
                <a:latin typeface="Microsoft YaHei" panose="020B0503020204020204" pitchFamily="34" charset="-122"/>
                <a:ea typeface="Microsoft YaHei" panose="020B0503020204020204" pitchFamily="34" charset="-122"/>
              </a:rPr>
              <a:t>是</a:t>
            </a:r>
            <a:r>
              <a:rPr lang="zh-CN" altLang="en-US" sz="2000" dirty="0">
                <a:solidFill>
                  <a:srgbClr val="002060"/>
                </a:solidFill>
                <a:latin typeface="Microsoft YaHei" panose="020B0503020204020204" pitchFamily="34" charset="-122"/>
                <a:ea typeface="Microsoft YaHei" panose="020B0503020204020204" pitchFamily="34" charset="-122"/>
              </a:rPr>
              <a:t>一个与</a:t>
            </a:r>
            <a:r>
              <a:rPr lang="en" altLang="zh-CN" sz="2000" dirty="0" err="1">
                <a:solidFill>
                  <a:srgbClr val="002060"/>
                </a:solidFill>
                <a:latin typeface="Microsoft YaHei" panose="020B0503020204020204" pitchFamily="34" charset="-122"/>
                <a:ea typeface="Microsoft YaHei" panose="020B0503020204020204" pitchFamily="34" charset="-122"/>
              </a:rPr>
              <a:t>Numpy</a:t>
            </a:r>
            <a:r>
              <a:rPr lang="zh-CN" altLang="en-US" sz="2000" dirty="0">
                <a:solidFill>
                  <a:srgbClr val="002060"/>
                </a:solidFill>
                <a:latin typeface="Microsoft YaHei" panose="020B0503020204020204" pitchFamily="34" charset="-122"/>
                <a:ea typeface="Microsoft YaHei" panose="020B0503020204020204" pitchFamily="34" charset="-122"/>
              </a:rPr>
              <a:t>类似的张量</a:t>
            </a:r>
            <a:r>
              <a:rPr lang="zh-CN" altLang="en-US" sz="2000" dirty="0">
                <a:effectLst/>
                <a:latin typeface="Microsoft YaHei" panose="020B0503020204020204" pitchFamily="34" charset="-122"/>
                <a:ea typeface="Microsoft YaHei" panose="020B0503020204020204" pitchFamily="34" charset="-122"/>
              </a:rPr>
              <a:t>（</a:t>
            </a:r>
            <a:r>
              <a:rPr lang="en" altLang="zh-CN" sz="2000" dirty="0">
                <a:solidFill>
                  <a:srgbClr val="002060"/>
                </a:solidFill>
                <a:latin typeface="Microsoft YaHei" panose="020B0503020204020204" pitchFamily="34" charset="-122"/>
                <a:ea typeface="Microsoft YaHei" panose="020B0503020204020204" pitchFamily="34" charset="-122"/>
              </a:rPr>
              <a:t>Tensor</a:t>
            </a:r>
            <a:r>
              <a:rPr lang="zh-CN" altLang="en" sz="2000" dirty="0">
                <a:effectLst/>
                <a:latin typeface="Microsoft YaHei" panose="020B0503020204020204" pitchFamily="34" charset="-122"/>
                <a:ea typeface="Microsoft YaHei" panose="020B0503020204020204" pitchFamily="34" charset="-122"/>
              </a:rPr>
              <a:t>）</a:t>
            </a:r>
            <a:r>
              <a:rPr lang="zh-CN" altLang="en-US" sz="2000" dirty="0">
                <a:effectLst/>
                <a:latin typeface="Microsoft YaHei" panose="020B0503020204020204" pitchFamily="34" charset="-122"/>
                <a:ea typeface="Microsoft YaHei" panose="020B0503020204020204" pitchFamily="34" charset="-122"/>
              </a:rPr>
              <a:t>操作库，与</a:t>
            </a:r>
            <a:r>
              <a:rPr lang="en" altLang="zh-CN" sz="2000" dirty="0" err="1">
                <a:effectLst/>
                <a:latin typeface="Microsoft YaHei" panose="020B0503020204020204" pitchFamily="34" charset="-122"/>
                <a:ea typeface="Microsoft YaHei" panose="020B0503020204020204" pitchFamily="34" charset="-122"/>
              </a:rPr>
              <a:t>Numpy</a:t>
            </a:r>
            <a:r>
              <a:rPr lang="zh-CN" altLang="en-US" sz="2000" dirty="0">
                <a:effectLst/>
                <a:latin typeface="Microsoft YaHei" panose="020B0503020204020204" pitchFamily="34" charset="-122"/>
                <a:ea typeface="Microsoft YaHei" panose="020B0503020204020204" pitchFamily="34" charset="-122"/>
              </a:rPr>
              <a:t>不同的是</a:t>
            </a:r>
            <a:r>
              <a:rPr lang="en" altLang="zh-CN" sz="2000" dirty="0">
                <a:solidFill>
                  <a:srgbClr val="002060"/>
                </a:solidFill>
                <a:latin typeface="Microsoft YaHei" panose="020B0503020204020204" pitchFamily="34" charset="-122"/>
                <a:ea typeface="Microsoft YaHei" panose="020B0503020204020204" pitchFamily="34" charset="-122"/>
              </a:rPr>
              <a:t>Torch</a:t>
            </a:r>
            <a:r>
              <a:rPr lang="zh-CN" altLang="en-US" sz="2000" dirty="0">
                <a:solidFill>
                  <a:srgbClr val="002060"/>
                </a:solidFill>
                <a:latin typeface="Microsoft YaHei" panose="020B0503020204020204" pitchFamily="34" charset="-122"/>
                <a:ea typeface="Microsoft YaHei" panose="020B0503020204020204" pitchFamily="34" charset="-122"/>
              </a:rPr>
              <a:t>对</a:t>
            </a:r>
            <a:r>
              <a:rPr lang="en" altLang="zh-CN" sz="2000" dirty="0">
                <a:solidFill>
                  <a:srgbClr val="002060"/>
                </a:solidFill>
                <a:latin typeface="Microsoft YaHei" panose="020B0503020204020204" pitchFamily="34" charset="-122"/>
                <a:ea typeface="Microsoft YaHei" panose="020B0503020204020204" pitchFamily="34" charset="-122"/>
              </a:rPr>
              <a:t>GPU</a:t>
            </a:r>
            <a:r>
              <a:rPr lang="zh-CN" altLang="en-US" sz="2000" dirty="0">
                <a:solidFill>
                  <a:srgbClr val="002060"/>
                </a:solidFill>
                <a:latin typeface="Microsoft YaHei" panose="020B0503020204020204" pitchFamily="34" charset="-122"/>
                <a:ea typeface="Microsoft YaHei" panose="020B0503020204020204" pitchFamily="34" charset="-122"/>
              </a:rPr>
              <a:t>支持的很好</a:t>
            </a:r>
            <a:r>
              <a:rPr lang="zh-CN" altLang="en-US" sz="2000" dirty="0">
                <a:effectLst/>
                <a:latin typeface="Microsoft YaHei" panose="020B0503020204020204" pitchFamily="34" charset="-122"/>
                <a:ea typeface="Microsoft YaHei" panose="020B0503020204020204" pitchFamily="34" charset="-122"/>
              </a:rPr>
              <a:t>，</a:t>
            </a:r>
            <a:r>
              <a:rPr lang="en" altLang="zh-CN" sz="2000" dirty="0">
                <a:solidFill>
                  <a:srgbClr val="002060"/>
                </a:solidFill>
                <a:latin typeface="Microsoft YaHei" panose="020B0503020204020204" pitchFamily="34" charset="-122"/>
                <a:ea typeface="Microsoft YaHei" panose="020B0503020204020204" pitchFamily="34" charset="-122"/>
              </a:rPr>
              <a:t>Lua</a:t>
            </a:r>
            <a:r>
              <a:rPr lang="zh-CN" altLang="en-US" sz="2000" dirty="0">
                <a:effectLst/>
                <a:latin typeface="Microsoft YaHei" panose="020B0503020204020204" pitchFamily="34" charset="-122"/>
                <a:ea typeface="Microsoft YaHei" panose="020B0503020204020204" pitchFamily="34" charset="-122"/>
              </a:rPr>
              <a:t>是</a:t>
            </a:r>
            <a:r>
              <a:rPr lang="en" altLang="zh-CN" sz="2000" dirty="0">
                <a:effectLst/>
                <a:latin typeface="Microsoft YaHei" panose="020B0503020204020204" pitchFamily="34" charset="-122"/>
                <a:ea typeface="Microsoft YaHei" panose="020B0503020204020204" pitchFamily="34" charset="-122"/>
              </a:rPr>
              <a:t>Torch</a:t>
            </a:r>
            <a:r>
              <a:rPr lang="zh-CN" altLang="en-US" sz="2000" dirty="0">
                <a:effectLst/>
                <a:latin typeface="Microsoft YaHei" panose="020B0503020204020204" pitchFamily="34" charset="-122"/>
                <a:ea typeface="Microsoft YaHei" panose="020B0503020204020204" pitchFamily="34" charset="-122"/>
              </a:rPr>
              <a:t>的上层包装。</a:t>
            </a:r>
          </a:p>
          <a:p>
            <a:pPr lvl="2"/>
            <a:r>
              <a:rPr lang="zh-CN" altLang="en-US" sz="2000" dirty="0">
                <a:effectLst/>
                <a:latin typeface="Microsoft YaHei" panose="020B0503020204020204" pitchFamily="34" charset="-122"/>
                <a:ea typeface="Microsoft YaHei" panose="020B0503020204020204" pitchFamily="34" charset="-122"/>
              </a:rPr>
              <a:t>注：</a:t>
            </a:r>
            <a:r>
              <a:rPr lang="en" altLang="zh-CN" sz="2000" dirty="0">
                <a:effectLst/>
                <a:latin typeface="Microsoft YaHei" panose="020B0503020204020204" pitchFamily="34" charset="-122"/>
                <a:ea typeface="Microsoft YaHei" panose="020B0503020204020204" pitchFamily="34" charset="-122"/>
              </a:rPr>
              <a:t>LUA</a:t>
            </a:r>
            <a:r>
              <a:rPr lang="zh-CN" altLang="en-US" sz="2000" dirty="0">
                <a:effectLst/>
                <a:latin typeface="Microsoft YaHei" panose="020B0503020204020204" pitchFamily="34" charset="-122"/>
                <a:ea typeface="Microsoft YaHei" panose="020B0503020204020204" pitchFamily="34" charset="-122"/>
              </a:rPr>
              <a:t>虽然快，但是太小众了，所以才会有</a:t>
            </a:r>
            <a:r>
              <a:rPr lang="en" altLang="zh-CN" sz="2000" dirty="0" err="1">
                <a:effectLst/>
                <a:latin typeface="Microsoft YaHei" panose="020B0503020204020204" pitchFamily="34" charset="-122"/>
                <a:ea typeface="Microsoft YaHei" panose="020B0503020204020204" pitchFamily="34" charset="-122"/>
              </a:rPr>
              <a:t>PyTorch</a:t>
            </a:r>
            <a:r>
              <a:rPr lang="zh-CN" altLang="en-US" sz="2000" dirty="0">
                <a:effectLst/>
                <a:latin typeface="Microsoft YaHei" panose="020B0503020204020204" pitchFamily="34" charset="-122"/>
                <a:ea typeface="Microsoft YaHei" panose="020B0503020204020204" pitchFamily="34" charset="-122"/>
              </a:rPr>
              <a:t>的出现。</a:t>
            </a:r>
          </a:p>
          <a:p>
            <a:pPr marL="742950" lvl="1" indent="-285750">
              <a:buFont typeface="Wingdings" pitchFamily="2" charset="2"/>
              <a:buChar char="p"/>
            </a:pPr>
            <a:r>
              <a:rPr lang="en" altLang="zh-CN" sz="2000" dirty="0" err="1">
                <a:solidFill>
                  <a:srgbClr val="002060"/>
                </a:solidFill>
                <a:latin typeface="Microsoft YaHei" panose="020B0503020204020204" pitchFamily="34" charset="-122"/>
                <a:ea typeface="Microsoft YaHei" panose="020B0503020204020204" pitchFamily="34" charset="-122"/>
              </a:rPr>
              <a:t>PyTorch</a:t>
            </a:r>
            <a:r>
              <a:rPr lang="zh-CN" altLang="en-US" sz="2000" dirty="0">
                <a:solidFill>
                  <a:srgbClr val="002060"/>
                </a:solidFill>
                <a:latin typeface="Microsoft YaHei" panose="020B0503020204020204" pitchFamily="34" charset="-122"/>
                <a:ea typeface="Microsoft YaHei" panose="020B0503020204020204" pitchFamily="34" charset="-122"/>
              </a:rPr>
              <a:t>和</a:t>
            </a:r>
            <a:r>
              <a:rPr lang="en" altLang="zh-CN" sz="2000" dirty="0">
                <a:solidFill>
                  <a:srgbClr val="002060"/>
                </a:solidFill>
                <a:latin typeface="Microsoft YaHei" panose="020B0503020204020204" pitchFamily="34" charset="-122"/>
                <a:ea typeface="Microsoft YaHei" panose="020B0503020204020204" pitchFamily="34" charset="-122"/>
              </a:rPr>
              <a:t>Torch</a:t>
            </a:r>
            <a:r>
              <a:rPr lang="zh-CN" altLang="en-US" sz="2000" dirty="0">
                <a:solidFill>
                  <a:srgbClr val="002060"/>
                </a:solidFill>
                <a:latin typeface="Microsoft YaHei" panose="020B0503020204020204" pitchFamily="34" charset="-122"/>
                <a:ea typeface="Microsoft YaHei" panose="020B0503020204020204" pitchFamily="34" charset="-122"/>
              </a:rPr>
              <a:t>使用包含所有相同性能的</a:t>
            </a:r>
            <a:r>
              <a:rPr lang="en" altLang="zh-CN" sz="2000" dirty="0">
                <a:solidFill>
                  <a:srgbClr val="002060"/>
                </a:solidFill>
                <a:latin typeface="Microsoft YaHei" panose="020B0503020204020204" pitchFamily="34" charset="-122"/>
                <a:ea typeface="Microsoft YaHei" panose="020B0503020204020204" pitchFamily="34" charset="-122"/>
              </a:rPr>
              <a:t>C</a:t>
            </a:r>
            <a:r>
              <a:rPr lang="zh-CN" altLang="en-US" sz="2000" dirty="0">
                <a:solidFill>
                  <a:srgbClr val="002060"/>
                </a:solidFill>
                <a:latin typeface="Microsoft YaHei" panose="020B0503020204020204" pitchFamily="34" charset="-122"/>
                <a:ea typeface="Microsoft YaHei" panose="020B0503020204020204" pitchFamily="34" charset="-122"/>
              </a:rPr>
              <a:t>库</a:t>
            </a:r>
            <a:r>
              <a:rPr lang="zh-CN" altLang="en-US" sz="2000" dirty="0">
                <a:effectLst/>
                <a:latin typeface="Microsoft YaHei" panose="020B0503020204020204" pitchFamily="34" charset="-122"/>
                <a:ea typeface="Microsoft YaHei" panose="020B0503020204020204" pitchFamily="34" charset="-122"/>
              </a:rPr>
              <a:t>：</a:t>
            </a:r>
            <a:r>
              <a:rPr lang="en" altLang="zh-CN" sz="2000" dirty="0">
                <a:effectLst/>
                <a:latin typeface="Microsoft YaHei" panose="020B0503020204020204" pitchFamily="34" charset="-122"/>
                <a:ea typeface="Microsoft YaHei" panose="020B0503020204020204" pitchFamily="34" charset="-122"/>
              </a:rPr>
              <a:t>TH, THC, THNN, THCUNN</a:t>
            </a:r>
            <a:r>
              <a:rPr lang="zh-CN" altLang="en" sz="2000" dirty="0">
                <a:effectLst/>
                <a:latin typeface="Microsoft YaHei" panose="020B0503020204020204" pitchFamily="34" charset="-122"/>
                <a:ea typeface="Microsoft YaHei" panose="020B0503020204020204" pitchFamily="34" charset="-122"/>
              </a:rPr>
              <a:t>，</a:t>
            </a:r>
            <a:r>
              <a:rPr lang="zh-CN" altLang="en-US" sz="2000" dirty="0">
                <a:effectLst/>
                <a:latin typeface="Microsoft YaHei" panose="020B0503020204020204" pitchFamily="34" charset="-122"/>
                <a:ea typeface="Microsoft YaHei" panose="020B0503020204020204" pitchFamily="34" charset="-122"/>
              </a:rPr>
              <a:t>但使用了不同的上层包装语言。主要由</a:t>
            </a:r>
            <a:r>
              <a:rPr lang="en" altLang="zh-CN" sz="2000" dirty="0">
                <a:effectLst/>
                <a:latin typeface="Microsoft YaHei" panose="020B0503020204020204" pitchFamily="34" charset="-122"/>
                <a:ea typeface="Microsoft YaHei" panose="020B0503020204020204" pitchFamily="34" charset="-122"/>
              </a:rPr>
              <a:t>Facebook</a:t>
            </a:r>
            <a:r>
              <a:rPr lang="zh-CN" altLang="en-US" sz="2000" dirty="0">
                <a:effectLst/>
                <a:latin typeface="Microsoft YaHei" panose="020B0503020204020204" pitchFamily="34" charset="-122"/>
                <a:ea typeface="Microsoft YaHei" panose="020B0503020204020204" pitchFamily="34" charset="-122"/>
              </a:rPr>
              <a:t>的人工智能研究小组开发。</a:t>
            </a:r>
            <a:r>
              <a:rPr lang="en" altLang="zh-CN" sz="2000" dirty="0">
                <a:effectLst/>
                <a:latin typeface="Microsoft YaHei" panose="020B0503020204020204" pitchFamily="34" charset="-122"/>
                <a:ea typeface="Microsoft YaHei" panose="020B0503020204020204" pitchFamily="34" charset="-122"/>
              </a:rPr>
              <a:t>Uber</a:t>
            </a:r>
            <a:r>
              <a:rPr lang="zh-CN" altLang="en-US" sz="2000" dirty="0">
                <a:effectLst/>
                <a:latin typeface="Microsoft YaHei" panose="020B0503020204020204" pitchFamily="34" charset="-122"/>
                <a:ea typeface="Microsoft YaHei" panose="020B0503020204020204" pitchFamily="34" charset="-122"/>
              </a:rPr>
              <a:t>的</a:t>
            </a:r>
            <a:r>
              <a:rPr lang="en-US" altLang="zh-CN" sz="2000" dirty="0">
                <a:effectLst/>
                <a:latin typeface="Microsoft YaHei" panose="020B0503020204020204" pitchFamily="34" charset="-122"/>
                <a:ea typeface="Microsoft YaHei" panose="020B0503020204020204" pitchFamily="34" charset="-122"/>
              </a:rPr>
              <a:t>"</a:t>
            </a:r>
            <a:r>
              <a:rPr lang="en" altLang="zh-CN" sz="2000" dirty="0">
                <a:effectLst/>
                <a:latin typeface="Microsoft YaHei" panose="020B0503020204020204" pitchFamily="34" charset="-122"/>
                <a:ea typeface="Microsoft YaHei" panose="020B0503020204020204" pitchFamily="34" charset="-122"/>
              </a:rPr>
              <a:t>Pyro"</a:t>
            </a:r>
            <a:r>
              <a:rPr lang="zh-CN" altLang="en-US" sz="2000" dirty="0">
                <a:effectLst/>
                <a:latin typeface="Microsoft YaHei" panose="020B0503020204020204" pitchFamily="34" charset="-122"/>
                <a:ea typeface="Microsoft YaHei" panose="020B0503020204020204" pitchFamily="34" charset="-122"/>
              </a:rPr>
              <a:t>也是使用的这个库。</a:t>
            </a:r>
            <a:endParaRPr lang="en-US" altLang="zh-CN" sz="2000" dirty="0">
              <a:effectLst/>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884107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a:t>
            </a:r>
            <a:r>
              <a:rPr lang="en-US" altLang="zh-CN" dirty="0"/>
              <a:t>1</a:t>
            </a:r>
            <a:r>
              <a:rPr lang="zh-CN" altLang="en-US" dirty="0"/>
              <a:t>）深度学习框架</a:t>
            </a:r>
            <a:r>
              <a:rPr lang="en-US" altLang="zh-CN" dirty="0"/>
              <a:t>——</a:t>
            </a:r>
            <a:r>
              <a:rPr lang="en-US" altLang="zh-CN" dirty="0" err="1"/>
              <a:t>PyTorch</a:t>
            </a:r>
            <a:endParaRPr lang="zh-CN" altLang="en-US" dirty="0"/>
          </a:p>
        </p:txBody>
      </p:sp>
      <p:sp>
        <p:nvSpPr>
          <p:cNvPr id="7" name="内容占位符 2">
            <a:extLst>
              <a:ext uri="{FF2B5EF4-FFF2-40B4-BE49-F238E27FC236}">
                <a16:creationId xmlns:a16="http://schemas.microsoft.com/office/drawing/2014/main" id="{F1F9FD90-69AE-8957-38B8-1228BD2420D6}"/>
              </a:ext>
            </a:extLst>
          </p:cNvPr>
          <p:cNvSpPr txBox="1">
            <a:spLocks/>
          </p:cNvSpPr>
          <p:nvPr/>
        </p:nvSpPr>
        <p:spPr>
          <a:xfrm>
            <a:off x="273403" y="830418"/>
            <a:ext cx="11577531" cy="2421000"/>
          </a:xfrm>
          <a:prstGeom prst="rect">
            <a:avLst/>
          </a:prstGeom>
        </p:spPr>
        <p:txBody>
          <a:bodyPr>
            <a:noAutofit/>
          </a:bodyPr>
          <a:lstStyle>
            <a:lvl1pPr marL="266400" indent="-266400" algn="l" defTabSz="914400" rtl="0" eaLnBrk="1" latinLnBrk="0" hangingPunct="1">
              <a:lnSpc>
                <a:spcPct val="150000"/>
              </a:lnSpc>
              <a:spcBef>
                <a:spcPts val="720"/>
              </a:spcBef>
              <a:spcAft>
                <a:spcPts val="240"/>
              </a:spcAft>
              <a:buFont typeface="Wingdings" pitchFamily="2" charset="2"/>
              <a:buChar char=""/>
              <a:defRPr sz="2000" b="1" kern="1200" baseline="0">
                <a:solidFill>
                  <a:srgbClr val="333333"/>
                </a:solidFill>
                <a:latin typeface="Georgia" panose="02040502050405020303" pitchFamily="18" charset="0"/>
                <a:ea typeface="微软雅黑" pitchFamily="34" charset="-122"/>
                <a:cs typeface="+mn-cs"/>
              </a:defRPr>
            </a:lvl1pPr>
            <a:lvl2pPr marL="712800" indent="-270000" algn="l" defTabSz="914400" rtl="0" eaLnBrk="1" latinLnBrk="0" hangingPunct="1">
              <a:lnSpc>
                <a:spcPct val="150000"/>
              </a:lnSpc>
              <a:spcBef>
                <a:spcPts val="36"/>
              </a:spcBef>
              <a:spcAft>
                <a:spcPts val="12"/>
              </a:spcAft>
              <a:buFont typeface="Arial" pitchFamily="34" charset="0"/>
              <a:buChar char="–"/>
              <a:defRPr sz="1800" b="1" kern="1200" baseline="0">
                <a:solidFill>
                  <a:srgbClr val="333333"/>
                </a:solidFill>
                <a:latin typeface="Georgia" panose="02040502050405020303" pitchFamily="18" charset="0"/>
                <a:ea typeface="微软雅黑" pitchFamily="34" charset="-122"/>
                <a:cs typeface="+mn-cs"/>
              </a:defRPr>
            </a:lvl2pPr>
            <a:lvl3pPr marL="1072800" indent="-176400" algn="l" defTabSz="914400" rtl="0" eaLnBrk="1" latinLnBrk="0" hangingPunct="1">
              <a:lnSpc>
                <a:spcPct val="150000"/>
              </a:lnSpc>
              <a:spcBef>
                <a:spcPts val="36"/>
              </a:spcBef>
              <a:spcAft>
                <a:spcPts val="12"/>
              </a:spcAft>
              <a:buFont typeface="Arial" pitchFamily="34" charset="0"/>
              <a:buChar char="•"/>
              <a:defRPr sz="1600" b="1" kern="1200" baseline="0">
                <a:solidFill>
                  <a:srgbClr val="333333"/>
                </a:solidFill>
                <a:latin typeface="Georgia" panose="02040502050405020303" pitchFamily="18" charset="0"/>
                <a:ea typeface="微软雅黑" pitchFamily="34" charset="-122"/>
                <a:cs typeface="+mn-cs"/>
              </a:defRPr>
            </a:lvl3pPr>
            <a:lvl4pPr marL="1440000" indent="-1872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4pPr>
            <a:lvl5pPr marL="2057400" indent="-228600" algn="l" defTabSz="914400" rtl="0" eaLnBrk="1" latinLnBrk="0" hangingPunct="1">
              <a:lnSpc>
                <a:spcPct val="150000"/>
              </a:lnSpc>
              <a:spcBef>
                <a:spcPts val="504"/>
              </a:spcBef>
              <a:spcAft>
                <a:spcPts val="168"/>
              </a:spcAft>
              <a:buFont typeface="Arial" pitchFamily="34" charset="0"/>
              <a:buChar char="»"/>
              <a:defRPr sz="1400" b="1" kern="1200" baseline="0">
                <a:solidFill>
                  <a:srgbClr val="333333"/>
                </a:solidFill>
                <a:latin typeface="Georgia" panose="02040502050405020303" pitchFamily="18" charset="0"/>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itchFamily="2" charset="2"/>
              <a:buChar char="p"/>
            </a:pPr>
            <a:r>
              <a:rPr kumimoji="1" lang="en-US" altLang="zh-CN" b="0" dirty="0" err="1">
                <a:latin typeface="Microsoft YaHei" panose="020B0503020204020204" pitchFamily="34" charset="-122"/>
                <a:ea typeface="Microsoft YaHei" panose="020B0503020204020204" pitchFamily="34" charset="-122"/>
              </a:rPr>
              <a:t>PyTorch</a:t>
            </a:r>
            <a:r>
              <a:rPr kumimoji="1" lang="zh-CN" altLang="en-US" b="0" dirty="0">
                <a:latin typeface="Microsoft YaHei" panose="020B0503020204020204" pitchFamily="34" charset="-122"/>
                <a:ea typeface="Microsoft YaHei" panose="020B0503020204020204" pitchFamily="34" charset="-122"/>
              </a:rPr>
              <a:t>环境搭建</a:t>
            </a:r>
          </a:p>
          <a:p>
            <a:pPr marL="742950" lvl="1" indent="-285750">
              <a:buFont typeface="Wingdings" pitchFamily="2" charset="2"/>
              <a:buChar char="p"/>
            </a:pPr>
            <a:r>
              <a:rPr lang="en" altLang="zh-CN" b="0" dirty="0" err="1">
                <a:solidFill>
                  <a:srgbClr val="002060"/>
                </a:solidFill>
                <a:latin typeface="Microsoft YaHei" panose="020B0503020204020204" pitchFamily="34" charset="-122"/>
                <a:ea typeface="Microsoft YaHei" panose="020B0503020204020204" pitchFamily="34" charset="-122"/>
              </a:rPr>
              <a:t>PyTorch</a:t>
            </a:r>
            <a:r>
              <a:rPr lang="zh-CN" altLang="en-US" b="0" dirty="0">
                <a:solidFill>
                  <a:srgbClr val="002060"/>
                </a:solidFill>
                <a:latin typeface="Microsoft YaHei" panose="020B0503020204020204" pitchFamily="34" charset="-122"/>
                <a:ea typeface="Microsoft YaHei" panose="020B0503020204020204" pitchFamily="34" charset="-122"/>
              </a:rPr>
              <a:t>的安装十分简单</a:t>
            </a:r>
            <a:r>
              <a:rPr lang="zh-CN" altLang="en-US" b="0" dirty="0">
                <a:latin typeface="Microsoft YaHei" panose="020B0503020204020204" pitchFamily="34" charset="-122"/>
                <a:ea typeface="Microsoft YaHei" panose="020B0503020204020204" pitchFamily="34" charset="-122"/>
              </a:rPr>
              <a:t>，根据</a:t>
            </a:r>
            <a:r>
              <a:rPr lang="en" altLang="zh-CN" b="0" dirty="0" err="1">
                <a:solidFill>
                  <a:srgbClr val="002060"/>
                </a:solidFill>
                <a:latin typeface="Microsoft YaHei" panose="020B0503020204020204" pitchFamily="34" charset="-122"/>
                <a:ea typeface="Microsoft YaHei" panose="020B0503020204020204" pitchFamily="34" charset="-122"/>
              </a:rPr>
              <a:t>PyTorch</a:t>
            </a:r>
            <a:r>
              <a:rPr lang="zh-CN" altLang="en-US" b="0" dirty="0">
                <a:solidFill>
                  <a:srgbClr val="002060"/>
                </a:solidFill>
                <a:latin typeface="Microsoft YaHei" panose="020B0503020204020204" pitchFamily="34" charset="-122"/>
                <a:ea typeface="Microsoft YaHei" panose="020B0503020204020204" pitchFamily="34" charset="-122"/>
              </a:rPr>
              <a:t>官网</a:t>
            </a:r>
            <a:r>
              <a:rPr lang="en-US" altLang="zh-CN" b="0" dirty="0">
                <a:latin typeface="Microsoft YaHei" panose="020B0503020204020204" pitchFamily="34" charset="-122"/>
                <a:ea typeface="Microsoft YaHei" panose="020B0503020204020204" pitchFamily="34" charset="-122"/>
                <a:cs typeface="Times New Roman" panose="02020603050405020304" pitchFamily="18" charset="0"/>
              </a:rPr>
              <a:t>(https://</a:t>
            </a:r>
            <a:r>
              <a:rPr lang="en-US" altLang="zh-CN" b="0" dirty="0" err="1">
                <a:latin typeface="Microsoft YaHei" panose="020B0503020204020204" pitchFamily="34" charset="-122"/>
                <a:ea typeface="Microsoft YaHei" panose="020B0503020204020204" pitchFamily="34" charset="-122"/>
                <a:cs typeface="Times New Roman" panose="02020603050405020304" pitchFamily="18" charset="0"/>
              </a:rPr>
              <a:t>pytorch.org</a:t>
            </a:r>
            <a:r>
              <a:rPr lang="en-US" altLang="zh-CN" b="0" dirty="0">
                <a:latin typeface="Microsoft YaHei" panose="020B0503020204020204" pitchFamily="34" charset="-122"/>
                <a:ea typeface="Microsoft YaHei" panose="020B0503020204020204" pitchFamily="34" charset="-122"/>
                <a:cs typeface="Times New Roman" panose="02020603050405020304" pitchFamily="18" charset="0"/>
              </a:rPr>
              <a:t>/)</a:t>
            </a:r>
            <a:r>
              <a:rPr lang="zh-CN" altLang="zh-CN" b="0" dirty="0">
                <a:latin typeface="Microsoft YaHei" panose="020B0503020204020204" pitchFamily="34" charset="-122"/>
                <a:ea typeface="Microsoft YaHei" panose="020B0503020204020204" pitchFamily="34" charset="-122"/>
              </a:rPr>
              <a:t> </a:t>
            </a:r>
            <a:r>
              <a:rPr lang="zh-CN" altLang="en-US" b="0" dirty="0">
                <a:latin typeface="Microsoft YaHei" panose="020B0503020204020204" pitchFamily="34" charset="-122"/>
                <a:ea typeface="Microsoft YaHei" panose="020B0503020204020204" pitchFamily="34" charset="-122"/>
              </a:rPr>
              <a:t>，对系统选择和安装方式等灵活选择即可。</a:t>
            </a:r>
          </a:p>
          <a:p>
            <a:pPr marL="742950" lvl="1" indent="-285750">
              <a:buFont typeface="Wingdings" pitchFamily="2" charset="2"/>
              <a:buChar char="p"/>
            </a:pPr>
            <a:r>
              <a:rPr lang="zh-CN" altLang="en-US" b="0" dirty="0">
                <a:latin typeface="Microsoft YaHei" panose="020B0503020204020204" pitchFamily="34" charset="-122"/>
                <a:ea typeface="Microsoft YaHei" panose="020B0503020204020204" pitchFamily="34" charset="-122"/>
              </a:rPr>
              <a:t>在</a:t>
            </a:r>
            <a:r>
              <a:rPr lang="en-US" altLang="zh-CN" b="0" dirty="0">
                <a:latin typeface="Microsoft YaHei" panose="020B0503020204020204" pitchFamily="34" charset="-122"/>
                <a:ea typeface="Microsoft YaHei" panose="020B0503020204020204" pitchFamily="34" charset="-122"/>
              </a:rPr>
              <a:t>1.2</a:t>
            </a:r>
            <a:r>
              <a:rPr lang="zh-CN" altLang="en-US" b="0" dirty="0">
                <a:latin typeface="Microsoft YaHei" panose="020B0503020204020204" pitchFamily="34" charset="-122"/>
                <a:ea typeface="Microsoft YaHei" panose="020B0503020204020204" pitchFamily="34" charset="-122"/>
              </a:rPr>
              <a:t>版本以后，</a:t>
            </a:r>
            <a:r>
              <a:rPr lang="en" altLang="zh-CN" b="0" dirty="0" err="1">
                <a:latin typeface="Microsoft YaHei" panose="020B0503020204020204" pitchFamily="34" charset="-122"/>
                <a:ea typeface="Microsoft YaHei" panose="020B0503020204020204" pitchFamily="34" charset="-122"/>
              </a:rPr>
              <a:t>pytorch</a:t>
            </a:r>
            <a:r>
              <a:rPr lang="zh-CN" altLang="en-US" b="0" dirty="0">
                <a:latin typeface="Microsoft YaHei" panose="020B0503020204020204" pitchFamily="34" charset="-122"/>
                <a:ea typeface="Microsoft YaHei" panose="020B0503020204020204" pitchFamily="34" charset="-122"/>
              </a:rPr>
              <a:t>只支持</a:t>
            </a:r>
            <a:r>
              <a:rPr lang="en" altLang="zh-CN" b="0" dirty="0" err="1">
                <a:latin typeface="Microsoft YaHei" panose="020B0503020204020204" pitchFamily="34" charset="-122"/>
                <a:ea typeface="Microsoft YaHei" panose="020B0503020204020204" pitchFamily="34" charset="-122"/>
              </a:rPr>
              <a:t>cuda</a:t>
            </a:r>
            <a:r>
              <a:rPr lang="en" altLang="zh-CN" b="0" dirty="0">
                <a:latin typeface="Microsoft YaHei" panose="020B0503020204020204" pitchFamily="34" charset="-122"/>
                <a:ea typeface="Microsoft YaHei" panose="020B0503020204020204" pitchFamily="34" charset="-122"/>
              </a:rPr>
              <a:t> 9.2</a:t>
            </a:r>
            <a:r>
              <a:rPr lang="zh-CN" altLang="en-US" b="0" dirty="0">
                <a:latin typeface="Microsoft YaHei" panose="020B0503020204020204" pitchFamily="34" charset="-122"/>
                <a:ea typeface="Microsoft YaHei" panose="020B0503020204020204" pitchFamily="34" charset="-122"/>
              </a:rPr>
              <a:t>以上了，所以需要对</a:t>
            </a:r>
            <a:r>
              <a:rPr lang="en" altLang="zh-CN" b="0" dirty="0" err="1">
                <a:latin typeface="Microsoft YaHei" panose="020B0503020204020204" pitchFamily="34" charset="-122"/>
                <a:ea typeface="Microsoft YaHei" panose="020B0503020204020204" pitchFamily="34" charset="-122"/>
              </a:rPr>
              <a:t>cuda</a:t>
            </a:r>
            <a:r>
              <a:rPr lang="zh-CN" altLang="en-US" b="0" dirty="0">
                <a:latin typeface="Microsoft YaHei" panose="020B0503020204020204" pitchFamily="34" charset="-122"/>
                <a:ea typeface="Microsoft YaHei" panose="020B0503020204020204" pitchFamily="34" charset="-122"/>
              </a:rPr>
              <a:t>进行升级</a:t>
            </a:r>
            <a:endParaRPr lang="en-US" altLang="zh-CN" b="0" dirty="0">
              <a:latin typeface="Microsoft YaHei" panose="020B0503020204020204" pitchFamily="34" charset="-122"/>
              <a:ea typeface="Microsoft YaHei" panose="020B0503020204020204" pitchFamily="34" charset="-122"/>
            </a:endParaRPr>
          </a:p>
          <a:p>
            <a:pPr marL="742950" lvl="1" indent="-285750">
              <a:buFont typeface="Wingdings" pitchFamily="2" charset="2"/>
              <a:buChar char="p"/>
            </a:pPr>
            <a:r>
              <a:rPr lang="zh-CN" altLang="en-US" b="0" dirty="0">
                <a:latin typeface="Microsoft YaHei" panose="020B0503020204020204" pitchFamily="34" charset="-122"/>
                <a:ea typeface="Microsoft YaHei" panose="020B0503020204020204" pitchFamily="34" charset="-122"/>
              </a:rPr>
              <a:t>目前测试大部分显卡都可以用，包括笔记本的</a:t>
            </a:r>
            <a:r>
              <a:rPr lang="en" altLang="zh-CN" b="0" dirty="0">
                <a:latin typeface="Microsoft YaHei" panose="020B0503020204020204" pitchFamily="34" charset="-122"/>
                <a:ea typeface="Microsoft YaHei" panose="020B0503020204020204" pitchFamily="34" charset="-122"/>
              </a:rPr>
              <a:t>MX250</a:t>
            </a:r>
            <a:r>
              <a:rPr lang="zh-CN" altLang="en-US" b="0" dirty="0">
                <a:latin typeface="Microsoft YaHei" panose="020B0503020204020204" pitchFamily="34" charset="-122"/>
                <a:ea typeface="Microsoft YaHei" panose="020B0503020204020204" pitchFamily="34" charset="-122"/>
              </a:rPr>
              <a:t>也是可以顺利升级到</a:t>
            </a:r>
            <a:r>
              <a:rPr lang="en" altLang="zh-CN" b="0" dirty="0" err="1">
                <a:latin typeface="Microsoft YaHei" panose="020B0503020204020204" pitchFamily="34" charset="-122"/>
                <a:ea typeface="Microsoft YaHei" panose="020B0503020204020204" pitchFamily="34" charset="-122"/>
              </a:rPr>
              <a:t>cuda</a:t>
            </a:r>
            <a:r>
              <a:rPr lang="en" altLang="zh-CN" b="0" dirty="0">
                <a:latin typeface="Microsoft YaHei" panose="020B0503020204020204" pitchFamily="34" charset="-122"/>
                <a:ea typeface="Microsoft YaHei" panose="020B0503020204020204" pitchFamily="34" charset="-122"/>
              </a:rPr>
              <a:t> 10.1</a:t>
            </a:r>
            <a:r>
              <a:rPr lang="zh-CN" altLang="en" b="0" dirty="0">
                <a:latin typeface="Microsoft YaHei" panose="020B0503020204020204" pitchFamily="34" charset="-122"/>
                <a:ea typeface="Microsoft YaHei" panose="020B0503020204020204" pitchFamily="34" charset="-122"/>
              </a:rPr>
              <a:t>。</a:t>
            </a:r>
            <a:endParaRPr lang="en-US" altLang="zh-CN" b="0" dirty="0">
              <a:latin typeface="Microsoft YaHei" panose="020B0503020204020204" pitchFamily="34" charset="-122"/>
              <a:ea typeface="Microsoft YaHei" panose="020B0503020204020204" pitchFamily="34" charset="-122"/>
            </a:endParaRPr>
          </a:p>
        </p:txBody>
      </p:sp>
      <p:pic>
        <p:nvPicPr>
          <p:cNvPr id="8" name="图片 6">
            <a:extLst>
              <a:ext uri="{FF2B5EF4-FFF2-40B4-BE49-F238E27FC236}">
                <a16:creationId xmlns:a16="http://schemas.microsoft.com/office/drawing/2014/main" id="{F9B18EAF-5B1D-1616-E286-96EBEECBBA08}"/>
              </a:ext>
            </a:extLst>
          </p:cNvPr>
          <p:cNvPicPr>
            <a:picLocks noChangeAspect="1"/>
          </p:cNvPicPr>
          <p:nvPr/>
        </p:nvPicPr>
        <p:blipFill>
          <a:blip r:embed="rId2" cstate="print">
            <a:extLst>
              <a:ext uri="{28A0092B-C50C-407E-A947-70E740481C1C}">
                <a14:useLocalDpi xmlns:a14="http://schemas.microsoft.com/office/drawing/2010/main" val="0"/>
              </a:ext>
            </a:extLst>
          </a:blip>
          <a:srcRect b="24209"/>
          <a:stretch/>
        </p:blipFill>
        <p:spPr>
          <a:xfrm>
            <a:off x="631958" y="3255190"/>
            <a:ext cx="6852268" cy="2846407"/>
          </a:xfrm>
          <a:prstGeom prst="rect">
            <a:avLst/>
          </a:prstGeom>
        </p:spPr>
      </p:pic>
    </p:spTree>
    <p:extLst>
      <p:ext uri="{BB962C8B-B14F-4D97-AF65-F5344CB8AC3E}">
        <p14:creationId xmlns:p14="http://schemas.microsoft.com/office/powerpoint/2010/main" val="597369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a:t>
            </a:r>
            <a:r>
              <a:rPr lang="en-US" altLang="zh-CN" dirty="0"/>
              <a:t>2</a:t>
            </a:r>
            <a:r>
              <a:rPr lang="zh-CN" altLang="en-US" dirty="0"/>
              <a:t>）深度学习框架</a:t>
            </a:r>
            <a:r>
              <a:rPr lang="en-US" altLang="zh-CN" dirty="0"/>
              <a:t>——TensorFlow</a:t>
            </a:r>
            <a:endParaRPr lang="zh-CN" altLang="en-US" dirty="0"/>
          </a:p>
        </p:txBody>
      </p:sp>
      <p:sp>
        <p:nvSpPr>
          <p:cNvPr id="3" name="TextBox 2">
            <a:extLst>
              <a:ext uri="{FF2B5EF4-FFF2-40B4-BE49-F238E27FC236}">
                <a16:creationId xmlns:a16="http://schemas.microsoft.com/office/drawing/2014/main" id="{F9C49D56-F109-38A0-F362-27736C3E8A18}"/>
              </a:ext>
            </a:extLst>
          </p:cNvPr>
          <p:cNvSpPr txBox="1"/>
          <p:nvPr/>
        </p:nvSpPr>
        <p:spPr>
          <a:xfrm>
            <a:off x="439615" y="1077924"/>
            <a:ext cx="11298116" cy="2862322"/>
          </a:xfrm>
          <a:prstGeom prst="rect">
            <a:avLst/>
          </a:prstGeom>
          <a:noFill/>
        </p:spPr>
        <p:txBody>
          <a:bodyPr wrap="square" rtlCol="0">
            <a:spAutoFit/>
          </a:bodyPr>
          <a:lstStyle/>
          <a:p>
            <a:pPr marL="285750" indent="-285750">
              <a:buFont typeface="Wingdings" pitchFamily="2" charset="2"/>
              <a:buChar char="v"/>
            </a:pPr>
            <a:r>
              <a:rPr lang="en-US" dirty="0"/>
              <a:t>TensorFlow </a:t>
            </a:r>
            <a:r>
              <a:rPr lang="zh-CN" altLang="en-US" dirty="0"/>
              <a:t>是由 </a:t>
            </a:r>
            <a:r>
              <a:rPr lang="en-US" dirty="0"/>
              <a:t>Google </a:t>
            </a:r>
            <a:r>
              <a:rPr lang="zh-CN" altLang="en-US" dirty="0"/>
              <a:t>开发的一个开源深度学习框架，广泛应用于机器学习、神经网络训练与推理。它支持分布式计算、灵活的部署平台，并且具有强大的社区支持。</a:t>
            </a:r>
          </a:p>
          <a:p>
            <a:pPr marL="285750" indent="-285750">
              <a:buFont typeface="Wingdings" pitchFamily="2" charset="2"/>
              <a:buChar char="v"/>
            </a:pPr>
            <a:r>
              <a:rPr lang="zh-CN" altLang="en-US" b="1" dirty="0"/>
              <a:t>特点：</a:t>
            </a:r>
            <a:endParaRPr lang="zh-CN" altLang="en-US" dirty="0"/>
          </a:p>
          <a:p>
            <a:pPr marL="742950" lvl="1" indent="-285750">
              <a:buFont typeface="Wingdings" pitchFamily="2" charset="2"/>
              <a:buChar char="v"/>
            </a:pPr>
            <a:r>
              <a:rPr lang="en-US" altLang="zh-CN" dirty="0"/>
              <a:t> </a:t>
            </a:r>
            <a:r>
              <a:rPr lang="zh-CN" altLang="en-US" b="1" dirty="0"/>
              <a:t>强大的社区和生态系统</a:t>
            </a:r>
            <a:r>
              <a:rPr lang="zh-CN" altLang="en-US" dirty="0"/>
              <a:t>：有着丰富的工具、库和资源，支持多种语言（如 </a:t>
            </a:r>
            <a:r>
              <a:rPr lang="en-US" dirty="0" err="1"/>
              <a:t>Python、C</a:t>
            </a:r>
            <a:r>
              <a:rPr lang="en-US" dirty="0"/>
              <a:t>++、Java </a:t>
            </a:r>
            <a:r>
              <a:rPr lang="zh-CN" altLang="en-US" dirty="0"/>
              <a:t>等）。</a:t>
            </a:r>
          </a:p>
          <a:p>
            <a:pPr marL="742950" lvl="1" indent="-285750">
              <a:buFont typeface="Wingdings" pitchFamily="2" charset="2"/>
              <a:buChar char="v"/>
            </a:pPr>
            <a:r>
              <a:rPr lang="zh-CN" altLang="en-US" b="1" dirty="0"/>
              <a:t>自动微分</a:t>
            </a:r>
            <a:r>
              <a:rPr lang="zh-CN" altLang="en-US" dirty="0"/>
              <a:t>：可以自动计算梯度，简化模型训练过程。</a:t>
            </a:r>
          </a:p>
          <a:p>
            <a:pPr marL="742950" lvl="1" indent="-285750">
              <a:buFont typeface="Wingdings" pitchFamily="2" charset="2"/>
              <a:buChar char="v"/>
            </a:pPr>
            <a:r>
              <a:rPr lang="zh-CN" altLang="en-US" b="1" dirty="0"/>
              <a:t>支持跨平台部署</a:t>
            </a:r>
            <a:r>
              <a:rPr lang="zh-CN" altLang="en-US" dirty="0"/>
              <a:t>：支持多种平台，包括移动设备、</a:t>
            </a:r>
            <a:r>
              <a:rPr lang="en-US" dirty="0"/>
              <a:t>Web </a:t>
            </a:r>
            <a:r>
              <a:rPr lang="zh-CN" altLang="en-US" dirty="0"/>
              <a:t>和嵌入式设备。</a:t>
            </a:r>
          </a:p>
          <a:p>
            <a:r>
              <a:rPr lang="en-US" altLang="zh-CN" dirty="0"/>
              <a:t>	 </a:t>
            </a:r>
            <a:r>
              <a:rPr lang="zh-CN" altLang="en-US" b="1" dirty="0"/>
              <a:t>高效的分布式训练</a:t>
            </a:r>
            <a:r>
              <a:rPr lang="zh-CN" altLang="en-US" dirty="0"/>
              <a:t>：支持在多个机器和</a:t>
            </a:r>
            <a:r>
              <a:rPr lang="en-US" dirty="0"/>
              <a:t>GPU</a:t>
            </a:r>
            <a:r>
              <a:rPr lang="zh-CN" altLang="en-US" dirty="0"/>
              <a:t>上并行训练，适合大规模的深度学习任务。</a:t>
            </a:r>
          </a:p>
          <a:p>
            <a:pPr marL="285750" indent="-285750">
              <a:buFont typeface="Wingdings" pitchFamily="2" charset="2"/>
              <a:buChar char="v"/>
            </a:pPr>
            <a:r>
              <a:rPr lang="zh-CN" altLang="en-US" b="1" dirty="0"/>
              <a:t>应用场景：</a:t>
            </a:r>
            <a:endParaRPr lang="zh-CN" altLang="en-US" dirty="0"/>
          </a:p>
          <a:p>
            <a:pPr marL="742950" lvl="1" indent="-285750">
              <a:buFont typeface="Wingdings" pitchFamily="2" charset="2"/>
              <a:buChar char="v"/>
            </a:pPr>
            <a:r>
              <a:rPr lang="en-US" altLang="zh-CN" dirty="0"/>
              <a:t> </a:t>
            </a:r>
            <a:r>
              <a:rPr lang="zh-CN" altLang="en-US" dirty="0"/>
              <a:t>图像识别、自然语言处理、推荐系统、时间序列预测等。</a:t>
            </a:r>
          </a:p>
          <a:p>
            <a:pPr marL="285750" indent="-285750">
              <a:buFont typeface="Wingdings" pitchFamily="2" charset="2"/>
              <a:buChar char="v"/>
            </a:pPr>
            <a:endParaRPr lang="en-CN" dirty="0"/>
          </a:p>
        </p:txBody>
      </p:sp>
      <p:pic>
        <p:nvPicPr>
          <p:cNvPr id="7" name="Graphic 6">
            <a:extLst>
              <a:ext uri="{FF2B5EF4-FFF2-40B4-BE49-F238E27FC236}">
                <a16:creationId xmlns:a16="http://schemas.microsoft.com/office/drawing/2014/main" id="{A23F5F73-2077-B963-464D-5DEF033195D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75112" y="3940246"/>
            <a:ext cx="3848849" cy="2480369"/>
          </a:xfrm>
          <a:prstGeom prst="rect">
            <a:avLst/>
          </a:prstGeom>
        </p:spPr>
      </p:pic>
      <p:pic>
        <p:nvPicPr>
          <p:cNvPr id="9" name="Graphic 8">
            <a:extLst>
              <a:ext uri="{FF2B5EF4-FFF2-40B4-BE49-F238E27FC236}">
                <a16:creationId xmlns:a16="http://schemas.microsoft.com/office/drawing/2014/main" id="{D847AA1F-AC60-625F-0060-19310B2B18F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811400" y="3984416"/>
            <a:ext cx="4106880" cy="2310804"/>
          </a:xfrm>
          <a:prstGeom prst="rect">
            <a:avLst/>
          </a:prstGeom>
        </p:spPr>
      </p:pic>
    </p:spTree>
    <p:extLst>
      <p:ext uri="{BB962C8B-B14F-4D97-AF65-F5344CB8AC3E}">
        <p14:creationId xmlns:p14="http://schemas.microsoft.com/office/powerpoint/2010/main" val="582205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a:t>
            </a:r>
            <a:r>
              <a:rPr lang="en-US" altLang="zh-CN" dirty="0"/>
              <a:t>3</a:t>
            </a:r>
            <a:r>
              <a:rPr lang="zh-CN" altLang="en-US" dirty="0"/>
              <a:t>） 深度学习框架</a:t>
            </a:r>
            <a:r>
              <a:rPr lang="en-US" altLang="zh-CN" dirty="0"/>
              <a:t>——TensorFlow</a:t>
            </a:r>
            <a:endParaRPr lang="zh-CN" altLang="en-US" dirty="0"/>
          </a:p>
        </p:txBody>
      </p:sp>
      <p:pic>
        <p:nvPicPr>
          <p:cNvPr id="4" name="Picture 3">
            <a:extLst>
              <a:ext uri="{FF2B5EF4-FFF2-40B4-BE49-F238E27FC236}">
                <a16:creationId xmlns:a16="http://schemas.microsoft.com/office/drawing/2014/main" id="{849EB8FD-7754-C90F-10C8-E3C9481DC375}"/>
              </a:ext>
            </a:extLst>
          </p:cNvPr>
          <p:cNvPicPr>
            <a:picLocks noChangeAspect="1"/>
          </p:cNvPicPr>
          <p:nvPr/>
        </p:nvPicPr>
        <p:blipFill>
          <a:blip r:embed="rId2"/>
          <a:stretch>
            <a:fillRect/>
          </a:stretch>
        </p:blipFill>
        <p:spPr>
          <a:xfrm>
            <a:off x="174571" y="1005683"/>
            <a:ext cx="7326159" cy="5303782"/>
          </a:xfrm>
          <a:prstGeom prst="rect">
            <a:avLst/>
          </a:prstGeom>
        </p:spPr>
      </p:pic>
      <p:pic>
        <p:nvPicPr>
          <p:cNvPr id="6" name="Graphic 5">
            <a:extLst>
              <a:ext uri="{FF2B5EF4-FFF2-40B4-BE49-F238E27FC236}">
                <a16:creationId xmlns:a16="http://schemas.microsoft.com/office/drawing/2014/main" id="{A720CEE7-8B6E-11FA-6393-21D8F9F0FF9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85821" y="1791591"/>
            <a:ext cx="4228739" cy="2379370"/>
          </a:xfrm>
          <a:prstGeom prst="rect">
            <a:avLst/>
          </a:prstGeom>
        </p:spPr>
      </p:pic>
    </p:spTree>
    <p:extLst>
      <p:ext uri="{BB962C8B-B14F-4D97-AF65-F5344CB8AC3E}">
        <p14:creationId xmlns:p14="http://schemas.microsoft.com/office/powerpoint/2010/main" val="4070113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a:t>
            </a:r>
            <a:r>
              <a:rPr lang="en-US" altLang="zh-CN" dirty="0"/>
              <a:t>4</a:t>
            </a:r>
            <a:r>
              <a:rPr lang="zh-CN" altLang="en-US" dirty="0"/>
              <a:t>）深度学习框架</a:t>
            </a:r>
            <a:r>
              <a:rPr lang="en-US" altLang="zh-CN" dirty="0"/>
              <a:t>——</a:t>
            </a:r>
            <a:r>
              <a:rPr lang="en-US" altLang="zh-CN" dirty="0" err="1"/>
              <a:t>PaddlePaddle</a:t>
            </a:r>
            <a:endParaRPr lang="zh-CN" altLang="en-US" dirty="0"/>
          </a:p>
        </p:txBody>
      </p:sp>
      <p:sp>
        <p:nvSpPr>
          <p:cNvPr id="5" name="TextBox 4">
            <a:extLst>
              <a:ext uri="{FF2B5EF4-FFF2-40B4-BE49-F238E27FC236}">
                <a16:creationId xmlns:a16="http://schemas.microsoft.com/office/drawing/2014/main" id="{74A8CA23-B1BD-3C9A-123E-9FE45402D301}"/>
              </a:ext>
            </a:extLst>
          </p:cNvPr>
          <p:cNvSpPr txBox="1"/>
          <p:nvPr/>
        </p:nvSpPr>
        <p:spPr>
          <a:xfrm>
            <a:off x="201076" y="889843"/>
            <a:ext cx="11298116" cy="5078313"/>
          </a:xfrm>
          <a:prstGeom prst="rect">
            <a:avLst/>
          </a:prstGeom>
          <a:noFill/>
        </p:spPr>
        <p:txBody>
          <a:bodyPr wrap="square" rtlCol="0">
            <a:spAutoFit/>
          </a:bodyPr>
          <a:lstStyle/>
          <a:p>
            <a:pPr marL="285750" indent="-285750">
              <a:buFont typeface="Wingdings" pitchFamily="2" charset="2"/>
              <a:buChar char="v"/>
            </a:pPr>
            <a:r>
              <a:rPr lang="en-US" dirty="0" err="1">
                <a:latin typeface="Microsoft YaHei" panose="020B0503020204020204" pitchFamily="34" charset="-122"/>
                <a:ea typeface="Microsoft YaHei" panose="020B0503020204020204" pitchFamily="34" charset="-122"/>
              </a:rPr>
              <a:t>PaddlePaddle（PArallel</a:t>
            </a:r>
            <a:r>
              <a:rPr lang="en-US" dirty="0">
                <a:latin typeface="Microsoft YaHei" panose="020B0503020204020204" pitchFamily="34" charset="-122"/>
                <a:ea typeface="Microsoft YaHei" panose="020B0503020204020204" pitchFamily="34" charset="-122"/>
              </a:rPr>
              <a:t> Distributed Deep Learning）</a:t>
            </a:r>
            <a:r>
              <a:rPr lang="zh-CN" altLang="en-US" dirty="0">
                <a:latin typeface="Microsoft YaHei" panose="020B0503020204020204" pitchFamily="34" charset="-122"/>
                <a:ea typeface="Microsoft YaHei" panose="020B0503020204020204" pitchFamily="34" charset="-122"/>
              </a:rPr>
              <a:t>是由百度开发的一个深度学习框架，专为大规模分布式训练和工业应用而设计。它支持多种主流的深度学习算法，具有易用性和灵活性。</a:t>
            </a:r>
          </a:p>
          <a:p>
            <a:pPr marL="285750" indent="-285750">
              <a:buFont typeface="Wingdings" pitchFamily="2" charset="2"/>
              <a:buChar char="v"/>
            </a:pPr>
            <a:r>
              <a:rPr lang="zh-CN" altLang="en-US" dirty="0">
                <a:latin typeface="Microsoft YaHei" panose="020B0503020204020204" pitchFamily="34" charset="-122"/>
                <a:ea typeface="Microsoft YaHei" panose="020B0503020204020204" pitchFamily="34" charset="-122"/>
              </a:rPr>
              <a:t>核心特点：</a:t>
            </a:r>
          </a:p>
          <a:p>
            <a:pPr marL="742950" lvl="1" indent="-285750">
              <a:buFont typeface="Wingdings" pitchFamily="2" charset="2"/>
              <a:buChar char="v"/>
            </a:pPr>
            <a:r>
              <a:rPr lang="zh-CN" altLang="en-US" dirty="0">
                <a:latin typeface="Microsoft YaHei" panose="020B0503020204020204" pitchFamily="34" charset="-122"/>
                <a:ea typeface="Microsoft YaHei" panose="020B0503020204020204" pitchFamily="34" charset="-122"/>
              </a:rPr>
              <a:t>易用性与灵活性：相比 </a:t>
            </a:r>
            <a:r>
              <a:rPr lang="en-US" dirty="0">
                <a:latin typeface="Microsoft YaHei" panose="020B0503020204020204" pitchFamily="34" charset="-122"/>
                <a:ea typeface="Microsoft YaHei" panose="020B0503020204020204" pitchFamily="34" charset="-122"/>
              </a:rPr>
              <a:t>TensorFlow </a:t>
            </a:r>
            <a:r>
              <a:rPr lang="zh-CN" altLang="en-US" dirty="0">
                <a:latin typeface="Microsoft YaHei" panose="020B0503020204020204" pitchFamily="34" charset="-122"/>
                <a:ea typeface="Microsoft YaHei" panose="020B0503020204020204" pitchFamily="34" charset="-122"/>
              </a:rPr>
              <a:t>和 </a:t>
            </a:r>
            <a:r>
              <a:rPr lang="en-US" dirty="0" err="1">
                <a:latin typeface="Microsoft YaHei" panose="020B0503020204020204" pitchFamily="34" charset="-122"/>
                <a:ea typeface="Microsoft YaHei" panose="020B0503020204020204" pitchFamily="34" charset="-122"/>
              </a:rPr>
              <a:t>PyTorch，PaddlePaddle</a:t>
            </a:r>
            <a:r>
              <a:rPr lang="en-US" dirty="0">
                <a:latin typeface="Microsoft YaHei" panose="020B0503020204020204" pitchFamily="34" charset="-122"/>
                <a:ea typeface="Microsoft YaHei" panose="020B0503020204020204" pitchFamily="34" charset="-122"/>
              </a:rPr>
              <a:t> </a:t>
            </a:r>
            <a:r>
              <a:rPr lang="zh-CN" altLang="en-US" dirty="0">
                <a:latin typeface="Microsoft YaHei" panose="020B0503020204020204" pitchFamily="34" charset="-122"/>
                <a:ea typeface="Microsoft YaHei" panose="020B0503020204020204" pitchFamily="34" charset="-122"/>
              </a:rPr>
              <a:t>强调“易用性”，使得开发者可以更容易上手和调试。</a:t>
            </a:r>
          </a:p>
          <a:p>
            <a:pPr marL="742950" lvl="1" indent="-285750">
              <a:buFont typeface="Wingdings" pitchFamily="2" charset="2"/>
              <a:buChar char="v"/>
            </a:pPr>
            <a:r>
              <a:rPr lang="zh-CN" altLang="en-US" dirty="0">
                <a:latin typeface="Microsoft YaHei" panose="020B0503020204020204" pitchFamily="34" charset="-122"/>
                <a:ea typeface="Microsoft YaHei" panose="020B0503020204020204" pitchFamily="34" charset="-122"/>
              </a:rPr>
              <a:t>提供了一整套深度学习工具，包括模型设计、训练、部署和推理。</a:t>
            </a:r>
          </a:p>
          <a:p>
            <a:pPr marL="285750" indent="-285750">
              <a:buFont typeface="Wingdings" pitchFamily="2" charset="2"/>
              <a:buChar char="v"/>
            </a:pPr>
            <a:r>
              <a:rPr lang="zh-CN" altLang="en-US" dirty="0">
                <a:latin typeface="Microsoft YaHei" panose="020B0503020204020204" pitchFamily="34" charset="-122"/>
                <a:ea typeface="Microsoft YaHei" panose="020B0503020204020204" pitchFamily="34" charset="-122"/>
              </a:rPr>
              <a:t>自动化机器学习：</a:t>
            </a:r>
          </a:p>
          <a:p>
            <a:pPr marL="742950" lvl="1" indent="-285750">
              <a:buFont typeface="Wingdings" pitchFamily="2" charset="2"/>
              <a:buChar char="v"/>
            </a:pPr>
            <a:r>
              <a:rPr lang="en-US" dirty="0" err="1">
                <a:latin typeface="Microsoft YaHei" panose="020B0503020204020204" pitchFamily="34" charset="-122"/>
                <a:ea typeface="Microsoft YaHei" panose="020B0503020204020204" pitchFamily="34" charset="-122"/>
              </a:rPr>
              <a:t>PaddlePaddle</a:t>
            </a:r>
            <a:r>
              <a:rPr lang="en-US" dirty="0">
                <a:latin typeface="Microsoft YaHei" panose="020B0503020204020204" pitchFamily="34" charset="-122"/>
                <a:ea typeface="Microsoft YaHei" panose="020B0503020204020204" pitchFamily="34" charset="-122"/>
              </a:rPr>
              <a:t> </a:t>
            </a:r>
            <a:r>
              <a:rPr lang="zh-CN" altLang="en-US" dirty="0">
                <a:latin typeface="Microsoft YaHei" panose="020B0503020204020204" pitchFamily="34" charset="-122"/>
                <a:ea typeface="Microsoft YaHei" panose="020B0503020204020204" pitchFamily="34" charset="-122"/>
              </a:rPr>
              <a:t>提供了 </a:t>
            </a:r>
            <a:r>
              <a:rPr lang="en-US" dirty="0" err="1">
                <a:latin typeface="Microsoft YaHei" panose="020B0503020204020204" pitchFamily="34" charset="-122"/>
                <a:ea typeface="Microsoft YaHei" panose="020B0503020204020204" pitchFamily="34" charset="-122"/>
              </a:rPr>
              <a:t>AutoDL</a:t>
            </a:r>
            <a:r>
              <a:rPr lang="en-US" dirty="0">
                <a:latin typeface="Microsoft YaHei" panose="020B0503020204020204" pitchFamily="34" charset="-122"/>
                <a:ea typeface="Microsoft YaHei" panose="020B0503020204020204" pitchFamily="34" charset="-122"/>
              </a:rPr>
              <a:t> （</a:t>
            </a:r>
            <a:r>
              <a:rPr lang="zh-CN" altLang="en-US" dirty="0">
                <a:latin typeface="Microsoft YaHei" panose="020B0503020204020204" pitchFamily="34" charset="-122"/>
                <a:ea typeface="Microsoft YaHei" panose="020B0503020204020204" pitchFamily="34" charset="-122"/>
              </a:rPr>
              <a:t>自动化深度学习）功能，能够自动搜索和优化模型结构，减少手动调参的时间。</a:t>
            </a:r>
          </a:p>
          <a:p>
            <a:pPr marL="285750" indent="-285750">
              <a:buFont typeface="Wingdings" pitchFamily="2" charset="2"/>
              <a:buChar char="v"/>
            </a:pPr>
            <a:r>
              <a:rPr lang="zh-CN" altLang="en-US" dirty="0">
                <a:latin typeface="Microsoft YaHei" panose="020B0503020204020204" pitchFamily="34" charset="-122"/>
                <a:ea typeface="Microsoft YaHei" panose="020B0503020204020204" pitchFamily="34" charset="-122"/>
              </a:rPr>
              <a:t>跨平台支持：</a:t>
            </a:r>
          </a:p>
          <a:p>
            <a:pPr marL="742950" lvl="1" indent="-285750">
              <a:buFont typeface="Wingdings" pitchFamily="2" charset="2"/>
              <a:buChar char="v"/>
            </a:pPr>
            <a:r>
              <a:rPr lang="zh-CN" altLang="en-US" dirty="0">
                <a:latin typeface="Microsoft YaHei" panose="020B0503020204020204" pitchFamily="34" charset="-122"/>
                <a:ea typeface="Microsoft YaHei" panose="020B0503020204020204" pitchFamily="34" charset="-122"/>
              </a:rPr>
              <a:t>支持在不同的硬件平台上进行高效的训练与推理，包括 </a:t>
            </a:r>
            <a:r>
              <a:rPr lang="en-US" dirty="0">
                <a:latin typeface="Microsoft YaHei" panose="020B0503020204020204" pitchFamily="34" charset="-122"/>
                <a:ea typeface="Microsoft YaHei" panose="020B0503020204020204" pitchFamily="34" charset="-122"/>
              </a:rPr>
              <a:t>CPU、GPU </a:t>
            </a:r>
            <a:r>
              <a:rPr lang="zh-CN" altLang="en-US" dirty="0">
                <a:latin typeface="Microsoft YaHei" panose="020B0503020204020204" pitchFamily="34" charset="-122"/>
                <a:ea typeface="Microsoft YaHei" panose="020B0503020204020204" pitchFamily="34" charset="-122"/>
              </a:rPr>
              <a:t>以及百度自家的 </a:t>
            </a:r>
            <a:r>
              <a:rPr lang="en-US" dirty="0">
                <a:latin typeface="Microsoft YaHei" panose="020B0503020204020204" pitchFamily="34" charset="-122"/>
                <a:ea typeface="Microsoft YaHei" panose="020B0503020204020204" pitchFamily="34" charset="-122"/>
              </a:rPr>
              <a:t>XPU </a:t>
            </a:r>
            <a:r>
              <a:rPr lang="zh-CN" altLang="en-US" dirty="0">
                <a:latin typeface="Microsoft YaHei" panose="020B0503020204020204" pitchFamily="34" charset="-122"/>
                <a:ea typeface="Microsoft YaHei" panose="020B0503020204020204" pitchFamily="34" charset="-122"/>
              </a:rPr>
              <a:t>芯片。</a:t>
            </a:r>
          </a:p>
          <a:p>
            <a:pPr marL="742950" lvl="1" indent="-285750">
              <a:buFont typeface="Wingdings" pitchFamily="2" charset="2"/>
              <a:buChar char="v"/>
            </a:pPr>
            <a:r>
              <a:rPr lang="zh-CN" altLang="en-US" dirty="0">
                <a:latin typeface="Microsoft YaHei" panose="020B0503020204020204" pitchFamily="34" charset="-122"/>
                <a:ea typeface="Microsoft YaHei" panose="020B0503020204020204" pitchFamily="34" charset="-122"/>
              </a:rPr>
              <a:t>支持在移动设备、嵌入式设备和云端平台上部署。</a:t>
            </a:r>
          </a:p>
          <a:p>
            <a:pPr marL="285750" indent="-285750">
              <a:buFont typeface="Wingdings" pitchFamily="2" charset="2"/>
              <a:buChar char="v"/>
            </a:pPr>
            <a:r>
              <a:rPr lang="zh-CN" altLang="en-US" dirty="0">
                <a:latin typeface="Microsoft YaHei" panose="020B0503020204020204" pitchFamily="34" charset="-122"/>
                <a:ea typeface="Microsoft YaHei" panose="020B0503020204020204" pitchFamily="34" charset="-122"/>
              </a:rPr>
              <a:t>高效的分布式训练：</a:t>
            </a:r>
            <a:r>
              <a:rPr lang="en-US" dirty="0" err="1">
                <a:latin typeface="Microsoft YaHei" panose="020B0503020204020204" pitchFamily="34" charset="-122"/>
                <a:ea typeface="Microsoft YaHei" panose="020B0503020204020204" pitchFamily="34" charset="-122"/>
              </a:rPr>
              <a:t>PaddlePaddle</a:t>
            </a:r>
            <a:r>
              <a:rPr lang="en-US" dirty="0">
                <a:latin typeface="Microsoft YaHei" panose="020B0503020204020204" pitchFamily="34" charset="-122"/>
                <a:ea typeface="Microsoft YaHei" panose="020B0503020204020204" pitchFamily="34" charset="-122"/>
              </a:rPr>
              <a:t> </a:t>
            </a:r>
            <a:r>
              <a:rPr lang="zh-CN" altLang="en-US" dirty="0">
                <a:latin typeface="Microsoft YaHei" panose="020B0503020204020204" pitchFamily="34" charset="-122"/>
                <a:ea typeface="Microsoft YaHei" panose="020B0503020204020204" pitchFamily="34" charset="-122"/>
              </a:rPr>
              <a:t>提供了内置的分布式训练功能，支持多 </a:t>
            </a:r>
            <a:r>
              <a:rPr lang="en-US" dirty="0">
                <a:latin typeface="Microsoft YaHei" panose="020B0503020204020204" pitchFamily="34" charset="-122"/>
                <a:ea typeface="Microsoft YaHei" panose="020B0503020204020204" pitchFamily="34" charset="-122"/>
              </a:rPr>
              <a:t>GPU、</a:t>
            </a:r>
            <a:r>
              <a:rPr lang="zh-CN" altLang="en-US" dirty="0">
                <a:latin typeface="Microsoft YaHei" panose="020B0503020204020204" pitchFamily="34" charset="-122"/>
                <a:ea typeface="Microsoft YaHei" panose="020B0503020204020204" pitchFamily="34" charset="-122"/>
              </a:rPr>
              <a:t>多节点的并行计算，能够在大规模数据集上高效训练模型。</a:t>
            </a:r>
          </a:p>
          <a:p>
            <a:pPr marL="285750" indent="-285750">
              <a:buFont typeface="Wingdings" pitchFamily="2" charset="2"/>
              <a:buChar char="v"/>
            </a:pPr>
            <a:r>
              <a:rPr lang="zh-CN" altLang="en-US" dirty="0">
                <a:latin typeface="Microsoft YaHei" panose="020B0503020204020204" pitchFamily="34" charset="-122"/>
                <a:ea typeface="Microsoft YaHei" panose="020B0503020204020204" pitchFamily="34" charset="-122"/>
              </a:rPr>
              <a:t>优势：</a:t>
            </a:r>
          </a:p>
          <a:p>
            <a:pPr marL="742950" lvl="1" indent="-285750">
              <a:buFont typeface="Wingdings" pitchFamily="2" charset="2"/>
              <a:buChar char="v"/>
            </a:pPr>
            <a:r>
              <a:rPr lang="zh-CN" altLang="en-US" dirty="0">
                <a:latin typeface="Microsoft YaHei" panose="020B0503020204020204" pitchFamily="34" charset="-122"/>
                <a:ea typeface="Microsoft YaHei" panose="020B0503020204020204" pitchFamily="34" charset="-122"/>
              </a:rPr>
              <a:t>在国内具有广泛的应用，特别是在自然语言处理（如 </a:t>
            </a:r>
            <a:r>
              <a:rPr lang="en-US" dirty="0">
                <a:latin typeface="Microsoft YaHei" panose="020B0503020204020204" pitchFamily="34" charset="-122"/>
                <a:ea typeface="Microsoft YaHei" panose="020B0503020204020204" pitchFamily="34" charset="-122"/>
              </a:rPr>
              <a:t>ERNIE </a:t>
            </a:r>
            <a:r>
              <a:rPr lang="zh-CN" altLang="en-US" dirty="0">
                <a:latin typeface="Microsoft YaHei" panose="020B0503020204020204" pitchFamily="34" charset="-122"/>
                <a:ea typeface="Microsoft YaHei" panose="020B0503020204020204" pitchFamily="34" charset="-122"/>
              </a:rPr>
              <a:t>模型）和语音识别领域。</a:t>
            </a:r>
          </a:p>
          <a:p>
            <a:pPr marL="742950" lvl="1" indent="-285750">
              <a:buFont typeface="Wingdings" pitchFamily="2" charset="2"/>
              <a:buChar char="v"/>
            </a:pPr>
            <a:r>
              <a:rPr lang="zh-CN" altLang="en-US" dirty="0">
                <a:latin typeface="Microsoft YaHei" panose="020B0503020204020204" pitchFamily="34" charset="-122"/>
                <a:ea typeface="Microsoft YaHei" panose="020B0503020204020204" pitchFamily="34" charset="-122"/>
              </a:rPr>
              <a:t>丰富的预训练模型和解决方案，适合快速上手。</a:t>
            </a:r>
          </a:p>
          <a:p>
            <a:pPr marL="742950" lvl="1" indent="-285750">
              <a:buFont typeface="Wingdings" pitchFamily="2" charset="2"/>
              <a:buChar char="v"/>
            </a:pPr>
            <a:r>
              <a:rPr lang="zh-CN" altLang="en-US" dirty="0">
                <a:latin typeface="Microsoft YaHei" panose="020B0503020204020204" pitchFamily="34" charset="-122"/>
                <a:ea typeface="Microsoft YaHei" panose="020B0503020204020204" pitchFamily="34" charset="-122"/>
              </a:rPr>
              <a:t>强大的分布式训练能力，支持大规模的工业级应用。</a:t>
            </a:r>
          </a:p>
        </p:txBody>
      </p:sp>
    </p:spTree>
    <p:extLst>
      <p:ext uri="{BB962C8B-B14F-4D97-AF65-F5344CB8AC3E}">
        <p14:creationId xmlns:p14="http://schemas.microsoft.com/office/powerpoint/2010/main" val="534110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a:t>
            </a:r>
            <a:r>
              <a:rPr lang="en-US" altLang="zh-CN" dirty="0"/>
              <a:t>5</a:t>
            </a:r>
            <a:r>
              <a:rPr lang="zh-CN" altLang="en-US" dirty="0"/>
              <a:t>）深度学习框架</a:t>
            </a:r>
            <a:r>
              <a:rPr lang="en-US" altLang="zh-CN" dirty="0"/>
              <a:t>——</a:t>
            </a:r>
            <a:r>
              <a:rPr lang="en-US" altLang="zh-CN" dirty="0" err="1"/>
              <a:t>PaddlePaddle</a:t>
            </a:r>
            <a:endParaRPr lang="zh-CN" altLang="en-US" dirty="0"/>
          </a:p>
        </p:txBody>
      </p:sp>
      <p:pic>
        <p:nvPicPr>
          <p:cNvPr id="4" name="Picture 3">
            <a:extLst>
              <a:ext uri="{FF2B5EF4-FFF2-40B4-BE49-F238E27FC236}">
                <a16:creationId xmlns:a16="http://schemas.microsoft.com/office/drawing/2014/main" id="{B84F5220-39C0-C110-FE0A-D20322ECA38A}"/>
              </a:ext>
            </a:extLst>
          </p:cNvPr>
          <p:cNvPicPr>
            <a:picLocks noChangeAspect="1"/>
          </p:cNvPicPr>
          <p:nvPr/>
        </p:nvPicPr>
        <p:blipFill>
          <a:blip r:embed="rId2"/>
          <a:stretch>
            <a:fillRect/>
          </a:stretch>
        </p:blipFill>
        <p:spPr>
          <a:xfrm>
            <a:off x="254085" y="1050513"/>
            <a:ext cx="5656385" cy="5128252"/>
          </a:xfrm>
          <a:prstGeom prst="rect">
            <a:avLst/>
          </a:prstGeom>
        </p:spPr>
      </p:pic>
      <p:pic>
        <p:nvPicPr>
          <p:cNvPr id="7" name="Picture 6">
            <a:extLst>
              <a:ext uri="{FF2B5EF4-FFF2-40B4-BE49-F238E27FC236}">
                <a16:creationId xmlns:a16="http://schemas.microsoft.com/office/drawing/2014/main" id="{D36504CF-0BA8-16C5-1F17-6302089D5BDB}"/>
              </a:ext>
            </a:extLst>
          </p:cNvPr>
          <p:cNvPicPr>
            <a:picLocks noChangeAspect="1"/>
          </p:cNvPicPr>
          <p:nvPr/>
        </p:nvPicPr>
        <p:blipFill>
          <a:blip r:embed="rId3"/>
          <a:stretch>
            <a:fillRect/>
          </a:stretch>
        </p:blipFill>
        <p:spPr>
          <a:xfrm>
            <a:off x="5910470" y="1463294"/>
            <a:ext cx="5462337" cy="1974275"/>
          </a:xfrm>
          <a:prstGeom prst="rect">
            <a:avLst/>
          </a:prstGeom>
        </p:spPr>
      </p:pic>
      <p:pic>
        <p:nvPicPr>
          <p:cNvPr id="9" name="Picture 8">
            <a:extLst>
              <a:ext uri="{FF2B5EF4-FFF2-40B4-BE49-F238E27FC236}">
                <a16:creationId xmlns:a16="http://schemas.microsoft.com/office/drawing/2014/main" id="{31CCABFC-79EA-C269-21F4-E7FC5AA89672}"/>
              </a:ext>
            </a:extLst>
          </p:cNvPr>
          <p:cNvPicPr>
            <a:picLocks noChangeAspect="1"/>
          </p:cNvPicPr>
          <p:nvPr/>
        </p:nvPicPr>
        <p:blipFill>
          <a:blip r:embed="rId4"/>
          <a:stretch>
            <a:fillRect/>
          </a:stretch>
        </p:blipFill>
        <p:spPr>
          <a:xfrm>
            <a:off x="6034796" y="3667207"/>
            <a:ext cx="5213684" cy="2281919"/>
          </a:xfrm>
          <a:prstGeom prst="rect">
            <a:avLst/>
          </a:prstGeom>
        </p:spPr>
      </p:pic>
    </p:spTree>
    <p:extLst>
      <p:ext uri="{BB962C8B-B14F-4D97-AF65-F5344CB8AC3E}">
        <p14:creationId xmlns:p14="http://schemas.microsoft.com/office/powerpoint/2010/main" val="2724514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a:t>
            </a:r>
            <a:r>
              <a:rPr lang="en-US" altLang="zh-CN" dirty="0"/>
              <a:t>6</a:t>
            </a:r>
            <a:r>
              <a:rPr lang="zh-CN" altLang="en-US" dirty="0"/>
              <a:t>）深度学习框架</a:t>
            </a:r>
            <a:r>
              <a:rPr lang="en-US" altLang="zh-CN" dirty="0"/>
              <a:t>——</a:t>
            </a:r>
            <a:r>
              <a:rPr lang="en-US" altLang="zh-CN" dirty="0" err="1"/>
              <a:t>MindSpore</a:t>
            </a:r>
            <a:endParaRPr lang="zh-CN" altLang="en-US" dirty="0"/>
          </a:p>
        </p:txBody>
      </p:sp>
      <p:sp>
        <p:nvSpPr>
          <p:cNvPr id="3" name="TextBox 2">
            <a:extLst>
              <a:ext uri="{FF2B5EF4-FFF2-40B4-BE49-F238E27FC236}">
                <a16:creationId xmlns:a16="http://schemas.microsoft.com/office/drawing/2014/main" id="{890F1540-2031-65DF-37CE-1340F7295147}"/>
              </a:ext>
            </a:extLst>
          </p:cNvPr>
          <p:cNvSpPr txBox="1"/>
          <p:nvPr/>
        </p:nvSpPr>
        <p:spPr>
          <a:xfrm>
            <a:off x="439615" y="1028343"/>
            <a:ext cx="11298116" cy="4801314"/>
          </a:xfrm>
          <a:prstGeom prst="rect">
            <a:avLst/>
          </a:prstGeom>
          <a:noFill/>
        </p:spPr>
        <p:txBody>
          <a:bodyPr wrap="square" rtlCol="0">
            <a:spAutoFit/>
          </a:bodyPr>
          <a:lstStyle/>
          <a:p>
            <a:pPr marL="285750" indent="-285750">
              <a:buFont typeface="Wingdings" pitchFamily="2" charset="2"/>
              <a:buChar char="v"/>
            </a:pPr>
            <a:r>
              <a:rPr lang="en-US" dirty="0" err="1">
                <a:latin typeface="Microsoft YaHei" panose="020B0503020204020204" pitchFamily="34" charset="-122"/>
                <a:ea typeface="Microsoft YaHei" panose="020B0503020204020204" pitchFamily="34" charset="-122"/>
              </a:rPr>
              <a:t>MindSpore</a:t>
            </a:r>
            <a:r>
              <a:rPr lang="en-US" dirty="0">
                <a:latin typeface="Microsoft YaHei" panose="020B0503020204020204" pitchFamily="34" charset="-122"/>
                <a:ea typeface="Microsoft YaHei" panose="020B0503020204020204" pitchFamily="34" charset="-122"/>
              </a:rPr>
              <a:t> </a:t>
            </a:r>
            <a:r>
              <a:rPr lang="zh-CN" altLang="en-US" dirty="0">
                <a:latin typeface="Microsoft YaHei" panose="020B0503020204020204" pitchFamily="34" charset="-122"/>
                <a:ea typeface="Microsoft YaHei" panose="020B0503020204020204" pitchFamily="34" charset="-122"/>
              </a:rPr>
              <a:t>是由华为推出的一个开源深度学习框架，旨在为全场景</a:t>
            </a:r>
            <a:r>
              <a:rPr lang="en-US" dirty="0">
                <a:latin typeface="Microsoft YaHei" panose="020B0503020204020204" pitchFamily="34" charset="-122"/>
                <a:ea typeface="Microsoft YaHei" panose="020B0503020204020204" pitchFamily="34" charset="-122"/>
              </a:rPr>
              <a:t>AI</a:t>
            </a:r>
            <a:r>
              <a:rPr lang="zh-CN" altLang="en-US" dirty="0">
                <a:latin typeface="Microsoft YaHei" panose="020B0503020204020204" pitchFamily="34" charset="-122"/>
                <a:ea typeface="Microsoft YaHei" panose="020B0503020204020204" pitchFamily="34" charset="-122"/>
              </a:rPr>
              <a:t>应用提供支持。</a:t>
            </a:r>
            <a:r>
              <a:rPr lang="en-US" dirty="0" err="1">
                <a:latin typeface="Microsoft YaHei" panose="020B0503020204020204" pitchFamily="34" charset="-122"/>
                <a:ea typeface="Microsoft YaHei" panose="020B0503020204020204" pitchFamily="34" charset="-122"/>
              </a:rPr>
              <a:t>MindSpore</a:t>
            </a:r>
            <a:r>
              <a:rPr lang="en-US" dirty="0">
                <a:latin typeface="Microsoft YaHei" panose="020B0503020204020204" pitchFamily="34" charset="-122"/>
                <a:ea typeface="Microsoft YaHei" panose="020B0503020204020204" pitchFamily="34" charset="-122"/>
              </a:rPr>
              <a:t> </a:t>
            </a:r>
            <a:r>
              <a:rPr lang="zh-CN" altLang="en-US" dirty="0">
                <a:latin typeface="Microsoft YaHei" panose="020B0503020204020204" pitchFamily="34" charset="-122"/>
                <a:ea typeface="Microsoft YaHei" panose="020B0503020204020204" pitchFamily="34" charset="-122"/>
              </a:rPr>
              <a:t>强调在云、边缘和端设备的高效协同，尤其优化了华为自家的昇腾处理器。</a:t>
            </a:r>
          </a:p>
          <a:p>
            <a:pPr marL="285750" indent="-285750">
              <a:buFont typeface="Wingdings" pitchFamily="2" charset="2"/>
              <a:buChar char="v"/>
            </a:pPr>
            <a:r>
              <a:rPr lang="zh-CN" altLang="en-US" dirty="0">
                <a:latin typeface="Microsoft YaHei" panose="020B0503020204020204" pitchFamily="34" charset="-122"/>
                <a:ea typeface="Microsoft YaHei" panose="020B0503020204020204" pitchFamily="34" charset="-122"/>
              </a:rPr>
              <a:t>核心特点：</a:t>
            </a:r>
          </a:p>
          <a:p>
            <a:pPr marL="742950" lvl="1" indent="-285750">
              <a:buFont typeface="Wingdings" pitchFamily="2" charset="2"/>
              <a:buChar char="v"/>
            </a:pPr>
            <a:r>
              <a:rPr lang="zh-CN" altLang="en-US" dirty="0">
                <a:latin typeface="Microsoft YaHei" panose="020B0503020204020204" pitchFamily="34" charset="-122"/>
                <a:ea typeface="Microsoft YaHei" panose="020B0503020204020204" pitchFamily="34" charset="-122"/>
              </a:rPr>
              <a:t>全场景支持：支持从边缘设备到云端的大规模分布式训练和推理，特别适合在华为的硬件平台上（如昇腾芯片）进行加速计算。</a:t>
            </a:r>
          </a:p>
          <a:p>
            <a:pPr marL="742950" lvl="1" indent="-285750">
              <a:buFont typeface="Wingdings" pitchFamily="2" charset="2"/>
              <a:buChar char="v"/>
            </a:pPr>
            <a:r>
              <a:rPr lang="zh-CN" altLang="en-US" dirty="0">
                <a:latin typeface="Microsoft YaHei" panose="020B0503020204020204" pitchFamily="34" charset="-122"/>
                <a:ea typeface="Microsoft YaHei" panose="020B0503020204020204" pitchFamily="34" charset="-122"/>
              </a:rPr>
              <a:t>端云协同：强调端、边、云三者的协同工作，通过优化的计算框架提升推理性能，降低设备延迟。</a:t>
            </a:r>
          </a:p>
          <a:p>
            <a:pPr marL="742950" lvl="1" indent="-285750">
              <a:buFont typeface="Wingdings" pitchFamily="2" charset="2"/>
              <a:buChar char="v"/>
            </a:pPr>
            <a:r>
              <a:rPr lang="zh-CN" altLang="en-US" dirty="0">
                <a:latin typeface="Microsoft YaHei" panose="020B0503020204020204" pitchFamily="34" charset="-122"/>
                <a:ea typeface="Microsoft YaHei" panose="020B0503020204020204" pitchFamily="34" charset="-122"/>
              </a:rPr>
              <a:t>高效的模型训练与推理：通过图计算优化，</a:t>
            </a:r>
            <a:r>
              <a:rPr lang="en-US" dirty="0" err="1">
                <a:latin typeface="Microsoft YaHei" panose="020B0503020204020204" pitchFamily="34" charset="-122"/>
                <a:ea typeface="Microsoft YaHei" panose="020B0503020204020204" pitchFamily="34" charset="-122"/>
              </a:rPr>
              <a:t>MindSpore</a:t>
            </a:r>
            <a:r>
              <a:rPr lang="en-US" dirty="0">
                <a:latin typeface="Microsoft YaHei" panose="020B0503020204020204" pitchFamily="34" charset="-122"/>
                <a:ea typeface="Microsoft YaHei" panose="020B0503020204020204" pitchFamily="34" charset="-122"/>
              </a:rPr>
              <a:t> </a:t>
            </a:r>
            <a:r>
              <a:rPr lang="zh-CN" altLang="en-US" dirty="0">
                <a:latin typeface="Microsoft YaHei" panose="020B0503020204020204" pitchFamily="34" charset="-122"/>
                <a:ea typeface="Microsoft YaHei" panose="020B0503020204020204" pitchFamily="34" charset="-122"/>
              </a:rPr>
              <a:t>可以自动生成高效的计算图，并优化运算顺序，减少计算开销。</a:t>
            </a:r>
          </a:p>
          <a:p>
            <a:pPr marL="742950" lvl="1" indent="-285750">
              <a:buFont typeface="Wingdings" pitchFamily="2" charset="2"/>
              <a:buChar char="v"/>
            </a:pPr>
            <a:r>
              <a:rPr lang="zh-CN" altLang="en-US" dirty="0">
                <a:latin typeface="Microsoft YaHei" panose="020B0503020204020204" pitchFamily="34" charset="-122"/>
                <a:ea typeface="Microsoft YaHei" panose="020B0503020204020204" pitchFamily="34" charset="-122"/>
              </a:rPr>
              <a:t>支持自动微分和灵活的训练策略，如多卡训练、模型并行等。</a:t>
            </a:r>
          </a:p>
          <a:p>
            <a:pPr marL="742950" lvl="1" indent="-285750">
              <a:buFont typeface="Wingdings" pitchFamily="2" charset="2"/>
              <a:buChar char="v"/>
            </a:pPr>
            <a:r>
              <a:rPr lang="zh-CN" altLang="en-US" dirty="0">
                <a:latin typeface="Microsoft YaHei" panose="020B0503020204020204" pitchFamily="34" charset="-122"/>
                <a:ea typeface="Microsoft YaHei" panose="020B0503020204020204" pitchFamily="34" charset="-122"/>
              </a:rPr>
              <a:t>智能硬件加速：针对华为昇腾</a:t>
            </a:r>
            <a:r>
              <a:rPr lang="en-US" dirty="0">
                <a:latin typeface="Microsoft YaHei" panose="020B0503020204020204" pitchFamily="34" charset="-122"/>
                <a:ea typeface="Microsoft YaHei" panose="020B0503020204020204" pitchFamily="34" charset="-122"/>
              </a:rPr>
              <a:t>AI</a:t>
            </a:r>
            <a:r>
              <a:rPr lang="zh-CN" altLang="en-US" dirty="0">
                <a:latin typeface="Microsoft YaHei" panose="020B0503020204020204" pitchFamily="34" charset="-122"/>
                <a:ea typeface="Microsoft YaHei" panose="020B0503020204020204" pitchFamily="34" charset="-122"/>
              </a:rPr>
              <a:t>处理器进行了深度优化，能够提供卓越的硬件加速能力。</a:t>
            </a:r>
          </a:p>
          <a:p>
            <a:pPr marL="285750" indent="-285750">
              <a:buFont typeface="Wingdings" pitchFamily="2" charset="2"/>
              <a:buChar char="v"/>
            </a:pPr>
            <a:r>
              <a:rPr lang="zh-CN" altLang="en-US" dirty="0">
                <a:latin typeface="Microsoft YaHei" panose="020B0503020204020204" pitchFamily="34" charset="-122"/>
                <a:ea typeface="Microsoft YaHei" panose="020B0503020204020204" pitchFamily="34" charset="-122"/>
              </a:rPr>
              <a:t>优势：</a:t>
            </a:r>
          </a:p>
          <a:p>
            <a:pPr marL="742950" lvl="1" indent="-285750">
              <a:buFont typeface="Wingdings" pitchFamily="2" charset="2"/>
              <a:buChar char="v"/>
            </a:pPr>
            <a:r>
              <a:rPr lang="zh-CN" altLang="en-US" dirty="0">
                <a:latin typeface="Microsoft YaHei" panose="020B0503020204020204" pitchFamily="34" charset="-122"/>
                <a:ea typeface="Microsoft YaHei" panose="020B0503020204020204" pitchFamily="34" charset="-122"/>
              </a:rPr>
              <a:t>全面支持云端与边缘计算，适应多种硬件环境，尤其适合华为的硬件平台。</a:t>
            </a:r>
          </a:p>
          <a:p>
            <a:pPr marL="742950" lvl="1" indent="-285750">
              <a:buFont typeface="Wingdings" pitchFamily="2" charset="2"/>
              <a:buChar char="v"/>
            </a:pPr>
            <a:r>
              <a:rPr lang="zh-CN" altLang="en-US" dirty="0">
                <a:latin typeface="Microsoft YaHei" panose="020B0503020204020204" pitchFamily="34" charset="-122"/>
                <a:ea typeface="Microsoft YaHei" panose="020B0503020204020204" pitchFamily="34" charset="-122"/>
              </a:rPr>
              <a:t>强大的分布式训练能力，支持大规模数据集的高效训练。</a:t>
            </a:r>
          </a:p>
          <a:p>
            <a:pPr marL="742950" lvl="1" indent="-285750">
              <a:buFont typeface="Wingdings" pitchFamily="2" charset="2"/>
              <a:buChar char="v"/>
            </a:pPr>
            <a:r>
              <a:rPr lang="zh-CN" altLang="en-US" dirty="0">
                <a:latin typeface="Microsoft YaHei" panose="020B0503020204020204" pitchFamily="34" charset="-122"/>
                <a:ea typeface="Microsoft YaHei" panose="020B0503020204020204" pitchFamily="34" charset="-122"/>
              </a:rPr>
              <a:t>在端侧设备（如智能手机、物联网设备）上具有优化的推理性能。</a:t>
            </a:r>
          </a:p>
          <a:p>
            <a:pPr marL="285750" indent="-285750">
              <a:buFont typeface="Wingdings" pitchFamily="2" charset="2"/>
              <a:buChar char="v"/>
            </a:pPr>
            <a:r>
              <a:rPr lang="en-US" altLang="zh-CN" dirty="0" err="1">
                <a:latin typeface="Microsoft YaHei" panose="020B0503020204020204" pitchFamily="34" charset="-122"/>
                <a:ea typeface="Microsoft YaHei" panose="020B0503020204020204" pitchFamily="34" charset="-122"/>
              </a:rPr>
              <a:t>MindSpore</a:t>
            </a:r>
            <a:r>
              <a:rPr lang="en-US" altLang="zh-CN" dirty="0">
                <a:latin typeface="Microsoft YaHei" panose="020B0503020204020204" pitchFamily="34" charset="-122"/>
                <a:ea typeface="Microsoft YaHei" panose="020B0503020204020204" pitchFamily="34" charset="-122"/>
              </a:rPr>
              <a:t> </a:t>
            </a:r>
            <a:r>
              <a:rPr lang="zh-CN" altLang="en-US" dirty="0">
                <a:latin typeface="Microsoft YaHei" panose="020B0503020204020204" pitchFamily="34" charset="-122"/>
                <a:ea typeface="Microsoft YaHei" panose="020B0503020204020204" pitchFamily="34" charset="-122"/>
              </a:rPr>
              <a:t>组件：</a:t>
            </a:r>
          </a:p>
          <a:p>
            <a:pPr marL="742950" lvl="1" indent="-285750">
              <a:buFont typeface="Wingdings" pitchFamily="2" charset="2"/>
              <a:buChar char="v"/>
            </a:pPr>
            <a:r>
              <a:rPr lang="en-US" altLang="zh-CN" dirty="0" err="1">
                <a:latin typeface="Microsoft YaHei" panose="020B0503020204020204" pitchFamily="34" charset="-122"/>
                <a:ea typeface="Microsoft YaHei" panose="020B0503020204020204" pitchFamily="34" charset="-122"/>
              </a:rPr>
              <a:t>MindSpore</a:t>
            </a:r>
            <a:r>
              <a:rPr lang="en-US" altLang="zh-CN" dirty="0">
                <a:latin typeface="Microsoft YaHei" panose="020B0503020204020204" pitchFamily="34" charset="-122"/>
                <a:ea typeface="Microsoft YaHei" panose="020B0503020204020204" pitchFamily="34" charset="-122"/>
              </a:rPr>
              <a:t> Lite</a:t>
            </a:r>
            <a:r>
              <a:rPr lang="zh-CN" altLang="en-US" dirty="0">
                <a:latin typeface="Microsoft YaHei" panose="020B0503020204020204" pitchFamily="34" charset="-122"/>
                <a:ea typeface="Microsoft YaHei" panose="020B0503020204020204" pitchFamily="34" charset="-122"/>
              </a:rPr>
              <a:t>：轻量级的推理引擎，支持在移动设备、嵌入式设备上进行推理。</a:t>
            </a:r>
          </a:p>
          <a:p>
            <a:pPr marL="742950" lvl="1" indent="-285750">
              <a:buFont typeface="Wingdings" pitchFamily="2" charset="2"/>
              <a:buChar char="v"/>
            </a:pPr>
            <a:r>
              <a:rPr lang="en-US" altLang="zh-CN" dirty="0" err="1">
                <a:latin typeface="Microsoft YaHei" panose="020B0503020204020204" pitchFamily="34" charset="-122"/>
                <a:ea typeface="Microsoft YaHei" panose="020B0503020204020204" pitchFamily="34" charset="-122"/>
              </a:rPr>
              <a:t>MindSpore</a:t>
            </a:r>
            <a:r>
              <a:rPr lang="en-US" altLang="zh-CN" dirty="0">
                <a:latin typeface="Microsoft YaHei" panose="020B0503020204020204" pitchFamily="34" charset="-122"/>
                <a:ea typeface="Microsoft YaHei" panose="020B0503020204020204" pitchFamily="34" charset="-122"/>
              </a:rPr>
              <a:t> Hub</a:t>
            </a:r>
            <a:r>
              <a:rPr lang="zh-CN" altLang="en-US" dirty="0">
                <a:latin typeface="Microsoft YaHei" panose="020B0503020204020204" pitchFamily="34" charset="-122"/>
                <a:ea typeface="Microsoft YaHei" panose="020B0503020204020204" pitchFamily="34" charset="-122"/>
              </a:rPr>
              <a:t>：为开发者提供共享的预训练模型，简化模型开发与应用。</a:t>
            </a:r>
          </a:p>
        </p:txBody>
      </p:sp>
    </p:spTree>
    <p:extLst>
      <p:ext uri="{BB962C8B-B14F-4D97-AF65-F5344CB8AC3E}">
        <p14:creationId xmlns:p14="http://schemas.microsoft.com/office/powerpoint/2010/main" val="698896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深度学习框架</a:t>
            </a:r>
            <a:r>
              <a:rPr lang="en-US" altLang="zh-CN" dirty="0"/>
              <a:t>——</a:t>
            </a:r>
            <a:r>
              <a:rPr lang="en-US" altLang="zh-CN" dirty="0" err="1"/>
              <a:t>MindSpore</a:t>
            </a:r>
            <a:endParaRPr lang="zh-CN" altLang="en-US" dirty="0"/>
          </a:p>
        </p:txBody>
      </p:sp>
      <p:pic>
        <p:nvPicPr>
          <p:cNvPr id="4" name="Picture 3">
            <a:extLst>
              <a:ext uri="{FF2B5EF4-FFF2-40B4-BE49-F238E27FC236}">
                <a16:creationId xmlns:a16="http://schemas.microsoft.com/office/drawing/2014/main" id="{DB441858-C73D-76AE-6D75-4341CDC59637}"/>
              </a:ext>
            </a:extLst>
          </p:cNvPr>
          <p:cNvPicPr>
            <a:picLocks noChangeAspect="1"/>
          </p:cNvPicPr>
          <p:nvPr/>
        </p:nvPicPr>
        <p:blipFill>
          <a:blip r:embed="rId2"/>
          <a:stretch>
            <a:fillRect/>
          </a:stretch>
        </p:blipFill>
        <p:spPr>
          <a:xfrm>
            <a:off x="344672" y="1054116"/>
            <a:ext cx="5552545" cy="4749767"/>
          </a:xfrm>
          <a:prstGeom prst="rect">
            <a:avLst/>
          </a:prstGeom>
        </p:spPr>
      </p:pic>
      <p:pic>
        <p:nvPicPr>
          <p:cNvPr id="7" name="Picture 6">
            <a:extLst>
              <a:ext uri="{FF2B5EF4-FFF2-40B4-BE49-F238E27FC236}">
                <a16:creationId xmlns:a16="http://schemas.microsoft.com/office/drawing/2014/main" id="{6036CFF6-58F0-58A5-3B14-B9F71F5BE8E7}"/>
              </a:ext>
            </a:extLst>
          </p:cNvPr>
          <p:cNvPicPr>
            <a:picLocks noChangeAspect="1"/>
          </p:cNvPicPr>
          <p:nvPr/>
        </p:nvPicPr>
        <p:blipFill>
          <a:blip r:embed="rId3"/>
          <a:stretch>
            <a:fillRect/>
          </a:stretch>
        </p:blipFill>
        <p:spPr>
          <a:xfrm>
            <a:off x="6130641" y="1900423"/>
            <a:ext cx="5319121" cy="3057151"/>
          </a:xfrm>
          <a:prstGeom prst="rect">
            <a:avLst/>
          </a:prstGeom>
        </p:spPr>
      </p:pic>
    </p:spTree>
    <p:extLst>
      <p:ext uri="{BB962C8B-B14F-4D97-AF65-F5344CB8AC3E}">
        <p14:creationId xmlns:p14="http://schemas.microsoft.com/office/powerpoint/2010/main" val="2368053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C02C7AE-B473-BC1B-B982-ECAF6CC4C4D4}"/>
              </a:ext>
            </a:extLst>
          </p:cNvPr>
          <p:cNvPicPr>
            <a:picLocks noChangeAspect="1"/>
          </p:cNvPicPr>
          <p:nvPr/>
        </p:nvPicPr>
        <p:blipFill>
          <a:blip r:embed="rId2"/>
          <a:stretch>
            <a:fillRect/>
          </a:stretch>
        </p:blipFill>
        <p:spPr>
          <a:xfrm>
            <a:off x="4800157" y="1734743"/>
            <a:ext cx="6725427" cy="3388514"/>
          </a:xfrm>
          <a:prstGeom prst="rect">
            <a:avLst/>
          </a:prstGeom>
        </p:spPr>
      </p:pic>
      <p:sp>
        <p:nvSpPr>
          <p:cNvPr id="2" name="标题 1">
            <a:extLst>
              <a:ext uri="{FF2B5EF4-FFF2-40B4-BE49-F238E27FC236}">
                <a16:creationId xmlns:a16="http://schemas.microsoft.com/office/drawing/2014/main" id="{8166BD27-BEF1-DF42-8647-5D0C3EA955D6}"/>
              </a:ext>
            </a:extLst>
          </p:cNvPr>
          <p:cNvSpPr>
            <a:spLocks noGrp="1"/>
          </p:cNvSpPr>
          <p:nvPr>
            <p:ph type="title"/>
          </p:nvPr>
        </p:nvSpPr>
        <p:spPr/>
        <p:txBody>
          <a:bodyPr/>
          <a:lstStyle/>
          <a:p>
            <a:r>
              <a:rPr kumimoji="1" lang="zh-CN" altLang="en-US" dirty="0"/>
              <a:t>总结</a:t>
            </a:r>
          </a:p>
        </p:txBody>
      </p:sp>
      <p:sp>
        <p:nvSpPr>
          <p:cNvPr id="3" name="内容占位符 2">
            <a:extLst>
              <a:ext uri="{FF2B5EF4-FFF2-40B4-BE49-F238E27FC236}">
                <a16:creationId xmlns:a16="http://schemas.microsoft.com/office/drawing/2014/main" id="{A2D0DB05-8797-7647-B132-FFE2E7510516}"/>
              </a:ext>
            </a:extLst>
          </p:cNvPr>
          <p:cNvSpPr>
            <a:spLocks noGrp="1"/>
          </p:cNvSpPr>
          <p:nvPr>
            <p:ph idx="1"/>
          </p:nvPr>
        </p:nvSpPr>
        <p:spPr/>
        <p:txBody>
          <a:bodyPr/>
          <a:lstStyle/>
          <a:p>
            <a:r>
              <a:rPr kumimoji="1" lang="en-US" altLang="zh-CN" sz="2400" dirty="0">
                <a:solidFill>
                  <a:schemeClr val="tx1"/>
                </a:solidFill>
              </a:rPr>
              <a:t>3.1</a:t>
            </a:r>
            <a:r>
              <a:rPr kumimoji="1" lang="zh-CN" altLang="en-US" sz="2400" dirty="0">
                <a:solidFill>
                  <a:schemeClr val="tx1"/>
                </a:solidFill>
              </a:rPr>
              <a:t> 从手写数字识别说起</a:t>
            </a:r>
            <a:endParaRPr kumimoji="1" lang="en-US" altLang="zh-CN" sz="2400" dirty="0">
              <a:solidFill>
                <a:schemeClr val="tx1"/>
              </a:solidFill>
            </a:endParaRPr>
          </a:p>
          <a:p>
            <a:r>
              <a:rPr kumimoji="1" lang="en-US" altLang="zh-CN" sz="2400" dirty="0">
                <a:solidFill>
                  <a:schemeClr val="tx1"/>
                </a:solidFill>
              </a:rPr>
              <a:t>3.2 </a:t>
            </a:r>
            <a:r>
              <a:rPr kumimoji="1" lang="zh-CN" altLang="en-US" sz="2400" dirty="0">
                <a:solidFill>
                  <a:schemeClr val="tx1"/>
                </a:solidFill>
              </a:rPr>
              <a:t>基本环境搭建与配置</a:t>
            </a:r>
          </a:p>
          <a:p>
            <a:r>
              <a:rPr kumimoji="1" lang="en-US" altLang="zh-CN" sz="2400" dirty="0">
                <a:solidFill>
                  <a:schemeClr val="tx1"/>
                </a:solidFill>
              </a:rPr>
              <a:t>3.3 PYTHON</a:t>
            </a:r>
            <a:r>
              <a:rPr kumimoji="1" lang="zh-CN" altLang="en-US" sz="2400" dirty="0">
                <a:solidFill>
                  <a:schemeClr val="tx1"/>
                </a:solidFill>
              </a:rPr>
              <a:t>入门</a:t>
            </a:r>
          </a:p>
          <a:p>
            <a:r>
              <a:rPr kumimoji="1" lang="en-US" altLang="zh-CN" sz="2400" dirty="0">
                <a:solidFill>
                  <a:schemeClr val="tx1"/>
                </a:solidFill>
              </a:rPr>
              <a:t>3.4 AI</a:t>
            </a:r>
            <a:r>
              <a:rPr kumimoji="1" lang="zh-CN" altLang="en-US" sz="2400" dirty="0">
                <a:solidFill>
                  <a:schemeClr val="tx1"/>
                </a:solidFill>
              </a:rPr>
              <a:t>算法库和开发工具包</a:t>
            </a:r>
          </a:p>
          <a:p>
            <a:r>
              <a:rPr kumimoji="1" lang="en-US" altLang="zh-CN" sz="2400" dirty="0">
                <a:solidFill>
                  <a:schemeClr val="tx1"/>
                </a:solidFill>
              </a:rPr>
              <a:t>3.5</a:t>
            </a:r>
            <a:r>
              <a:rPr kumimoji="1" lang="zh-CN" altLang="en-US" sz="2400" dirty="0">
                <a:solidFill>
                  <a:schemeClr val="tx1"/>
                </a:solidFill>
              </a:rPr>
              <a:t>深度学习框架</a:t>
            </a:r>
          </a:p>
          <a:p>
            <a:endParaRPr kumimoji="1" lang="zh-CN" altLang="en-US" sz="2400" dirty="0"/>
          </a:p>
        </p:txBody>
      </p:sp>
      <p:sp>
        <p:nvSpPr>
          <p:cNvPr id="5" name="文本框 4">
            <a:extLst>
              <a:ext uri="{FF2B5EF4-FFF2-40B4-BE49-F238E27FC236}">
                <a16:creationId xmlns:a16="http://schemas.microsoft.com/office/drawing/2014/main" id="{0211E28A-4EA5-F641-BA32-4A365C3B657D}"/>
              </a:ext>
            </a:extLst>
          </p:cNvPr>
          <p:cNvSpPr txBox="1"/>
          <p:nvPr/>
        </p:nvSpPr>
        <p:spPr>
          <a:xfrm>
            <a:off x="4800157" y="2529989"/>
            <a:ext cx="1107996" cy="369332"/>
          </a:xfrm>
          <a:prstGeom prst="rect">
            <a:avLst/>
          </a:prstGeom>
          <a:solidFill>
            <a:srgbClr val="234C9F"/>
          </a:solidFill>
        </p:spPr>
        <p:txBody>
          <a:bodyPr wrap="none" rtlCol="0">
            <a:spAutoFit/>
          </a:bodyPr>
          <a:lstStyle/>
          <a:p>
            <a:r>
              <a:rPr kumimoji="1" lang="zh-CN" altLang="en-US" b="1" dirty="0">
                <a:solidFill>
                  <a:schemeClr val="bg1"/>
                </a:solidFill>
                <a:latin typeface="Microsoft YaHei" panose="020B0503020204020204" pitchFamily="34" charset="-122"/>
                <a:ea typeface="Microsoft YaHei" panose="020B0503020204020204" pitchFamily="34" charset="-122"/>
              </a:rPr>
              <a:t>知识图谱</a:t>
            </a:r>
          </a:p>
        </p:txBody>
      </p:sp>
    </p:spTree>
    <p:extLst>
      <p:ext uri="{BB962C8B-B14F-4D97-AF65-F5344CB8AC3E}">
        <p14:creationId xmlns:p14="http://schemas.microsoft.com/office/powerpoint/2010/main" val="4289973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4989773" y="2775699"/>
            <a:ext cx="2146742" cy="707886"/>
          </a:xfrm>
          <a:prstGeom prst="rect">
            <a:avLst/>
          </a:prstGeom>
          <a:noFill/>
        </p:spPr>
        <p:txBody>
          <a:bodyPr wrap="none" rtlCol="0">
            <a:spAutoFit/>
          </a:bodyPr>
          <a:lstStyle/>
          <a:p>
            <a:r>
              <a:rPr lang="en-US" altLang="zh-CN" sz="4000" dirty="0">
                <a:solidFill>
                  <a:schemeClr val="bg1"/>
                </a:solidFill>
                <a:latin typeface="华文琥珀" panose="02010800040101010101" pitchFamily="2" charset="-122"/>
                <a:ea typeface="华文琥珀" panose="02010800040101010101" pitchFamily="2" charset="-122"/>
              </a:rPr>
              <a:t>The End.</a:t>
            </a:r>
            <a:endParaRPr lang="zh-CN" altLang="en-US" sz="4000" dirty="0">
              <a:solidFill>
                <a:schemeClr val="bg1"/>
              </a:solidFill>
              <a:latin typeface="华文琥珀" panose="02010800040101010101" pitchFamily="2" charset="-122"/>
              <a:ea typeface="华文琥珀" panose="02010800040101010101" pitchFamily="2" charset="-122"/>
            </a:endParaRPr>
          </a:p>
        </p:txBody>
      </p:sp>
    </p:spTree>
    <p:extLst>
      <p:ext uri="{BB962C8B-B14F-4D97-AF65-F5344CB8AC3E}">
        <p14:creationId xmlns:p14="http://schemas.microsoft.com/office/powerpoint/2010/main" val="3776651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1000" fill="hold"/>
                                        <p:tgtEl>
                                          <p:spTgt spid="12"/>
                                        </p:tgtEl>
                                        <p:attrNameLst>
                                          <p:attrName>ppt_w</p:attrName>
                                        </p:attrNameLst>
                                      </p:cBhvr>
                                      <p:tavLst>
                                        <p:tav tm="0">
                                          <p:val>
                                            <p:fltVal val="0"/>
                                          </p:val>
                                        </p:tav>
                                        <p:tav tm="100000">
                                          <p:val>
                                            <p:strVal val="#ppt_w"/>
                                          </p:val>
                                        </p:tav>
                                      </p:tavLst>
                                    </p:anim>
                                    <p:anim calcmode="lin" valueType="num">
                                      <p:cBhvr>
                                        <p:cTn id="8" dur="1000" fill="hold"/>
                                        <p:tgtEl>
                                          <p:spTgt spid="12"/>
                                        </p:tgtEl>
                                        <p:attrNameLst>
                                          <p:attrName>ppt_h</p:attrName>
                                        </p:attrNameLst>
                                      </p:cBhvr>
                                      <p:tavLst>
                                        <p:tav tm="0">
                                          <p:val>
                                            <p:fltVal val="0"/>
                                          </p:val>
                                        </p:tav>
                                        <p:tav tm="100000">
                                          <p:val>
                                            <p:strVal val="#ppt_h"/>
                                          </p:val>
                                        </p:tav>
                                      </p:tavLst>
                                    </p:anim>
                                    <p:anim calcmode="lin" valueType="num">
                                      <p:cBhvr>
                                        <p:cTn id="9" dur="1000" fill="hold"/>
                                        <p:tgtEl>
                                          <p:spTgt spid="12"/>
                                        </p:tgtEl>
                                        <p:attrNameLst>
                                          <p:attrName>style.rotation</p:attrName>
                                        </p:attrNameLst>
                                      </p:cBhvr>
                                      <p:tavLst>
                                        <p:tav tm="0">
                                          <p:val>
                                            <p:fltVal val="90"/>
                                          </p:val>
                                        </p:tav>
                                        <p:tav tm="100000">
                                          <p:val>
                                            <p:fltVal val="0"/>
                                          </p:val>
                                        </p:tav>
                                      </p:tavLst>
                                    </p:anim>
                                    <p:animEffect transition="in" filter="fade">
                                      <p:cBhvr>
                                        <p:cTn id="10"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ζ1-1"/>
  <p:tag name="KSO_WM_UNIT_TYPE" val="i"/>
  <p:tag name="KSO_WM_UNIT_INDEX" val="1"/>
  <p:tag name="KSO_WM_UNIT_ID" val="crop20194963_1*i*1"/>
  <p:tag name="KSO_WM_TEMPLATE_CATEGORY" val="crop"/>
  <p:tag name="KSO_WM_TEMPLATE_INDEX" val="20194963"/>
  <p:tag name="KSO_WM_UNIT_LAYERLEVEL" val="1"/>
  <p:tag name="KSO_WM_TAG_VERSION" val="1.0"/>
  <p:tag name="KSO_WM_BEAUTIFY_FLAG" val="#wm#"/>
</p:tagLst>
</file>

<file path=ppt/tags/tag2.xml><?xml version="1.0" encoding="utf-8"?>
<p:tagLst xmlns:a="http://schemas.openxmlformats.org/drawingml/2006/main" xmlns:r="http://schemas.openxmlformats.org/officeDocument/2006/relationships" xmlns:p="http://schemas.openxmlformats.org/presentationml/2006/main">
  <p:tag name="PA" val="v5.2.2"/>
  <p:tag name="KSO_WM_UNIT_HIGHLIGHT" val="0"/>
  <p:tag name="KSO_WM_UNIT_COMPATIBLE" val="0"/>
  <p:tag name="KSO_WM_UNIT_DIAGRAM_ISNUMVISUAL" val="0"/>
  <p:tag name="KSO_WM_UNIT_DIAGRAM_ISREFERUNIT" val="0"/>
  <p:tag name="KSO_WM_DIAGRAM_GROUP_CODE" val="1568032552"/>
  <p:tag name="KSO_WM_UNIT_TYPE" val="ζ_h_i"/>
  <p:tag name="KSO_WM_UNIT_INDEX" val="1_1_2"/>
  <p:tag name="KSO_WM_UNIT_ID" val="crop20194963_1*ζ_h_i*1_1_2"/>
  <p:tag name="KSO_WM_TEMPLATE_CATEGORY" val="crop"/>
  <p:tag name="KSO_WM_TEMPLATE_INDEX" val="20194963"/>
  <p:tag name="KSO_WM_UNIT_LAYERLEVEL" val="1_1_1"/>
  <p:tag name="KSO_WM_TAG_VERSION" val="1.0"/>
  <p:tag name="KSO_WM_BEAUTIFY_FLAG" val="#wm#"/>
  <p:tag name="PICTUREFILLRANGE" val="36ccaf6c-7af3-4251-8b16-6c4d44af1832"/>
  <p:tag name="KSO_WM_UNIT_DIAGRAM_MODELTYPE" val="creativeCrop"/>
  <p:tag name="KSO_WM_CREATIVE_CROP_ORG_WIDTH" val="466.75"/>
  <p:tag name="KSO_WM_CREATIVE_CROP_ORG_HEIGHT" val="302.3"/>
  <p:tag name="KSO_WM_CREATIVE_CROP_HEIGHT" val="302.3"/>
  <p:tag name="KSO_WM_CREATIVE_CROP_WIDTH" val="395.418"/>
  <p:tag name="KSO_WM_CREATIVE_CROP_VERSION" val="1"/>
  <p:tag name="KSO_WM_CREATIVE_CROP_TEMPLATE_ID" val="3106986"/>
</p:tagLst>
</file>

<file path=ppt/tags/tag3.xml><?xml version="1.0" encoding="utf-8"?>
<p:tagLst xmlns:a="http://schemas.openxmlformats.org/drawingml/2006/main" xmlns:r="http://schemas.openxmlformats.org/officeDocument/2006/relationships" xmlns:p="http://schemas.openxmlformats.org/presentationml/2006/main">
  <p:tag name="PICTUREFILLRANGE" val="2c6e7530-7b18-4a69-a31d-5f058a0ee538"/>
  <p:tag name="KSO_WM_UNIT_VALUE" val="417*1012"/>
  <p:tag name="KSO_WM_UNIT_HIGHLIGHT" val="0"/>
  <p:tag name="KSO_WM_UNIT_COMPATIBLE" val="0"/>
  <p:tag name="KSO_WM_UNIT_DIAGRAM_ISNUMVISUAL" val="0"/>
  <p:tag name="KSO_WM_UNIT_DIAGRAM_ISREFERUNIT" val="0"/>
  <p:tag name="KSO_WM_DIAGRAM_GROUP_CODE" val="1568032552"/>
  <p:tag name="KSO_WM_UNIT_TYPE" val="ζ_h_d"/>
  <p:tag name="KSO_WM_UNIT_INDEX" val="1_1_1"/>
  <p:tag name="KSO_WM_UNIT_ID" val="crop20194963_1*ζ_h_d*1_1_1"/>
  <p:tag name="KSO_WM_TEMPLATE_CATEGORY" val="crop"/>
  <p:tag name="KSO_WM_TEMPLATE_INDEX" val="20194963"/>
  <p:tag name="KSO_WM_UNIT_LAYERLEVEL" val="1_1_1"/>
  <p:tag name="KSO_WM_TAG_VERSION" val="1.0"/>
  <p:tag name="KSO_WM_BEAUTIFY_FLAG" val="#wm#"/>
  <p:tag name="KSO_WM_UNIT_DIAGRAM_MODELTYPE" val="creativeCrop"/>
  <p:tag name="KSO_WM_BLIP_RECT_LEFT" val="-146"/>
  <p:tag name="KSO_WM_BLIP_RECT_RIGHT" val="-48"/>
  <p:tag name="KSO_WM_BLIP_RECT_TOP" val="-98"/>
  <p:tag name="KSO_WM_BLIP_RECT_BOTTOM" val="-255"/>
  <p:tag name="KSO_WM_CREATIVE_CROP_ORG_WIDTH" val="548"/>
  <p:tag name="KSO_WM_CREATIVE_CROP_ORG_HEIGHT" val="360"/>
  <p:tag name="KSO_WM_CREATIVE_CROP_HEIGHT" val="360.9"/>
  <p:tag name="KSO_WM_CREATIVE_CROP_WIDTH" val="464.267"/>
  <p:tag name="KSO_WM_CREATIVE_CROP_VERSION" val="1"/>
  <p:tag name="KSO_WM_CREATIVE_CROP_TEMPLATE_ID" val="3106986"/>
  <p:tag name="KSO_WM_CREATIVE_CROP_ORG_DELTA_X" val="0"/>
  <p:tag name="KSO_WM_CREATIVE_CROP_ORG_DELTA_Y" val="0"/>
  <p:tag name="KSO_WM_UNIT_PARTIAL_ZOOM_RATIO" val="100"/>
</p:tagLst>
</file>

<file path=ppt/tags/tag4.xml><?xml version="1.0" encoding="utf-8"?>
<p:tagLst xmlns:a="http://schemas.openxmlformats.org/drawingml/2006/main" xmlns:r="http://schemas.openxmlformats.org/officeDocument/2006/relationships" xmlns:p="http://schemas.openxmlformats.org/presentationml/2006/main">
  <p:tag name="PICTUREFILLRANGE" val="2c6e7530-7b18-4a69-a31d-5f058a0ee538"/>
  <p:tag name="KSO_WM_UNIT_VALUE" val="903*967"/>
  <p:tag name="KSO_WM_UNIT_HIGHLIGHT" val="0"/>
  <p:tag name="KSO_WM_UNIT_COMPATIBLE" val="0"/>
  <p:tag name="KSO_WM_UNIT_DIAGRAM_ISNUMVISUAL" val="0"/>
  <p:tag name="KSO_WM_UNIT_DIAGRAM_ISREFERUNIT" val="0"/>
  <p:tag name="KSO_WM_DIAGRAM_GROUP_CODE" val="1568032552"/>
  <p:tag name="KSO_WM_UNIT_TYPE" val="ζ_h_d"/>
  <p:tag name="KSO_WM_UNIT_INDEX" val="1_1_2"/>
  <p:tag name="KSO_WM_UNIT_ID" val="crop20194963_1*ζ_h_d*1_1_2"/>
  <p:tag name="KSO_WM_TEMPLATE_CATEGORY" val="crop"/>
  <p:tag name="KSO_WM_TEMPLATE_INDEX" val="20194963"/>
  <p:tag name="KSO_WM_UNIT_LAYERLEVEL" val="1_1_1"/>
  <p:tag name="KSO_WM_TAG_VERSION" val="1.0"/>
  <p:tag name="KSO_WM_BEAUTIFY_FLAG" val="#wm#"/>
  <p:tag name="KSO_WM_UNIT_DIAGRAM_MODELTYPE" val="creativeCrop"/>
  <p:tag name="KSO_WM_BLIP_RECT_LEFT" val="-50"/>
  <p:tag name="KSO_WM_BLIP_RECT_RIGHT" val="-157"/>
  <p:tag name="KSO_WM_BLIP_RECT_TOP" val="-16"/>
  <p:tag name="KSO_WM_BLIP_RECT_BOTTOM" val="-94"/>
  <p:tag name="KSO_WM_CREATIVE_CROP_ORG_WIDTH" val="548"/>
  <p:tag name="KSO_WM_CREATIVE_CROP_ORG_HEIGHT" val="360"/>
  <p:tag name="KSO_WM_CREATIVE_CROP_HEIGHT" val="360.9"/>
  <p:tag name="KSO_WM_CREATIVE_CROP_WIDTH" val="464.267"/>
  <p:tag name="KSO_WM_CREATIVE_CROP_VERSION" val="1"/>
  <p:tag name="KSO_WM_CREATIVE_CROP_TEMPLATE_ID" val="3106986"/>
  <p:tag name="KSO_WM_CREATIVE_CROP_ORG_DELTA_X" val="0"/>
  <p:tag name="KSO_WM_CREATIVE_CROP_ORG_DELTA_Y" val="0"/>
  <p:tag name="KSO_WM_UNIT_PARTIAL_ZOOM_RATIO" val="100"/>
</p:tagLst>
</file>

<file path=ppt/tags/tag5.xml><?xml version="1.0" encoding="utf-8"?>
<p:tagLst xmlns:a="http://schemas.openxmlformats.org/drawingml/2006/main" xmlns:r="http://schemas.openxmlformats.org/officeDocument/2006/relationships" xmlns:p="http://schemas.openxmlformats.org/presentationml/2006/main">
  <p:tag name="PICTUREFILLRANGE" val="2c6e7530-7b18-4a69-a31d-5f058a0ee538"/>
  <p:tag name="KSO_WM_UNIT_VALUE" val="516*553"/>
  <p:tag name="KSO_WM_UNIT_HIGHLIGHT" val="0"/>
  <p:tag name="KSO_WM_UNIT_COMPATIBLE" val="0"/>
  <p:tag name="KSO_WM_UNIT_DIAGRAM_ISNUMVISUAL" val="0"/>
  <p:tag name="KSO_WM_UNIT_DIAGRAM_ISREFERUNIT" val="0"/>
  <p:tag name="KSO_WM_DIAGRAM_GROUP_CODE" val="1568032552"/>
  <p:tag name="KSO_WM_UNIT_TYPE" val="ζ_h_d"/>
  <p:tag name="KSO_WM_UNIT_INDEX" val="1_1_3"/>
  <p:tag name="KSO_WM_UNIT_ID" val="crop20194963_1*ζ_h_d*1_1_3"/>
  <p:tag name="KSO_WM_TEMPLATE_CATEGORY" val="crop"/>
  <p:tag name="KSO_WM_TEMPLATE_INDEX" val="20194963"/>
  <p:tag name="KSO_WM_UNIT_LAYERLEVEL" val="1_1_1"/>
  <p:tag name="KSO_WM_TAG_VERSION" val="1.0"/>
  <p:tag name="KSO_WM_BEAUTIFY_FLAG" val="#wm#"/>
  <p:tag name="KSO_WM_UNIT_DIAGRAM_MODELTYPE" val="creativeCrop"/>
  <p:tag name="KSO_WM_BLIP_RECT_LEFT" val="-163"/>
  <p:tag name="KSO_WM_BLIP_RECT_RIGHT" val="-275"/>
  <p:tag name="KSO_WM_BLIP_RECT_TOP" val="-206"/>
  <p:tag name="KSO_WM_BLIP_RECT_BOTTOM" val="-60"/>
  <p:tag name="KSO_WM_CREATIVE_CROP_ORG_WIDTH" val="548"/>
  <p:tag name="KSO_WM_CREATIVE_CROP_ORG_HEIGHT" val="360"/>
  <p:tag name="KSO_WM_CREATIVE_CROP_HEIGHT" val="360.9"/>
  <p:tag name="KSO_WM_CREATIVE_CROP_WIDTH" val="464.267"/>
  <p:tag name="KSO_WM_CREATIVE_CROP_VERSION" val="1"/>
  <p:tag name="KSO_WM_CREATIVE_CROP_TEMPLATE_ID" val="3106986"/>
  <p:tag name="KSO_WM_CREATIVE_CROP_ORG_DELTA_X" val="0"/>
  <p:tag name="KSO_WM_CREATIVE_CROP_ORG_DELTA_Y" val="0"/>
  <p:tag name="KSO_WM_UNIT_PARTIAL_ZOOM_RATIO" val="100"/>
</p:tagLst>
</file>

<file path=ppt/tags/tag6.xml><?xml version="1.0" encoding="utf-8"?>
<p:tagLst xmlns:a="http://schemas.openxmlformats.org/drawingml/2006/main" xmlns:r="http://schemas.openxmlformats.org/officeDocument/2006/relationships" xmlns:p="http://schemas.openxmlformats.org/presentationml/2006/main">
  <p:tag name="PICTUREFILLRANGE" val="2c6e7530-7b18-4a69-a31d-5f058a0ee538"/>
  <p:tag name="KSO_WM_UNIT_VALUE" val="41*789"/>
  <p:tag name="KSO_WM_UNIT_HIGHLIGHT" val="0"/>
  <p:tag name="KSO_WM_UNIT_COMPATIBLE" val="0"/>
  <p:tag name="KSO_WM_UNIT_DIAGRAM_ISNUMVISUAL" val="0"/>
  <p:tag name="KSO_WM_UNIT_DIAGRAM_ISREFERUNIT" val="0"/>
  <p:tag name="KSO_WM_DIAGRAM_GROUP_CODE" val="1568032552"/>
  <p:tag name="KSO_WM_UNIT_TYPE" val="ζ_h_d"/>
  <p:tag name="KSO_WM_UNIT_INDEX" val="1_1_4"/>
  <p:tag name="KSO_WM_UNIT_ID" val="crop20194963_1*ζ_h_d*1_1_4"/>
  <p:tag name="KSO_WM_TEMPLATE_CATEGORY" val="crop"/>
  <p:tag name="KSO_WM_TEMPLATE_INDEX" val="20194963"/>
  <p:tag name="KSO_WM_UNIT_LAYERLEVEL" val="1_1_1"/>
  <p:tag name="KSO_WM_TAG_VERSION" val="1.0"/>
  <p:tag name="KSO_WM_BEAUTIFY_FLAG" val="#wm#"/>
  <p:tag name="KSO_WM_UNIT_DIAGRAM_MODELTYPE" val="creativeCrop"/>
  <p:tag name="KSO_WM_BLIP_RECT_LEFT" val="-84"/>
  <p:tag name="KSO_WM_BLIP_RECT_RIGHT" val="-192"/>
  <p:tag name="KSO_WM_BLIP_RECT_TOP" val="-3939"/>
  <p:tag name="KSO_WM_BLIP_RECT_BOTTOM" val="-600"/>
  <p:tag name="KSO_WM_CREATIVE_CROP_ORG_WIDTH" val="548"/>
  <p:tag name="KSO_WM_CREATIVE_CROP_ORG_HEIGHT" val="360"/>
  <p:tag name="KSO_WM_CREATIVE_CROP_HEIGHT" val="360.9"/>
  <p:tag name="KSO_WM_CREATIVE_CROP_WIDTH" val="464.267"/>
  <p:tag name="KSO_WM_CREATIVE_CROP_VERSION" val="1"/>
  <p:tag name="KSO_WM_CREATIVE_CROP_TEMPLATE_ID" val="3106986"/>
  <p:tag name="KSO_WM_CREATIVE_CROP_ORG_DELTA_X" val="0"/>
  <p:tag name="KSO_WM_CREATIVE_CROP_ORG_DELTA_Y" val="0"/>
  <p:tag name="KSO_WM_UNIT_PARTIAL_ZOOM_RATIO" val="100"/>
</p:tagLst>
</file>

<file path=ppt/tags/tag7.xml><?xml version="1.0" encoding="utf-8"?>
<p:tagLst xmlns:a="http://schemas.openxmlformats.org/drawingml/2006/main" xmlns:r="http://schemas.openxmlformats.org/officeDocument/2006/relationships" xmlns:p="http://schemas.openxmlformats.org/presentationml/2006/main">
  <p:tag name="PICTUREFILLRANGE" val="2c6e7530-7b18-4a69-a31d-5f058a0ee538"/>
  <p:tag name="KSO_WM_UNIT_VALUE" val="903*861"/>
  <p:tag name="KSO_WM_UNIT_HIGHLIGHT" val="0"/>
  <p:tag name="KSO_WM_UNIT_COMPATIBLE" val="0"/>
  <p:tag name="KSO_WM_UNIT_DIAGRAM_ISNUMVISUAL" val="0"/>
  <p:tag name="KSO_WM_UNIT_DIAGRAM_ISREFERUNIT" val="0"/>
  <p:tag name="KSO_WM_DIAGRAM_GROUP_CODE" val="1568032552"/>
  <p:tag name="KSO_WM_UNIT_TYPE" val="ζ_h_d"/>
  <p:tag name="KSO_WM_UNIT_INDEX" val="1_1_5"/>
  <p:tag name="KSO_WM_UNIT_ID" val="crop20194963_1*ζ_h_d*1_1_5"/>
  <p:tag name="KSO_WM_TEMPLATE_CATEGORY" val="crop"/>
  <p:tag name="KSO_WM_TEMPLATE_INDEX" val="20194963"/>
  <p:tag name="KSO_WM_UNIT_LAYERLEVEL" val="1_1_1"/>
  <p:tag name="KSO_WM_TAG_VERSION" val="1.0"/>
  <p:tag name="KSO_WM_BEAUTIFY_FLAG" val="#wm#"/>
  <p:tag name="KSO_WM_UNIT_DIAGRAM_MODELTYPE" val="creativeCrop"/>
  <p:tag name="KSO_WM_BLIP_RECT_LEFT" val="-171"/>
  <p:tag name="KSO_WM_BLIP_RECT_RIGHT" val="-74"/>
  <p:tag name="KSO_WM_BLIP_RECT_TOP" val="-94"/>
  <p:tag name="KSO_WM_BLIP_RECT_BOTTOM" val="-16"/>
  <p:tag name="KSO_WM_CREATIVE_CROP_ORG_WIDTH" val="548"/>
  <p:tag name="KSO_WM_CREATIVE_CROP_ORG_HEIGHT" val="360"/>
  <p:tag name="KSO_WM_CREATIVE_CROP_HEIGHT" val="360.9"/>
  <p:tag name="KSO_WM_CREATIVE_CROP_WIDTH" val="464.267"/>
  <p:tag name="KSO_WM_CREATIVE_CROP_VERSION" val="1"/>
  <p:tag name="KSO_WM_CREATIVE_CROP_TEMPLATE_ID" val="3106986"/>
  <p:tag name="KSO_WM_CREATIVE_CROP_ORG_DELTA_X" val="0"/>
  <p:tag name="KSO_WM_CREATIVE_CROP_ORG_DELTA_Y" val="0"/>
  <p:tag name="KSO_WM_UNIT_PARTIAL_ZOOM_RATIO" val="100"/>
</p:tagLst>
</file>

<file path=ppt/tags/tag8.xml><?xml version="1.0" encoding="utf-8"?>
<p:tagLst xmlns:a="http://schemas.openxmlformats.org/drawingml/2006/main" xmlns:r="http://schemas.openxmlformats.org/officeDocument/2006/relationships" xmlns:p="http://schemas.openxmlformats.org/presentationml/2006/main">
  <p:tag name="PICTUREFILLRANGE" val="2c6e7530-7b18-4a69-a31d-5f058a0ee538"/>
  <p:tag name="KSO_WM_UNIT_VALUE" val="318*29"/>
  <p:tag name="KSO_WM_UNIT_HIGHLIGHT" val="0"/>
  <p:tag name="KSO_WM_UNIT_COMPATIBLE" val="0"/>
  <p:tag name="KSO_WM_UNIT_DIAGRAM_ISNUMVISUAL" val="0"/>
  <p:tag name="KSO_WM_UNIT_DIAGRAM_ISREFERUNIT" val="0"/>
  <p:tag name="KSO_WM_DIAGRAM_GROUP_CODE" val="1568032552"/>
  <p:tag name="KSO_WM_UNIT_TYPE" val="ζ_h_d"/>
  <p:tag name="KSO_WM_UNIT_INDEX" val="1_1_6"/>
  <p:tag name="KSO_WM_UNIT_ID" val="crop20194963_1*ζ_h_d*1_1_6"/>
  <p:tag name="KSO_WM_TEMPLATE_CATEGORY" val="crop"/>
  <p:tag name="KSO_WM_TEMPLATE_INDEX" val="20194963"/>
  <p:tag name="KSO_WM_UNIT_LAYERLEVEL" val="1_1_1"/>
  <p:tag name="KSO_WM_TAG_VERSION" val="1.0"/>
  <p:tag name="KSO_WM_BEAUTIFY_FLAG" val="#wm#"/>
  <p:tag name="KSO_WM_UNIT_DIAGRAM_MODELTYPE" val="creativeCrop"/>
  <p:tag name="KSO_WM_BLIP_RECT_LEFT" val="-8680"/>
  <p:tag name="KSO_WM_BLIP_RECT_RIGHT" val="-1502"/>
  <p:tag name="KSO_WM_BLIP_RECT_TOP" val="-129"/>
  <p:tag name="KSO_WM_BLIP_RECT_BOTTOM" val="-366"/>
  <p:tag name="KSO_WM_CREATIVE_CROP_ORG_WIDTH" val="548"/>
  <p:tag name="KSO_WM_CREATIVE_CROP_ORG_HEIGHT" val="360"/>
  <p:tag name="KSO_WM_CREATIVE_CROP_HEIGHT" val="360.9"/>
  <p:tag name="KSO_WM_CREATIVE_CROP_WIDTH" val="464.267"/>
  <p:tag name="KSO_WM_CREATIVE_CROP_VERSION" val="1"/>
  <p:tag name="KSO_WM_CREATIVE_CROP_TEMPLATE_ID" val="3106986"/>
  <p:tag name="KSO_WM_CREATIVE_CROP_ORG_DELTA_X" val="0"/>
  <p:tag name="KSO_WM_CREATIVE_CROP_ORG_DELTA_Y" val="0"/>
  <p:tag name="KSO_WM_UNIT_PARTIAL_ZOOM_RATIO" val="100"/>
</p:tagLst>
</file>

<file path=ppt/tags/tag9.xml><?xml version="1.0" encoding="utf-8"?>
<p:tagLst xmlns:a="http://schemas.openxmlformats.org/drawingml/2006/main" xmlns:r="http://schemas.openxmlformats.org/officeDocument/2006/relationships" xmlns:p="http://schemas.openxmlformats.org/presentationml/2006/main">
  <p:tag name="PICTUREFILLRANGE" val="2c6e7530-7b18-4a69-a31d-5f058a0ee538"/>
  <p:tag name="KSO_WM_UNIT_VALUE" val="534*38"/>
  <p:tag name="KSO_WM_UNIT_HIGHLIGHT" val="0"/>
  <p:tag name="KSO_WM_UNIT_COMPATIBLE" val="0"/>
  <p:tag name="KSO_WM_UNIT_DIAGRAM_ISNUMVISUAL" val="0"/>
  <p:tag name="KSO_WM_UNIT_DIAGRAM_ISREFERUNIT" val="0"/>
  <p:tag name="KSO_WM_DIAGRAM_GROUP_CODE" val="1568032552"/>
  <p:tag name="KSO_WM_UNIT_TYPE" val="ζ_h_d"/>
  <p:tag name="KSO_WM_UNIT_INDEX" val="1_1_7"/>
  <p:tag name="KSO_WM_UNIT_ID" val="crop20194963_1*ζ_h_d*1_1_7"/>
  <p:tag name="KSO_WM_TEMPLATE_CATEGORY" val="crop"/>
  <p:tag name="KSO_WM_TEMPLATE_INDEX" val="20194963"/>
  <p:tag name="KSO_WM_UNIT_LAYERLEVEL" val="1_1_1"/>
  <p:tag name="KSO_WM_TAG_VERSION" val="1.0"/>
  <p:tag name="KSO_WM_BEAUTIFY_FLAG" val="#wm#"/>
  <p:tag name="KSO_WM_UNIT_DIAGRAM_MODELTYPE" val="creativeCrop"/>
  <p:tag name="KSO_WM_BLIP_RECT_LEFT" val="-6252"/>
  <p:tag name="KSO_WM_BLIP_RECT_RIGHT" val="-1527"/>
  <p:tag name="KSO_WM_BLIP_RECT_TOP" val="-199"/>
  <p:tag name="KSO_WM_BLIP_RECT_BOTTOM" val="-55"/>
  <p:tag name="KSO_WM_CREATIVE_CROP_ORG_WIDTH" val="548"/>
  <p:tag name="KSO_WM_CREATIVE_CROP_ORG_HEIGHT" val="360"/>
  <p:tag name="KSO_WM_CREATIVE_CROP_HEIGHT" val="360.9"/>
  <p:tag name="KSO_WM_CREATIVE_CROP_WIDTH" val="464.267"/>
  <p:tag name="KSO_WM_CREATIVE_CROP_VERSION" val="1"/>
  <p:tag name="KSO_WM_CREATIVE_CROP_TEMPLATE_ID" val="3106986"/>
  <p:tag name="KSO_WM_CREATIVE_CROP_ORG_DELTA_X" val="0"/>
  <p:tag name="KSO_WM_CREATIVE_CROP_ORG_DELTA_Y" val="0"/>
  <p:tag name="KSO_WM_UNIT_PARTIAL_ZOOM_RATIO" val="100"/>
</p:tagLst>
</file>

<file path=ppt/tags/tag10.xml><?xml version="1.0" encoding="utf-8"?>
<p:tagLst xmlns:a="http://schemas.openxmlformats.org/drawingml/2006/main" xmlns:r="http://schemas.openxmlformats.org/officeDocument/2006/relationships" xmlns:p="http://schemas.openxmlformats.org/presentationml/2006/main">
  <p:tag name="PICTUREFILLRANGE" val="2c6e7530-7b18-4a69-a31d-5f058a0ee538"/>
  <p:tag name="KSO_WM_UNIT_VALUE" val="680*32"/>
  <p:tag name="KSO_WM_UNIT_HIGHLIGHT" val="0"/>
  <p:tag name="KSO_WM_UNIT_COMPATIBLE" val="0"/>
  <p:tag name="KSO_WM_UNIT_DIAGRAM_ISNUMVISUAL" val="0"/>
  <p:tag name="KSO_WM_UNIT_DIAGRAM_ISREFERUNIT" val="0"/>
  <p:tag name="KSO_WM_DIAGRAM_GROUP_CODE" val="1568032552"/>
  <p:tag name="KSO_WM_UNIT_TYPE" val="ζ_h_d"/>
  <p:tag name="KSO_WM_UNIT_INDEX" val="1_1_8"/>
  <p:tag name="KSO_WM_UNIT_ID" val="crop20194963_1*ζ_h_d*1_1_8"/>
  <p:tag name="KSO_WM_TEMPLATE_CATEGORY" val="crop"/>
  <p:tag name="KSO_WM_TEMPLATE_INDEX" val="20194963"/>
  <p:tag name="KSO_WM_UNIT_LAYERLEVEL" val="1_1_1"/>
  <p:tag name="KSO_WM_TAG_VERSION" val="1.0"/>
  <p:tag name="KSO_WM_BEAUTIFY_FLAG" val="#wm#"/>
  <p:tag name="KSO_WM_UNIT_DIAGRAM_MODELTYPE" val="creativeCrop"/>
  <p:tag name="KSO_WM_BLIP_RECT_LEFT" val="-1339"/>
  <p:tag name="KSO_WM_BLIP_RECT_RIGHT" val="-7726"/>
  <p:tag name="KSO_WM_BLIP_RECT_TOP" val="-53"/>
  <p:tag name="KSO_WM_BLIP_RECT_BOTTOM" val="-124"/>
  <p:tag name="KSO_WM_CREATIVE_CROP_ORG_WIDTH" val="548"/>
  <p:tag name="KSO_WM_CREATIVE_CROP_ORG_HEIGHT" val="360"/>
  <p:tag name="KSO_WM_CREATIVE_CROP_HEIGHT" val="360.9"/>
  <p:tag name="KSO_WM_CREATIVE_CROP_WIDTH" val="464.267"/>
  <p:tag name="KSO_WM_CREATIVE_CROP_VERSION" val="1"/>
  <p:tag name="KSO_WM_CREATIVE_CROP_TEMPLATE_ID" val="3106986"/>
  <p:tag name="KSO_WM_CREATIVE_CROP_ORG_DELTA_X" val="0"/>
  <p:tag name="KSO_WM_CREATIVE_CROP_ORG_DELTA_Y" val="0"/>
  <p:tag name="KSO_WM_UNIT_PARTIAL_ZOOM_RATIO" val="100"/>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20000"/>
            <a:lumOff val="80000"/>
          </a:schemeClr>
        </a:solidFill>
        <a:ln w="19050">
          <a:solidFill>
            <a:schemeClr val="tx1">
              <a:lumMod val="75000"/>
              <a:lumOff val="25000"/>
            </a:schemeClr>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34382</TotalTime>
  <Words>4416</Words>
  <Application>Microsoft Macintosh PowerPoint</Application>
  <PresentationFormat>宽屏</PresentationFormat>
  <Paragraphs>435</Paragraphs>
  <Slides>54</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54</vt:i4>
      </vt:variant>
    </vt:vector>
  </HeadingPairs>
  <TitlesOfParts>
    <vt:vector size="71" baseType="lpstr">
      <vt:lpstr>华文琥珀</vt:lpstr>
      <vt:lpstr>Microsoft YaHei</vt:lpstr>
      <vt:lpstr>Microsoft YaHei</vt:lpstr>
      <vt:lpstr>Brush Script MT</vt:lpstr>
      <vt:lpstr>Lantinghei SC Demibold</vt:lpstr>
      <vt:lpstr>Lantinghei SC Demibold</vt:lpstr>
      <vt:lpstr>LANTINGHEI SC EXTRALIGHT</vt:lpstr>
      <vt:lpstr>LANTINGHEI SC EXTRALIGHT</vt:lpstr>
      <vt:lpstr>Agency FB</vt:lpstr>
      <vt:lpstr>Arial</vt:lpstr>
      <vt:lpstr>Calibri</vt:lpstr>
      <vt:lpstr>Cambria Math</vt:lpstr>
      <vt:lpstr>Georgia</vt:lpstr>
      <vt:lpstr>Helvetica</vt:lpstr>
      <vt:lpstr>Times New Roman</vt:lpstr>
      <vt:lpstr>Wingdings</vt:lpstr>
      <vt:lpstr>Office 主题​​</vt:lpstr>
      <vt:lpstr>PowerPoint 演示文稿</vt:lpstr>
      <vt:lpstr>提纲</vt:lpstr>
      <vt:lpstr>本章学习要点</vt:lpstr>
      <vt:lpstr>提纲</vt:lpstr>
      <vt:lpstr>1. AI基础回顾——什么是AI</vt:lpstr>
      <vt:lpstr>1. AI基础回顾</vt:lpstr>
      <vt:lpstr>1. MNIST案例——手写数字识别</vt:lpstr>
      <vt:lpstr>1. MNIST案例——手写数字识别</vt:lpstr>
      <vt:lpstr>1. MNIST案例——手写数字识别</vt:lpstr>
      <vt:lpstr>1. 机器识别概述</vt:lpstr>
      <vt:lpstr>1. 机器识别的工作原理</vt:lpstr>
      <vt:lpstr>1. 机器学习&amp;深度学习</vt:lpstr>
      <vt:lpstr>提纲</vt:lpstr>
      <vt:lpstr>3.2 集成环境概述——Anaconda</vt:lpstr>
      <vt:lpstr>3.2 集成环境概述——Anaconda安装</vt:lpstr>
      <vt:lpstr>3.2 集成环境概述——Conda管理器</vt:lpstr>
      <vt:lpstr>3.2 集成环境概述——Anaconda Navigator GUI</vt:lpstr>
      <vt:lpstr>3.2 集成环境概述——Pycharm介绍</vt:lpstr>
      <vt:lpstr>3.2 集成环境概述——Pycharm安装（Community/Professional）</vt:lpstr>
      <vt:lpstr>提纲</vt:lpstr>
      <vt:lpstr>3.3 Python概述</vt:lpstr>
      <vt:lpstr>3.3 学习Python工具——Jupyter Notebook</vt:lpstr>
      <vt:lpstr>3.3 Python IDLE开发环境</vt:lpstr>
      <vt:lpstr>3.3 运行程序的方式</vt:lpstr>
      <vt:lpstr>3.3 Python基础语法</vt:lpstr>
      <vt:lpstr>3.3 Python函数 </vt:lpstr>
      <vt:lpstr>3.3 Python高级语法</vt:lpstr>
      <vt:lpstr>3.3 Python模块与包</vt:lpstr>
      <vt:lpstr>3.3 Python高级语法——class举例</vt:lpstr>
      <vt:lpstr>3.3 Python异常处理</vt:lpstr>
      <vt:lpstr>提纲</vt:lpstr>
      <vt:lpstr>3.4 AI算法库——Pandas（数据处理与分析）</vt:lpstr>
      <vt:lpstr>3.4 AI算法库——Pandas Intro</vt:lpstr>
      <vt:lpstr>3.4 AI算法库——Pandas Intro</vt:lpstr>
      <vt:lpstr>3.4 AI算法库——NumPy（数值计算与科学计算）</vt:lpstr>
      <vt:lpstr>3.4 AI算法库——NumPy Intro</vt:lpstr>
      <vt:lpstr>3.4 AI算法库——NumPy Intro</vt:lpstr>
      <vt:lpstr>3.4 AI算法库——Matplotlib（可视化）</vt:lpstr>
      <vt:lpstr>3.4 AI算法库——Scikit-learn（机器学习）</vt:lpstr>
      <vt:lpstr>3.4 AI算法库——Scikit-learn Intro</vt:lpstr>
      <vt:lpstr>3.4 结语</vt:lpstr>
      <vt:lpstr>提纲</vt:lpstr>
      <vt:lpstr>1. 人工智能开源框架</vt:lpstr>
      <vt:lpstr>2. 各种人工智能开源框架</vt:lpstr>
      <vt:lpstr>（1）深度学习框架——PyTorch</vt:lpstr>
      <vt:lpstr>（1）深度学习框架——PyTorch</vt:lpstr>
      <vt:lpstr>（2）深度学习框架——TensorFlow</vt:lpstr>
      <vt:lpstr>（3） 深度学习框架——TensorFlow</vt:lpstr>
      <vt:lpstr>（4）深度学习框架——PaddlePaddle</vt:lpstr>
      <vt:lpstr>（5）深度学习框架——PaddlePaddle</vt:lpstr>
      <vt:lpstr>（6）深度学习框架——MindSpore</vt:lpstr>
      <vt:lpstr>深度学习框架——MindSpore</vt:lpstr>
      <vt:lpstr>总结</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Zhang XM</dc:creator>
  <cp:lastModifiedBy>Microsoft Office User</cp:lastModifiedBy>
  <cp:revision>1277</cp:revision>
  <cp:lastPrinted>2015-09-13T13:07:31Z</cp:lastPrinted>
  <dcterms:created xsi:type="dcterms:W3CDTF">2012-01-19T22:55:48Z</dcterms:created>
  <dcterms:modified xsi:type="dcterms:W3CDTF">2026-03-26T23:52:24Z</dcterms:modified>
</cp:coreProperties>
</file>