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2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564" r:id="rId3"/>
    <p:sldId id="560" r:id="rId4"/>
    <p:sldId id="385" r:id="rId5"/>
    <p:sldId id="516" r:id="rId6"/>
    <p:sldId id="523" r:id="rId7"/>
    <p:sldId id="565" r:id="rId8"/>
    <p:sldId id="524" r:id="rId9"/>
    <p:sldId id="525" r:id="rId10"/>
    <p:sldId id="526" r:id="rId11"/>
    <p:sldId id="527" r:id="rId12"/>
    <p:sldId id="528" r:id="rId13"/>
    <p:sldId id="566" r:id="rId14"/>
    <p:sldId id="529" r:id="rId15"/>
    <p:sldId id="1749" r:id="rId16"/>
    <p:sldId id="1750" r:id="rId17"/>
    <p:sldId id="530" r:id="rId18"/>
    <p:sldId id="531" r:id="rId19"/>
    <p:sldId id="532" r:id="rId20"/>
    <p:sldId id="294" r:id="rId21"/>
  </p:sldIdLst>
  <p:sldSz cx="12192000" cy="6858000"/>
  <p:notesSz cx="6794500" cy="99187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4C9F"/>
    <a:srgbClr val="4ABEED"/>
    <a:srgbClr val="B01F24"/>
    <a:srgbClr val="FFFFCC"/>
    <a:srgbClr val="333333"/>
    <a:srgbClr val="F3F3F3"/>
    <a:srgbClr val="003F88"/>
    <a:srgbClr val="F88D2F"/>
    <a:srgbClr val="66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35" autoAdjust="0"/>
    <p:restoredTop sz="90236" autoAdjust="0"/>
  </p:normalViewPr>
  <p:slideViewPr>
    <p:cSldViewPr snapToGrid="0">
      <p:cViewPr varScale="1">
        <p:scale>
          <a:sx n="146" d="100"/>
          <a:sy n="146" d="100"/>
        </p:scale>
        <p:origin x="184" y="70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0" d="100"/>
          <a:sy n="110" d="100"/>
        </p:scale>
        <p:origin x="4824" y="184"/>
      </p:cViewPr>
      <p:guideLst>
        <p:guide orient="horz" pos="3124"/>
        <p:guide pos="214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4283" cy="495935"/>
          </a:xfrm>
          <a:prstGeom prst="rect">
            <a:avLst/>
          </a:prstGeom>
        </p:spPr>
        <p:txBody>
          <a:bodyPr vert="horz" lIns="95492" tIns="47746" rIns="95492" bIns="47746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8645" y="1"/>
            <a:ext cx="2944283" cy="495935"/>
          </a:xfrm>
          <a:prstGeom prst="rect">
            <a:avLst/>
          </a:prstGeom>
        </p:spPr>
        <p:txBody>
          <a:bodyPr vert="horz" lIns="95492" tIns="47746" rIns="95492" bIns="47746" rtlCol="0"/>
          <a:lstStyle>
            <a:lvl1pPr algn="r">
              <a:defRPr sz="1300"/>
            </a:lvl1pPr>
          </a:lstStyle>
          <a:p>
            <a:fld id="{EABEC9A9-8197-4257-ADF2-59768B043AAC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44283" cy="495935"/>
          </a:xfrm>
          <a:prstGeom prst="rect">
            <a:avLst/>
          </a:prstGeom>
        </p:spPr>
        <p:txBody>
          <a:bodyPr vert="horz" lIns="95492" tIns="47746" rIns="95492" bIns="47746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8645" y="9421044"/>
            <a:ext cx="2944283" cy="495935"/>
          </a:xfrm>
          <a:prstGeom prst="rect">
            <a:avLst/>
          </a:prstGeom>
        </p:spPr>
        <p:txBody>
          <a:bodyPr vert="horz" lIns="95492" tIns="47746" rIns="95492" bIns="47746" rtlCol="0" anchor="b"/>
          <a:lstStyle>
            <a:lvl1pPr algn="r">
              <a:defRPr sz="1300"/>
            </a:lvl1pPr>
          </a:lstStyle>
          <a:p>
            <a:fld id="{93D655E0-DE0B-47B4-9B41-34C4A90D4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271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A6C4C-04D2-417C-B23F-E55227F108E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39838"/>
            <a:ext cx="5949950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73613"/>
            <a:ext cx="5435600" cy="39052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18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8100" y="94218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CE964-20FD-4E02-AD78-D23A92B56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33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7" y="3029520"/>
            <a:ext cx="5527001" cy="79895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7AC9D3F-5925-904E-957E-5AE8EE992BB8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6386125" y="1779569"/>
            <a:ext cx="5896185" cy="4583430"/>
            <a:chOff x="4464256" y="617220"/>
            <a:chExt cx="5021803" cy="3839210"/>
          </a:xfrm>
          <a:effectLst/>
        </p:grpSpPr>
        <p:sp>
          <p:nvSpPr>
            <p:cNvPr id="16" name="PA-装饰 矩形: 圆角 9">
              <a:extLst>
                <a:ext uri="{FF2B5EF4-FFF2-40B4-BE49-F238E27FC236}">
                  <a16:creationId xmlns:a16="http://schemas.microsoft.com/office/drawing/2014/main" id="{DA38D3CF-24C6-4447-9460-97F9EE9CBF3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543757" y="4110615"/>
              <a:ext cx="472859" cy="97180"/>
            </a:xfrm>
            <a:prstGeom prst="roundRect">
              <a:avLst>
                <a:gd name="adj" fmla="val 83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PA-圆角矩形 3">
              <a:extLst>
                <a:ext uri="{FF2B5EF4-FFF2-40B4-BE49-F238E27FC236}">
                  <a16:creationId xmlns:a16="http://schemas.microsoft.com/office/drawing/2014/main" id="{19F5E9D8-3BEA-E34E-9814-FCA25B82EB0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950966" y="1260016"/>
              <a:ext cx="2415197" cy="994938"/>
            </a:xfrm>
            <a:custGeom>
              <a:avLst/>
              <a:gdLst>
                <a:gd name="connsiteX0" fmla="*/ 12526 w 3645535"/>
                <a:gd name="connsiteY0" fmla="*/ 0 h 1501775"/>
                <a:gd name="connsiteX1" fmla="*/ 3633013 w 3645535"/>
                <a:gd name="connsiteY1" fmla="*/ 2 h 1501775"/>
                <a:gd name="connsiteX2" fmla="*/ 3645535 w 3645535"/>
                <a:gd name="connsiteY2" fmla="*/ 12527 h 1501775"/>
                <a:gd name="connsiteX3" fmla="*/ 3645532 w 3645535"/>
                <a:gd name="connsiteY3" fmla="*/ 1489248 h 1501775"/>
                <a:gd name="connsiteX4" fmla="*/ 3633012 w 3645535"/>
                <a:gd name="connsiteY4" fmla="*/ 1501774 h 1501775"/>
                <a:gd name="connsiteX5" fmla="*/ 12523 w 3645535"/>
                <a:gd name="connsiteY5" fmla="*/ 1501775 h 1501775"/>
                <a:gd name="connsiteX6" fmla="*/ 1 w 3645535"/>
                <a:gd name="connsiteY6" fmla="*/ 1489249 h 1501775"/>
                <a:gd name="connsiteX7" fmla="*/ 0 w 3645535"/>
                <a:gd name="connsiteY7" fmla="*/ 12527 h 1501775"/>
                <a:gd name="connsiteX8" fmla="*/ 12526 w 3645535"/>
                <a:gd name="connsiteY8" fmla="*/ 0 h 1501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45535" h="1501775">
                  <a:moveTo>
                    <a:pt x="12526" y="0"/>
                  </a:moveTo>
                  <a:lnTo>
                    <a:pt x="3633013" y="2"/>
                  </a:lnTo>
                  <a:cubicBezTo>
                    <a:pt x="3639926" y="4"/>
                    <a:pt x="3645536" y="5609"/>
                    <a:pt x="3645535" y="12527"/>
                  </a:cubicBezTo>
                  <a:lnTo>
                    <a:pt x="3645532" y="1489248"/>
                  </a:lnTo>
                  <a:cubicBezTo>
                    <a:pt x="3645536" y="1496166"/>
                    <a:pt x="3639928" y="1501775"/>
                    <a:pt x="3633012" y="1501774"/>
                  </a:cubicBezTo>
                  <a:lnTo>
                    <a:pt x="12523" y="1501775"/>
                  </a:lnTo>
                  <a:cubicBezTo>
                    <a:pt x="5609" y="1501775"/>
                    <a:pt x="-3" y="1496167"/>
                    <a:pt x="1" y="1489249"/>
                  </a:cubicBezTo>
                  <a:lnTo>
                    <a:pt x="0" y="12527"/>
                  </a:lnTo>
                  <a:cubicBezTo>
                    <a:pt x="0" y="5612"/>
                    <a:pt x="5610" y="2"/>
                    <a:pt x="12526" y="0"/>
                  </a:cubicBezTo>
                  <a:close/>
                </a:path>
              </a:pathLst>
            </a:custGeom>
            <a:blipFill dpi="0" rotWithShape="0">
              <a:blip r:embed="rId12"/>
              <a:srcRect/>
              <a:stretch>
                <a:fillRect l="-146000" t="-98000" r="-48000" b="-255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PA-圆角矩形 2">
              <a:extLst>
                <a:ext uri="{FF2B5EF4-FFF2-40B4-BE49-F238E27FC236}">
                  <a16:creationId xmlns:a16="http://schemas.microsoft.com/office/drawing/2014/main" id="{A0D1F699-41BD-4A49-90B8-06B5468BBBD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592577" y="617220"/>
              <a:ext cx="2307501" cy="2154789"/>
            </a:xfrm>
            <a:custGeom>
              <a:avLst/>
              <a:gdLst>
                <a:gd name="connsiteX0" fmla="*/ 27130 w 3482977"/>
                <a:gd name="connsiteY0" fmla="*/ 0 h 3252471"/>
                <a:gd name="connsiteX1" fmla="*/ 3455851 w 3482977"/>
                <a:gd name="connsiteY1" fmla="*/ 1 h 3252471"/>
                <a:gd name="connsiteX2" fmla="*/ 3482977 w 3482977"/>
                <a:gd name="connsiteY2" fmla="*/ 27131 h 3252471"/>
                <a:gd name="connsiteX3" fmla="*/ 3482974 w 3482977"/>
                <a:gd name="connsiteY3" fmla="*/ 3225345 h 3252471"/>
                <a:gd name="connsiteX4" fmla="*/ 3455849 w 3482977"/>
                <a:gd name="connsiteY4" fmla="*/ 3252466 h 3252471"/>
                <a:gd name="connsiteX5" fmla="*/ 27127 w 3482977"/>
                <a:gd name="connsiteY5" fmla="*/ 3252471 h 3252471"/>
                <a:gd name="connsiteX6" fmla="*/ 0 w 3482977"/>
                <a:gd name="connsiteY6" fmla="*/ 3225340 h 3252471"/>
                <a:gd name="connsiteX7" fmla="*/ 3 w 3482977"/>
                <a:gd name="connsiteY7" fmla="*/ 27124 h 3252471"/>
                <a:gd name="connsiteX8" fmla="*/ 27130 w 3482977"/>
                <a:gd name="connsiteY8" fmla="*/ 0 h 325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82977" h="3252471">
                  <a:moveTo>
                    <a:pt x="27130" y="0"/>
                  </a:moveTo>
                  <a:lnTo>
                    <a:pt x="3455851" y="1"/>
                  </a:lnTo>
                  <a:cubicBezTo>
                    <a:pt x="3470831" y="3"/>
                    <a:pt x="3482976" y="12150"/>
                    <a:pt x="3482977" y="27131"/>
                  </a:cubicBezTo>
                  <a:lnTo>
                    <a:pt x="3482974" y="3225345"/>
                  </a:lnTo>
                  <a:cubicBezTo>
                    <a:pt x="3482976" y="3240325"/>
                    <a:pt x="3470835" y="3252471"/>
                    <a:pt x="3455849" y="3252466"/>
                  </a:cubicBezTo>
                  <a:lnTo>
                    <a:pt x="27127" y="3252471"/>
                  </a:lnTo>
                  <a:cubicBezTo>
                    <a:pt x="12150" y="3252469"/>
                    <a:pt x="3" y="3240325"/>
                    <a:pt x="0" y="3225340"/>
                  </a:cubicBezTo>
                  <a:lnTo>
                    <a:pt x="3" y="27124"/>
                  </a:lnTo>
                  <a:cubicBezTo>
                    <a:pt x="3" y="12144"/>
                    <a:pt x="12149" y="3"/>
                    <a:pt x="27130" y="0"/>
                  </a:cubicBezTo>
                  <a:close/>
                </a:path>
              </a:pathLst>
            </a:custGeom>
            <a:blipFill dpi="0" rotWithShape="0">
              <a:blip r:embed="rId12"/>
              <a:srcRect/>
              <a:stretch>
                <a:fillRect l="-50000" t="-16000" r="-157000" b="-94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PA-圆角矩形 4">
              <a:extLst>
                <a:ext uri="{FF2B5EF4-FFF2-40B4-BE49-F238E27FC236}">
                  <a16:creationId xmlns:a16="http://schemas.microsoft.com/office/drawing/2014/main" id="{2495F699-8B68-3347-812D-46FE36ED48D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580773" y="2819510"/>
              <a:ext cx="1319298" cy="1232210"/>
            </a:xfrm>
            <a:custGeom>
              <a:avLst/>
              <a:gdLst>
                <a:gd name="connsiteX0" fmla="*/ 15519 w 1991369"/>
                <a:gd name="connsiteY0" fmla="*/ 0 h 1859916"/>
                <a:gd name="connsiteX1" fmla="*/ 1975850 w 1991369"/>
                <a:gd name="connsiteY1" fmla="*/ 1 h 1859916"/>
                <a:gd name="connsiteX2" fmla="*/ 1991369 w 1991369"/>
                <a:gd name="connsiteY2" fmla="*/ 15512 h 1859916"/>
                <a:gd name="connsiteX3" fmla="*/ 1991363 w 1991369"/>
                <a:gd name="connsiteY3" fmla="*/ 1844408 h 1859916"/>
                <a:gd name="connsiteX4" fmla="*/ 1975849 w 1991369"/>
                <a:gd name="connsiteY4" fmla="*/ 1859916 h 1859916"/>
                <a:gd name="connsiteX5" fmla="*/ 15513 w 1991369"/>
                <a:gd name="connsiteY5" fmla="*/ 1859912 h 1859916"/>
                <a:gd name="connsiteX6" fmla="*/ 0 w 1991369"/>
                <a:gd name="connsiteY6" fmla="*/ 1844405 h 1859916"/>
                <a:gd name="connsiteX7" fmla="*/ 2 w 1991369"/>
                <a:gd name="connsiteY7" fmla="*/ 15514 h 1859916"/>
                <a:gd name="connsiteX8" fmla="*/ 15519 w 1991369"/>
                <a:gd name="connsiteY8" fmla="*/ 0 h 185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91369" h="1859916">
                  <a:moveTo>
                    <a:pt x="15519" y="0"/>
                  </a:moveTo>
                  <a:lnTo>
                    <a:pt x="1975850" y="1"/>
                  </a:lnTo>
                  <a:cubicBezTo>
                    <a:pt x="1984419" y="2"/>
                    <a:pt x="1991366" y="6947"/>
                    <a:pt x="1991369" y="15512"/>
                  </a:cubicBezTo>
                  <a:lnTo>
                    <a:pt x="1991363" y="1844408"/>
                  </a:lnTo>
                  <a:cubicBezTo>
                    <a:pt x="1991360" y="1852968"/>
                    <a:pt x="1984418" y="1859918"/>
                    <a:pt x="1975849" y="1859916"/>
                  </a:cubicBezTo>
                  <a:lnTo>
                    <a:pt x="15513" y="1859912"/>
                  </a:lnTo>
                  <a:cubicBezTo>
                    <a:pt x="6949" y="1859915"/>
                    <a:pt x="5" y="1852973"/>
                    <a:pt x="0" y="1844405"/>
                  </a:cubicBezTo>
                  <a:lnTo>
                    <a:pt x="2" y="15514"/>
                  </a:lnTo>
                  <a:cubicBezTo>
                    <a:pt x="2" y="6947"/>
                    <a:pt x="6948" y="1"/>
                    <a:pt x="15519" y="0"/>
                  </a:cubicBezTo>
                  <a:close/>
                </a:path>
              </a:pathLst>
            </a:custGeom>
            <a:blipFill dpi="0" rotWithShape="0">
              <a:blip r:embed="rId12"/>
              <a:srcRect/>
              <a:stretch>
                <a:fillRect l="-163000" t="-206000" r="-275000" b="-60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PA-圆角矩形 5">
              <a:extLst>
                <a:ext uri="{FF2B5EF4-FFF2-40B4-BE49-F238E27FC236}">
                  <a16:creationId xmlns:a16="http://schemas.microsoft.com/office/drawing/2014/main" id="{D4494174-302E-D245-9C1D-0765B5C8FBF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016640" y="4110623"/>
              <a:ext cx="1883440" cy="97181"/>
            </a:xfrm>
            <a:custGeom>
              <a:avLst/>
              <a:gdLst>
                <a:gd name="connsiteX0" fmla="*/ 1227 w 2842894"/>
                <a:gd name="connsiteY0" fmla="*/ 0 h 146687"/>
                <a:gd name="connsiteX1" fmla="*/ 2841671 w 2842894"/>
                <a:gd name="connsiteY1" fmla="*/ 2 h 146687"/>
                <a:gd name="connsiteX2" fmla="*/ 2842894 w 2842894"/>
                <a:gd name="connsiteY2" fmla="*/ 1228 h 146687"/>
                <a:gd name="connsiteX3" fmla="*/ 2842893 w 2842894"/>
                <a:gd name="connsiteY3" fmla="*/ 145462 h 146687"/>
                <a:gd name="connsiteX4" fmla="*/ 2841676 w 2842894"/>
                <a:gd name="connsiteY4" fmla="*/ 146685 h 146687"/>
                <a:gd name="connsiteX5" fmla="*/ 1224 w 2842894"/>
                <a:gd name="connsiteY5" fmla="*/ 146687 h 146687"/>
                <a:gd name="connsiteX6" fmla="*/ 1 w 2842894"/>
                <a:gd name="connsiteY6" fmla="*/ 145463 h 146687"/>
                <a:gd name="connsiteX7" fmla="*/ 0 w 2842894"/>
                <a:gd name="connsiteY7" fmla="*/ 1228 h 146687"/>
                <a:gd name="connsiteX8" fmla="*/ 1227 w 2842894"/>
                <a:gd name="connsiteY8" fmla="*/ 0 h 14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42894" h="146687">
                  <a:moveTo>
                    <a:pt x="1227" y="0"/>
                  </a:moveTo>
                  <a:lnTo>
                    <a:pt x="2841671" y="2"/>
                  </a:lnTo>
                  <a:cubicBezTo>
                    <a:pt x="2842347" y="0"/>
                    <a:pt x="2842894" y="547"/>
                    <a:pt x="2842894" y="1228"/>
                  </a:cubicBezTo>
                  <a:lnTo>
                    <a:pt x="2842893" y="145462"/>
                  </a:lnTo>
                  <a:cubicBezTo>
                    <a:pt x="2842898" y="146137"/>
                    <a:pt x="2842347" y="146687"/>
                    <a:pt x="2841676" y="146685"/>
                  </a:cubicBezTo>
                  <a:lnTo>
                    <a:pt x="1224" y="146687"/>
                  </a:lnTo>
                  <a:cubicBezTo>
                    <a:pt x="546" y="146689"/>
                    <a:pt x="-1" y="146139"/>
                    <a:pt x="1" y="145463"/>
                  </a:cubicBezTo>
                  <a:lnTo>
                    <a:pt x="0" y="1228"/>
                  </a:lnTo>
                  <a:cubicBezTo>
                    <a:pt x="1" y="549"/>
                    <a:pt x="549" y="2"/>
                    <a:pt x="1227" y="0"/>
                  </a:cubicBezTo>
                  <a:close/>
                </a:path>
              </a:pathLst>
            </a:custGeom>
            <a:blipFill dpi="0" rotWithShape="0">
              <a:blip r:embed="rId12"/>
              <a:srcRect/>
              <a:stretch>
                <a:fillRect l="-84000" t="-3939000" r="-192000" b="-600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PA-圆角矩形 6">
              <a:extLst>
                <a:ext uri="{FF2B5EF4-FFF2-40B4-BE49-F238E27FC236}">
                  <a16:creationId xmlns:a16="http://schemas.microsoft.com/office/drawing/2014/main" id="{FE6C78C2-E9D0-BF4C-BDE4-8E20854DDAA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950957" y="2301643"/>
              <a:ext cx="2055508" cy="2154787"/>
            </a:xfrm>
            <a:custGeom>
              <a:avLst/>
              <a:gdLst>
                <a:gd name="connsiteX0" fmla="*/ 25880 w 3102615"/>
                <a:gd name="connsiteY0" fmla="*/ 0 h 3252468"/>
                <a:gd name="connsiteX1" fmla="*/ 3076734 w 3102615"/>
                <a:gd name="connsiteY1" fmla="*/ 1 h 3252468"/>
                <a:gd name="connsiteX2" fmla="*/ 3102615 w 3102615"/>
                <a:gd name="connsiteY2" fmla="*/ 25877 h 3252468"/>
                <a:gd name="connsiteX3" fmla="*/ 3102612 w 3102615"/>
                <a:gd name="connsiteY3" fmla="*/ 3226589 h 3252468"/>
                <a:gd name="connsiteX4" fmla="*/ 3076735 w 3102615"/>
                <a:gd name="connsiteY4" fmla="*/ 3252466 h 3252468"/>
                <a:gd name="connsiteX5" fmla="*/ 25877 w 3102615"/>
                <a:gd name="connsiteY5" fmla="*/ 3252468 h 3252468"/>
                <a:gd name="connsiteX6" fmla="*/ 0 w 3102615"/>
                <a:gd name="connsiteY6" fmla="*/ 3226594 h 3252468"/>
                <a:gd name="connsiteX7" fmla="*/ 6 w 3102615"/>
                <a:gd name="connsiteY7" fmla="*/ 25876 h 3252468"/>
                <a:gd name="connsiteX8" fmla="*/ 25880 w 3102615"/>
                <a:gd name="connsiteY8" fmla="*/ 0 h 3252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02615" h="3252468">
                  <a:moveTo>
                    <a:pt x="25880" y="0"/>
                  </a:moveTo>
                  <a:lnTo>
                    <a:pt x="3076734" y="1"/>
                  </a:lnTo>
                  <a:cubicBezTo>
                    <a:pt x="3091027" y="5"/>
                    <a:pt x="3102613" y="11585"/>
                    <a:pt x="3102615" y="25877"/>
                  </a:cubicBezTo>
                  <a:lnTo>
                    <a:pt x="3102612" y="3226589"/>
                  </a:lnTo>
                  <a:cubicBezTo>
                    <a:pt x="3102617" y="3240882"/>
                    <a:pt x="3091027" y="3252464"/>
                    <a:pt x="3076735" y="3252466"/>
                  </a:cubicBezTo>
                  <a:lnTo>
                    <a:pt x="25877" y="3252468"/>
                  </a:lnTo>
                  <a:cubicBezTo>
                    <a:pt x="11588" y="3252465"/>
                    <a:pt x="4" y="3240881"/>
                    <a:pt x="0" y="3226594"/>
                  </a:cubicBezTo>
                  <a:lnTo>
                    <a:pt x="6" y="25876"/>
                  </a:lnTo>
                  <a:cubicBezTo>
                    <a:pt x="6" y="11586"/>
                    <a:pt x="11588" y="0"/>
                    <a:pt x="25880" y="0"/>
                  </a:cubicBezTo>
                  <a:close/>
                </a:path>
              </a:pathLst>
            </a:custGeom>
            <a:blipFill dpi="0" rotWithShape="0">
              <a:blip r:embed="rId12"/>
              <a:srcRect/>
              <a:stretch>
                <a:fillRect l="-171000" t="-94000" r="-74000" b="-16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PA-圆角矩形 10">
              <a:extLst>
                <a:ext uri="{FF2B5EF4-FFF2-40B4-BE49-F238E27FC236}">
                  <a16:creationId xmlns:a16="http://schemas.microsoft.com/office/drawing/2014/main" id="{D397F93F-57D0-1F4C-B2A1-5A1DCE1AA9B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417062" y="1260028"/>
              <a:ext cx="68997" cy="758090"/>
            </a:xfrm>
            <a:custGeom>
              <a:avLst/>
              <a:gdLst>
                <a:gd name="connsiteX0" fmla="*/ 867 w 104145"/>
                <a:gd name="connsiteY0" fmla="*/ 1 h 1144272"/>
                <a:gd name="connsiteX1" fmla="*/ 103272 w 104145"/>
                <a:gd name="connsiteY1" fmla="*/ 1 h 1144272"/>
                <a:gd name="connsiteX2" fmla="*/ 104142 w 104145"/>
                <a:gd name="connsiteY2" fmla="*/ 867 h 1144272"/>
                <a:gd name="connsiteX3" fmla="*/ 104145 w 104145"/>
                <a:gd name="connsiteY3" fmla="*/ 1143398 h 1144272"/>
                <a:gd name="connsiteX4" fmla="*/ 103271 w 104145"/>
                <a:gd name="connsiteY4" fmla="*/ 1144272 h 1144272"/>
                <a:gd name="connsiteX5" fmla="*/ 874 w 104145"/>
                <a:gd name="connsiteY5" fmla="*/ 1144268 h 1144272"/>
                <a:gd name="connsiteX6" fmla="*/ 0 w 104145"/>
                <a:gd name="connsiteY6" fmla="*/ 1143396 h 1144272"/>
                <a:gd name="connsiteX7" fmla="*/ 3 w 104145"/>
                <a:gd name="connsiteY7" fmla="*/ 863 h 1144272"/>
                <a:gd name="connsiteX8" fmla="*/ 867 w 104145"/>
                <a:gd name="connsiteY8" fmla="*/ 1 h 1144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145" h="1144272">
                  <a:moveTo>
                    <a:pt x="867" y="1"/>
                  </a:moveTo>
                  <a:lnTo>
                    <a:pt x="103272" y="1"/>
                  </a:lnTo>
                  <a:cubicBezTo>
                    <a:pt x="103754" y="-1"/>
                    <a:pt x="104138" y="385"/>
                    <a:pt x="104142" y="867"/>
                  </a:cubicBezTo>
                  <a:lnTo>
                    <a:pt x="104145" y="1143398"/>
                  </a:lnTo>
                  <a:cubicBezTo>
                    <a:pt x="104140" y="1143877"/>
                    <a:pt x="103750" y="1144266"/>
                    <a:pt x="103271" y="1144272"/>
                  </a:cubicBezTo>
                  <a:lnTo>
                    <a:pt x="874" y="1144268"/>
                  </a:lnTo>
                  <a:cubicBezTo>
                    <a:pt x="390" y="1144268"/>
                    <a:pt x="0" y="1143879"/>
                    <a:pt x="0" y="1143396"/>
                  </a:cubicBezTo>
                  <a:lnTo>
                    <a:pt x="3" y="863"/>
                  </a:lnTo>
                  <a:cubicBezTo>
                    <a:pt x="3" y="389"/>
                    <a:pt x="391" y="-6"/>
                    <a:pt x="867" y="1"/>
                  </a:cubicBezTo>
                  <a:close/>
                </a:path>
              </a:pathLst>
            </a:custGeom>
            <a:blipFill dpi="0" rotWithShape="0">
              <a:blip r:embed="rId12"/>
              <a:srcRect/>
              <a:stretch>
                <a:fillRect l="-8680000" t="-129000" r="-1502000" b="-366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PA-圆角矩形 11">
              <a:extLst>
                <a:ext uri="{FF2B5EF4-FFF2-40B4-BE49-F238E27FC236}">
                  <a16:creationId xmlns:a16="http://schemas.microsoft.com/office/drawing/2014/main" id="{D4F5205D-0304-4C43-8AFF-CC3DFB5ED1B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057363" y="2817848"/>
              <a:ext cx="90036" cy="1275541"/>
            </a:xfrm>
            <a:custGeom>
              <a:avLst/>
              <a:gdLst>
                <a:gd name="connsiteX0" fmla="*/ 1136 w 135901"/>
                <a:gd name="connsiteY0" fmla="*/ 0 h 1925321"/>
                <a:gd name="connsiteX1" fmla="*/ 134759 w 135901"/>
                <a:gd name="connsiteY1" fmla="*/ 5 h 1925321"/>
                <a:gd name="connsiteX2" fmla="*/ 135895 w 135901"/>
                <a:gd name="connsiteY2" fmla="*/ 1135 h 1925321"/>
                <a:gd name="connsiteX3" fmla="*/ 135901 w 135901"/>
                <a:gd name="connsiteY3" fmla="*/ 1924188 h 1925321"/>
                <a:gd name="connsiteX4" fmla="*/ 134763 w 135901"/>
                <a:gd name="connsiteY4" fmla="*/ 1925321 h 1925321"/>
                <a:gd name="connsiteX5" fmla="*/ 1139 w 135901"/>
                <a:gd name="connsiteY5" fmla="*/ 1925321 h 1925321"/>
                <a:gd name="connsiteX6" fmla="*/ 0 w 135901"/>
                <a:gd name="connsiteY6" fmla="*/ 1924190 h 1925321"/>
                <a:gd name="connsiteX7" fmla="*/ 3 w 135901"/>
                <a:gd name="connsiteY7" fmla="*/ 1135 h 1925321"/>
                <a:gd name="connsiteX8" fmla="*/ 1136 w 135901"/>
                <a:gd name="connsiteY8" fmla="*/ 0 h 1925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1" h="1925321">
                  <a:moveTo>
                    <a:pt x="1136" y="0"/>
                  </a:moveTo>
                  <a:lnTo>
                    <a:pt x="134759" y="5"/>
                  </a:lnTo>
                  <a:cubicBezTo>
                    <a:pt x="135388" y="-1"/>
                    <a:pt x="135894" y="512"/>
                    <a:pt x="135895" y="1135"/>
                  </a:cubicBezTo>
                  <a:lnTo>
                    <a:pt x="135901" y="1924188"/>
                  </a:lnTo>
                  <a:cubicBezTo>
                    <a:pt x="135893" y="1924813"/>
                    <a:pt x="135388" y="1925322"/>
                    <a:pt x="134763" y="1925321"/>
                  </a:cubicBezTo>
                  <a:lnTo>
                    <a:pt x="1139" y="1925321"/>
                  </a:lnTo>
                  <a:cubicBezTo>
                    <a:pt x="507" y="1925327"/>
                    <a:pt x="15" y="1924815"/>
                    <a:pt x="0" y="1924190"/>
                  </a:cubicBezTo>
                  <a:lnTo>
                    <a:pt x="3" y="1135"/>
                  </a:lnTo>
                  <a:cubicBezTo>
                    <a:pt x="1" y="506"/>
                    <a:pt x="512" y="2"/>
                    <a:pt x="1136" y="0"/>
                  </a:cubicBezTo>
                  <a:close/>
                </a:path>
              </a:pathLst>
            </a:custGeom>
            <a:blipFill dpi="0" rotWithShape="0">
              <a:blip r:embed="rId12"/>
              <a:srcRect/>
              <a:stretch>
                <a:fillRect l="-6252000" t="-199000" r="-1527000" b="-55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PA-圆角矩形 12">
              <a:extLst>
                <a:ext uri="{FF2B5EF4-FFF2-40B4-BE49-F238E27FC236}">
                  <a16:creationId xmlns:a16="http://schemas.microsoft.com/office/drawing/2014/main" id="{AD649424-56CB-DA44-BB5D-982B2BA5829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464256" y="1148120"/>
              <a:ext cx="77407" cy="1623874"/>
            </a:xfrm>
            <a:custGeom>
              <a:avLst/>
              <a:gdLst>
                <a:gd name="connsiteX0" fmla="*/ 974 w 116840"/>
                <a:gd name="connsiteY0" fmla="*/ 0 h 2451101"/>
                <a:gd name="connsiteX1" fmla="*/ 115870 w 116840"/>
                <a:gd name="connsiteY1" fmla="*/ 4 h 2451101"/>
                <a:gd name="connsiteX2" fmla="*/ 116840 w 116840"/>
                <a:gd name="connsiteY2" fmla="*/ 980 h 2451101"/>
                <a:gd name="connsiteX3" fmla="*/ 116838 w 116840"/>
                <a:gd name="connsiteY3" fmla="*/ 2450124 h 2451101"/>
                <a:gd name="connsiteX4" fmla="*/ 115867 w 116840"/>
                <a:gd name="connsiteY4" fmla="*/ 2451101 h 2451101"/>
                <a:gd name="connsiteX5" fmla="*/ 972 w 116840"/>
                <a:gd name="connsiteY5" fmla="*/ 2451101 h 2451101"/>
                <a:gd name="connsiteX6" fmla="*/ 4 w 116840"/>
                <a:gd name="connsiteY6" fmla="*/ 2450130 h 2451101"/>
                <a:gd name="connsiteX7" fmla="*/ 1 w 116840"/>
                <a:gd name="connsiteY7" fmla="*/ 977 h 2451101"/>
                <a:gd name="connsiteX8" fmla="*/ 974 w 116840"/>
                <a:gd name="connsiteY8" fmla="*/ 0 h 245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" h="2451101">
                  <a:moveTo>
                    <a:pt x="974" y="0"/>
                  </a:moveTo>
                  <a:lnTo>
                    <a:pt x="115870" y="4"/>
                  </a:lnTo>
                  <a:cubicBezTo>
                    <a:pt x="116402" y="1"/>
                    <a:pt x="116842" y="440"/>
                    <a:pt x="116840" y="980"/>
                  </a:cubicBezTo>
                  <a:lnTo>
                    <a:pt x="116838" y="2450124"/>
                  </a:lnTo>
                  <a:cubicBezTo>
                    <a:pt x="116841" y="2450663"/>
                    <a:pt x="116402" y="2451106"/>
                    <a:pt x="115867" y="2451101"/>
                  </a:cubicBezTo>
                  <a:lnTo>
                    <a:pt x="972" y="2451101"/>
                  </a:lnTo>
                  <a:cubicBezTo>
                    <a:pt x="433" y="2451105"/>
                    <a:pt x="-4" y="2450666"/>
                    <a:pt x="4" y="2450130"/>
                  </a:cubicBezTo>
                  <a:lnTo>
                    <a:pt x="1" y="977"/>
                  </a:lnTo>
                  <a:cubicBezTo>
                    <a:pt x="-2" y="440"/>
                    <a:pt x="434" y="2"/>
                    <a:pt x="974" y="0"/>
                  </a:cubicBezTo>
                  <a:close/>
                </a:path>
              </a:pathLst>
            </a:custGeom>
            <a:blipFill dpi="0" rotWithShape="0">
              <a:blip r:embed="rId12"/>
              <a:srcRect/>
              <a:stretch>
                <a:fillRect l="-1339000" t="-53000" r="-7726000" b="-124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447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C34D5DC-72FD-2045-979A-4F1325C4D0D9}"/>
              </a:ext>
            </a:extLst>
          </p:cNvPr>
          <p:cNvSpPr/>
          <p:nvPr userDrawn="1"/>
        </p:nvSpPr>
        <p:spPr>
          <a:xfrm>
            <a:off x="0" y="708703"/>
            <a:ext cx="12192001" cy="5524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6942" y="142263"/>
            <a:ext cx="11298116" cy="43718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400" b="1" baseline="0">
                <a:solidFill>
                  <a:schemeClr val="bg1"/>
                </a:solidFill>
                <a:latin typeface="Georgia" panose="02040502050405020303" pitchFamily="18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942" y="810985"/>
            <a:ext cx="11298116" cy="5338311"/>
          </a:xfrm>
          <a:prstGeom prst="rect">
            <a:avLst/>
          </a:prstGeom>
        </p:spPr>
        <p:txBody>
          <a:bodyPr/>
          <a:lstStyle>
            <a:lvl1pPr marL="266400" indent="-266400">
              <a:lnSpc>
                <a:spcPct val="150000"/>
              </a:lnSpc>
              <a:spcBef>
                <a:spcPts val="720"/>
              </a:spcBef>
              <a:spcAft>
                <a:spcPts val="240"/>
              </a:spcAft>
              <a:buFont typeface="Wingdings" pitchFamily="2" charset="2"/>
              <a:buChar char=""/>
              <a:defRPr sz="2000" b="1" baseline="0">
                <a:solidFill>
                  <a:srgbClr val="333333"/>
                </a:solidFill>
                <a:latin typeface="Georgia" panose="02040502050405020303" pitchFamily="18" charset="0"/>
                <a:ea typeface="微软雅黑" pitchFamily="34" charset="-122"/>
              </a:defRPr>
            </a:lvl1pPr>
            <a:lvl2pPr marL="712800" indent="-270000">
              <a:lnSpc>
                <a:spcPct val="150000"/>
              </a:lnSpc>
              <a:spcBef>
                <a:spcPts val="36"/>
              </a:spcBef>
              <a:spcAft>
                <a:spcPts val="12"/>
              </a:spcAft>
              <a:defRPr sz="1800" b="1" baseline="0">
                <a:solidFill>
                  <a:srgbClr val="333333"/>
                </a:solidFill>
                <a:latin typeface="Georgia" panose="02040502050405020303" pitchFamily="18" charset="0"/>
                <a:ea typeface="微软雅黑" pitchFamily="34" charset="-122"/>
              </a:defRPr>
            </a:lvl2pPr>
            <a:lvl3pPr marL="1072800" indent="-176400">
              <a:lnSpc>
                <a:spcPct val="150000"/>
              </a:lnSpc>
              <a:spcBef>
                <a:spcPts val="36"/>
              </a:spcBef>
              <a:spcAft>
                <a:spcPts val="12"/>
              </a:spcAft>
              <a:defRPr sz="1600" b="1" baseline="0">
                <a:solidFill>
                  <a:srgbClr val="333333"/>
                </a:solidFill>
                <a:latin typeface="Georgia" panose="02040502050405020303" pitchFamily="18" charset="0"/>
                <a:ea typeface="微软雅黑" pitchFamily="34" charset="-122"/>
              </a:defRPr>
            </a:lvl3pPr>
            <a:lvl4pPr marL="1440000" indent="-187200">
              <a:lnSpc>
                <a:spcPct val="150000"/>
              </a:lnSpc>
              <a:spcBef>
                <a:spcPts val="504"/>
              </a:spcBef>
              <a:spcAft>
                <a:spcPts val="168"/>
              </a:spcAft>
              <a:defRPr sz="1400" b="1" baseline="0">
                <a:solidFill>
                  <a:srgbClr val="333333"/>
                </a:solidFill>
                <a:latin typeface="Georgia" panose="02040502050405020303" pitchFamily="18" charset="0"/>
                <a:ea typeface="微软雅黑" pitchFamily="34" charset="-122"/>
              </a:defRPr>
            </a:lvl4pPr>
            <a:lvl5pPr>
              <a:lnSpc>
                <a:spcPct val="150000"/>
              </a:lnSpc>
              <a:spcBef>
                <a:spcPts val="504"/>
              </a:spcBef>
              <a:spcAft>
                <a:spcPts val="168"/>
              </a:spcAft>
              <a:defRPr sz="1400" b="1" baseline="0">
                <a:solidFill>
                  <a:srgbClr val="333333"/>
                </a:solidFill>
                <a:latin typeface="Georgia" panose="02040502050405020303" pitchFamily="18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Oval 36">
            <a:extLst>
              <a:ext uri="{FF2B5EF4-FFF2-40B4-BE49-F238E27FC236}">
                <a16:creationId xmlns:a16="http://schemas.microsoft.com/office/drawing/2014/main" id="{208C71A3-1939-854C-BFCF-85D7A56880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87505" y="6461537"/>
            <a:ext cx="416984" cy="288925"/>
          </a:xfrm>
          <a:prstGeom prst="ellipse">
            <a:avLst/>
          </a:prstGeom>
          <a:solidFill>
            <a:srgbClr val="F3F3F3"/>
          </a:solidFill>
          <a:ln w="22225" algn="ctr">
            <a:solidFill>
              <a:srgbClr val="003F88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algn="ctr"/>
            <a:fld id="{4B9884D0-9C6F-4B58-8530-0C8AC02EC7F6}" type="slidenum">
              <a:rPr lang="zh-CN" altLang="en-US" sz="1800" b="0">
                <a:solidFill>
                  <a:srgbClr val="003F88"/>
                </a:solidFill>
                <a:latin typeface="Brush Script MT" pitchFamily="66" charset="0"/>
                <a:ea typeface="黑体" pitchFamily="2" charset="-122"/>
              </a:rPr>
              <a:pPr algn="ctr"/>
              <a:t>‹#›</a:t>
            </a:fld>
            <a:endParaRPr lang="en-US" altLang="zh-CN" sz="1800" b="0" dirty="0">
              <a:solidFill>
                <a:srgbClr val="003F88"/>
              </a:solidFill>
              <a:latin typeface="Brush Script MT" pitchFamily="66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921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27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4C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972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204505" y="3207982"/>
            <a:ext cx="6073631" cy="442036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第六章 数据的聚类和降维技术</a:t>
            </a:r>
            <a:endParaRPr lang="en-US" altLang="zh-CN" dirty="0"/>
          </a:p>
        </p:txBody>
      </p:sp>
      <p:sp>
        <p:nvSpPr>
          <p:cNvPr id="4" name="文本框 17">
            <a:extLst>
              <a:ext uri="{FF2B5EF4-FFF2-40B4-BE49-F238E27FC236}">
                <a16:creationId xmlns:a16="http://schemas.microsoft.com/office/drawing/2014/main" id="{08669695-17DE-4B8C-BC9E-5364409D48D4}"/>
              </a:ext>
            </a:extLst>
          </p:cNvPr>
          <p:cNvSpPr txBox="1"/>
          <p:nvPr/>
        </p:nvSpPr>
        <p:spPr>
          <a:xfrm>
            <a:off x="92995" y="3994846"/>
            <a:ext cx="6232189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kumimoji="1"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朱霖潮</a:t>
            </a:r>
            <a:endParaRPr kumimoji="1"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48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F41A-F79D-A292-D049-D21054DC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59D8499-81C3-DDE0-B659-4AAF07C25D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3236" y="764293"/>
            <a:ext cx="3543030" cy="235196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2E55490-2EBE-2838-6610-52AA39FA4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1AADE-A081-253A-B2F0-B974A0180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615" y="1338944"/>
            <a:ext cx="11298116" cy="5026688"/>
          </a:xfrm>
        </p:spPr>
        <p:txBody>
          <a:bodyPr/>
          <a:lstStyle/>
          <a:p>
            <a:r>
              <a:rPr lang="en-US" altLang="zh-CN" sz="2400" dirty="0"/>
              <a:t>6.1</a:t>
            </a:r>
            <a:r>
              <a:rPr lang="zh-CN" altLang="en-US" sz="2400" dirty="0"/>
              <a:t> 无监督学习方法概述</a:t>
            </a:r>
            <a:endParaRPr lang="en-US" altLang="zh-CN" sz="2400" dirty="0"/>
          </a:p>
          <a:p>
            <a:r>
              <a:rPr lang="en-US" altLang="zh-CN" sz="2400" dirty="0"/>
              <a:t>6.2</a:t>
            </a:r>
            <a:r>
              <a:rPr lang="zh-CN" altLang="en-US" sz="2400" dirty="0"/>
              <a:t> 聚类分析技术</a:t>
            </a:r>
            <a:endParaRPr lang="en-US" altLang="zh-CN" sz="2400" dirty="0"/>
          </a:p>
          <a:p>
            <a:r>
              <a:rPr lang="en-US" altLang="zh-CN" sz="2400" dirty="0"/>
              <a:t>6.3</a:t>
            </a:r>
            <a:r>
              <a:rPr lang="zh-CN" altLang="en-US" sz="2400" dirty="0"/>
              <a:t> 数据降维技术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089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3236" y="764293"/>
            <a:ext cx="3543030" cy="23519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学习要点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615" y="1338944"/>
            <a:ext cx="11298116" cy="5026688"/>
          </a:xfrm>
        </p:spPr>
        <p:txBody>
          <a:bodyPr/>
          <a:lstStyle/>
          <a:p>
            <a:r>
              <a:rPr lang="zh-CN" altLang="en-US" sz="2400" dirty="0"/>
              <a:t>解释无监督学习方法和列举其类型</a:t>
            </a:r>
            <a:endParaRPr lang="en-US" altLang="zh-CN" sz="2400" dirty="0"/>
          </a:p>
          <a:p>
            <a:r>
              <a:rPr lang="zh-CN" altLang="en-US" sz="2400" dirty="0"/>
              <a:t>分析聚类技术的核心思想和列举常用方法</a:t>
            </a:r>
            <a:endParaRPr lang="en-US" altLang="zh-CN" sz="2400" dirty="0"/>
          </a:p>
          <a:p>
            <a:r>
              <a:rPr lang="zh-CN" altLang="en-US" sz="2400" dirty="0"/>
              <a:t>分析使用</a:t>
            </a:r>
            <a:r>
              <a:rPr lang="en-US" altLang="zh-CN" sz="2400" dirty="0" err="1"/>
              <a:t>Kp</a:t>
            </a:r>
            <a:r>
              <a:rPr lang="en-US" altLang="zh-CN" sz="2400" dirty="0"/>
              <a:t>-means</a:t>
            </a:r>
            <a:r>
              <a:rPr lang="zh-CN" altLang="en-US" sz="2400" dirty="0"/>
              <a:t>算法实现聚类</a:t>
            </a:r>
            <a:endParaRPr lang="en-US" altLang="zh-CN" sz="2400" dirty="0"/>
          </a:p>
          <a:p>
            <a:r>
              <a:rPr lang="zh-CN" altLang="en-US" sz="2400" dirty="0"/>
              <a:t>分析降维技术的重要性和使用主成分分析算法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83175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3236" y="764293"/>
            <a:ext cx="3543030" cy="23519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615" y="1338944"/>
            <a:ext cx="11298116" cy="5026688"/>
          </a:xfrm>
        </p:spPr>
        <p:txBody>
          <a:bodyPr/>
          <a:lstStyle/>
          <a:p>
            <a:r>
              <a:rPr lang="en-US" altLang="zh-CN" sz="2400" dirty="0"/>
              <a:t>6.1</a:t>
            </a:r>
            <a:r>
              <a:rPr lang="zh-CN" altLang="en-US" sz="2400" dirty="0"/>
              <a:t> 无监督学习方法概述</a:t>
            </a:r>
            <a:endParaRPr lang="en-US" altLang="zh-CN" sz="2400" dirty="0"/>
          </a:p>
          <a:p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6.2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聚类分析技术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6.3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数据降维技术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135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7CB77-0F56-944E-A45A-ADA887F9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理解无监督学习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00F5DB3B-7149-C48E-527E-678F48E5E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403350"/>
              </p:ext>
            </p:extLst>
          </p:nvPr>
        </p:nvGraphicFramePr>
        <p:xfrm>
          <a:off x="511473" y="3335015"/>
          <a:ext cx="5843609" cy="2464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9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76B4"/>
                    </a:solidFill>
                  </a:tcPr>
                </a:tc>
                <a:tc>
                  <a:txBody>
                    <a:bodyPr/>
                    <a:lstStyle/>
                    <a:p>
                      <a:pPr marL="6102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zh-CN" altLang="en-US" sz="1800" b="1" spc="-15" dirty="0">
                          <a:solidFill>
                            <a:srgbClr val="FFFFFF"/>
                          </a:solidFill>
                          <a:latin typeface="Lantinghei SC Heavy"/>
                          <a:cs typeface="Lantinghei SC Heavy"/>
                        </a:rPr>
                        <a:t>监督学习</a:t>
                      </a:r>
                      <a:endParaRPr sz="1800" dirty="0">
                        <a:latin typeface="Lantinghei SC Heavy"/>
                        <a:cs typeface="Lantinghei SC Heavy"/>
                      </a:endParaRPr>
                    </a:p>
                  </a:txBody>
                  <a:tcPr marL="0" marR="0" marT="38735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76B4"/>
                    </a:solidFill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zh-CN" altLang="en-US" sz="1800" b="1" spc="-10" dirty="0">
                          <a:solidFill>
                            <a:srgbClr val="FFFFFF"/>
                          </a:solidFill>
                          <a:latin typeface="Lantinghei SC Heavy"/>
                          <a:cs typeface="Lantinghei SC Heavy"/>
                        </a:rPr>
                        <a:t>无监督</a:t>
                      </a:r>
                      <a:r>
                        <a:rPr sz="1800" b="1" spc="-10" dirty="0" err="1">
                          <a:solidFill>
                            <a:srgbClr val="FFFFFF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Lantinghei SC Heavy"/>
                        </a:rPr>
                        <a:t>学习</a:t>
                      </a:r>
                      <a:endParaRPr sz="1800" dirty="0">
                        <a:latin typeface="DengXian" panose="02010600030101010101" pitchFamily="2" charset="-122"/>
                        <a:ea typeface="DengXian" panose="02010600030101010101" pitchFamily="2" charset="-122"/>
                        <a:cs typeface="Lantinghei SC Heavy"/>
                      </a:endParaRPr>
                    </a:p>
                  </a:txBody>
                  <a:tcPr marL="0" marR="0" marT="38735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76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655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zh-CN" altLang="en-US" sz="1800" spc="-15" dirty="0">
                          <a:latin typeface="DengXian" panose="02010600030101010101" pitchFamily="2" charset="-122"/>
                          <a:ea typeface="DengXian" panose="02010600030101010101" pitchFamily="2" charset="-122"/>
                          <a:cs typeface="Lantinghei SC Extralight"/>
                        </a:rPr>
                        <a:t>训练</a:t>
                      </a:r>
                      <a:r>
                        <a:rPr sz="1800" spc="-15" dirty="0" err="1">
                          <a:latin typeface="DengXian" panose="02010600030101010101" pitchFamily="2" charset="-122"/>
                          <a:ea typeface="DengXian" panose="02010600030101010101" pitchFamily="2" charset="-122"/>
                          <a:cs typeface="Lantinghei SC Extralight"/>
                        </a:rPr>
                        <a:t>数据</a:t>
                      </a:r>
                      <a:endParaRPr sz="1800" dirty="0">
                        <a:latin typeface="DengXian" panose="02010600030101010101" pitchFamily="2" charset="-122"/>
                        <a:ea typeface="DengXian" panose="02010600030101010101" pitchFamily="2" charset="-122"/>
                        <a:cs typeface="Lantinghei SC Extraligh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5E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带标签的数据集</a:t>
                      </a:r>
                      <a:endParaRPr sz="1800" dirty="0">
                        <a:latin typeface="Lantinghei SC Extralight"/>
                        <a:cs typeface="Lantinghei SC Extraligh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5E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不带标签的数据集</a:t>
                      </a:r>
                      <a:endParaRPr sz="1800" dirty="0">
                        <a:latin typeface="Lantinghei SC Extralight"/>
                        <a:cs typeface="Lantinghei SC Extraligh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5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359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zh-CN" altLang="en-US" sz="1800" spc="-20" dirty="0">
                          <a:latin typeface="Lantinghei SC Extralight"/>
                          <a:cs typeface="Lantinghei SC Extralight"/>
                        </a:rPr>
                        <a:t>学习目标</a:t>
                      </a:r>
                      <a:endParaRPr sz="1800" dirty="0">
                        <a:latin typeface="Lantinghei SC Extralight"/>
                        <a:cs typeface="Lantinghei SC Extraligh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预测输出或分类</a:t>
                      </a:r>
                      <a:endParaRPr sz="1800" dirty="0">
                        <a:latin typeface="Lantinghei SC Extralight"/>
                        <a:cs typeface="Lantinghei SC Extraligh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发现数据的潜在结构或模式</a:t>
                      </a:r>
                      <a:endParaRPr sz="1800" dirty="0">
                        <a:latin typeface="Lantinghei SC Extralight"/>
                        <a:cs typeface="Lantinghei SC Extraligh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943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模型评估</a:t>
                      </a:r>
                      <a:endParaRPr sz="1800" dirty="0">
                        <a:latin typeface="Lantinghei SC Extralight"/>
                        <a:cs typeface="Lantinghei SC Extraligh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通过准确率、</a:t>
                      </a:r>
                      <a:r>
                        <a:rPr lang="en" altLang="zh-C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F1-score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等进行评估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通常通过轮廓系数、聚类效果等进行评估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55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数据标记</a:t>
                      </a:r>
                      <a:endParaRPr sz="1800" dirty="0">
                        <a:latin typeface="Lantinghei SC Extralight"/>
                        <a:cs typeface="Lantinghei SC Extraligh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5E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需要人工标记</a:t>
                      </a:r>
                      <a:endParaRPr sz="1800" dirty="0">
                        <a:latin typeface="Lantinghei SC Extralight"/>
                        <a:cs typeface="Lantinghei SC Extraligh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5E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无需人工标记</a:t>
                      </a:r>
                      <a:endParaRPr sz="1800" dirty="0">
                        <a:latin typeface="Lantinghei SC Extralight"/>
                        <a:cs typeface="Lantinghei SC Extraligh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5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9">
            <a:extLst>
              <a:ext uri="{FF2B5EF4-FFF2-40B4-BE49-F238E27FC236}">
                <a16:creationId xmlns:a16="http://schemas.microsoft.com/office/drawing/2014/main" id="{3D622617-BF67-54C5-8B3B-60633720E351}"/>
              </a:ext>
            </a:extLst>
          </p:cNvPr>
          <p:cNvSpPr/>
          <p:nvPr/>
        </p:nvSpPr>
        <p:spPr>
          <a:xfrm>
            <a:off x="7063276" y="4973706"/>
            <a:ext cx="4919980" cy="985152"/>
          </a:xfrm>
          <a:custGeom>
            <a:avLst/>
            <a:gdLst/>
            <a:ahLst/>
            <a:cxnLst/>
            <a:rect l="l" t="t" r="r" b="b"/>
            <a:pathLst>
              <a:path w="4919980" h="1381125">
                <a:moveTo>
                  <a:pt x="0" y="1380744"/>
                </a:moveTo>
                <a:lnTo>
                  <a:pt x="4919980" y="1380744"/>
                </a:lnTo>
                <a:lnTo>
                  <a:pt x="4919980" y="0"/>
                </a:lnTo>
                <a:lnTo>
                  <a:pt x="0" y="0"/>
                </a:lnTo>
                <a:lnTo>
                  <a:pt x="0" y="138074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3A275480-4151-6FCD-58DF-013F1B48C88E}"/>
              </a:ext>
            </a:extLst>
          </p:cNvPr>
          <p:cNvSpPr txBox="1"/>
          <p:nvPr/>
        </p:nvSpPr>
        <p:spPr>
          <a:xfrm>
            <a:off x="7155351" y="5000120"/>
            <a:ext cx="1899920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86385">
              <a:spcBef>
                <a:spcPts val="100"/>
              </a:spcBef>
              <a:buFont typeface="Arial"/>
              <a:buChar char="•"/>
              <a:tabLst>
                <a:tab pos="286385" algn="l"/>
              </a:tabLst>
            </a:pPr>
            <a:r>
              <a:rPr lang="zh-CN" altLang="en-US" spc="-15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顾客分群</a:t>
            </a:r>
            <a:endParaRPr lang="en-US" altLang="zh-CN" spc="-15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6385" indent="-286385">
              <a:spcBef>
                <a:spcPts val="100"/>
              </a:spcBef>
              <a:buFont typeface="Arial"/>
              <a:buChar char="•"/>
              <a:tabLst>
                <a:tab pos="286385" algn="l"/>
              </a:tabLst>
            </a:pPr>
            <a:r>
              <a:rPr lang="zh-CN" altLang="en-US" spc="-15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房价预测</a:t>
            </a:r>
          </a:p>
          <a:p>
            <a:pPr marL="286385" indent="-286385">
              <a:spcBef>
                <a:spcPts val="100"/>
              </a:spcBef>
              <a:buFont typeface="Arial"/>
              <a:buChar char="•"/>
              <a:tabLst>
                <a:tab pos="286385" algn="l"/>
              </a:tabLst>
            </a:pPr>
            <a:r>
              <a:rPr lang="zh-CN" altLang="en-US" spc="-15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图像分类</a:t>
            </a:r>
            <a:endParaRPr spc="-15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E4E99E53-A5BA-787E-5BD5-76062702422B}"/>
              </a:ext>
            </a:extLst>
          </p:cNvPr>
          <p:cNvSpPr txBox="1"/>
          <p:nvPr/>
        </p:nvSpPr>
        <p:spPr>
          <a:xfrm>
            <a:off x="9524028" y="5000120"/>
            <a:ext cx="1747520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86385" algn="l"/>
              </a:tabLst>
            </a:pPr>
            <a:r>
              <a:rPr lang="zh-CN" altLang="en-US" spc="-15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异常检测</a:t>
            </a:r>
            <a:endParaRPr lang="en-US" altLang="zh-CN" spc="-15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6385" indent="-286385">
              <a:spcBef>
                <a:spcPts val="100"/>
              </a:spcBef>
              <a:buFont typeface="Arial"/>
              <a:buChar char="•"/>
              <a:tabLst>
                <a:tab pos="286385" algn="l"/>
              </a:tabLst>
            </a:pPr>
            <a:r>
              <a:rPr lang="zh-CN" altLang="en-US" sz="1800" spc="-15" dirty="0">
                <a:latin typeface="Microsoft YaHei" panose="020B0503020204020204" pitchFamily="34" charset="-122"/>
                <a:ea typeface="Microsoft YaHei" panose="020B0503020204020204" pitchFamily="34" charset="-122"/>
                <a:cs typeface="Lantinghei SC Extralight"/>
              </a:rPr>
              <a:t>手写数字识别</a:t>
            </a:r>
            <a:endParaRPr lang="en-US" altLang="zh-CN" sz="1800" spc="-15" dirty="0">
              <a:latin typeface="Microsoft YaHei" panose="020B0503020204020204" pitchFamily="34" charset="-122"/>
              <a:ea typeface="Microsoft YaHei" panose="020B0503020204020204" pitchFamily="34" charset="-122"/>
              <a:cs typeface="Lantinghei SC Extralight"/>
            </a:endParaRPr>
          </a:p>
          <a:p>
            <a:pPr marL="286385" indent="-286385">
              <a:spcBef>
                <a:spcPts val="100"/>
              </a:spcBef>
              <a:buFont typeface="Arial"/>
              <a:buChar char="•"/>
              <a:tabLst>
                <a:tab pos="286385" algn="l"/>
              </a:tabLst>
            </a:pPr>
            <a:r>
              <a:rPr lang="zh-CN" altLang="en-US" spc="-15" dirty="0">
                <a:latin typeface="Microsoft YaHei" panose="020B0503020204020204" pitchFamily="34" charset="-122"/>
                <a:ea typeface="Microsoft YaHei" panose="020B0503020204020204" pitchFamily="34" charset="-122"/>
                <a:cs typeface="Lantinghei SC Extralight"/>
              </a:rPr>
              <a:t>情感分析</a:t>
            </a:r>
            <a:endParaRPr lang="en-US" altLang="zh-CN" sz="1800" spc="-15" dirty="0">
              <a:latin typeface="Microsoft YaHei" panose="020B0503020204020204" pitchFamily="34" charset="-122"/>
              <a:ea typeface="Microsoft YaHei" panose="020B0503020204020204" pitchFamily="34" charset="-122"/>
              <a:cs typeface="Lantinghei SC Extralight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432A3A21-FDE4-2442-B9C0-0483DDC163CA}"/>
              </a:ext>
            </a:extLst>
          </p:cNvPr>
          <p:cNvSpPr txBox="1"/>
          <p:nvPr/>
        </p:nvSpPr>
        <p:spPr>
          <a:xfrm>
            <a:off x="7070769" y="4630678"/>
            <a:ext cx="335837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 err="1">
                <a:solidFill>
                  <a:srgbClr val="FF5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ntinghei SC Extralight"/>
              </a:rPr>
              <a:t>讨论：下列哪些属于</a:t>
            </a:r>
            <a:r>
              <a:rPr lang="zh-CN" altLang="en-US" sz="1800" spc="-5" dirty="0">
                <a:solidFill>
                  <a:srgbClr val="FF5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ntinghei SC Extralight"/>
              </a:rPr>
              <a:t>无监督学习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Lantinghei SC Extralight"/>
            </a:endParaRPr>
          </a:p>
        </p:txBody>
      </p:sp>
      <p:sp>
        <p:nvSpPr>
          <p:cNvPr id="12" name="文本框 12">
            <a:extLst>
              <a:ext uri="{FF2B5EF4-FFF2-40B4-BE49-F238E27FC236}">
                <a16:creationId xmlns:a16="http://schemas.microsoft.com/office/drawing/2014/main" id="{A1BAEF6A-E2D1-A3B9-E28A-ED6195D640E0}"/>
              </a:ext>
            </a:extLst>
          </p:cNvPr>
          <p:cNvSpPr txBox="1"/>
          <p:nvPr/>
        </p:nvSpPr>
        <p:spPr>
          <a:xfrm>
            <a:off x="2563704" y="904340"/>
            <a:ext cx="53390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无监督学习是机器学习的一种方法，旨在从</a:t>
            </a:r>
            <a:r>
              <a:rPr lang="zh-CN" altLang="en-US" sz="2800" b="1" dirty="0">
                <a:solidFill>
                  <a:srgbClr val="FF0000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没有标签的数据</a:t>
            </a:r>
            <a:r>
              <a:rPr lang="zh-CN" altLang="en-US" sz="2800" b="1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中识别潜在的模式或结构。与监督学习不同，无监督学习不依赖于已知的输出标签。</a:t>
            </a:r>
          </a:p>
        </p:txBody>
      </p:sp>
      <p:grpSp>
        <p:nvGrpSpPr>
          <p:cNvPr id="13" name="组合 14">
            <a:extLst>
              <a:ext uri="{FF2B5EF4-FFF2-40B4-BE49-F238E27FC236}">
                <a16:creationId xmlns:a16="http://schemas.microsoft.com/office/drawing/2014/main" id="{EE22FB43-83D7-AF8E-7497-04B21F9F164E}"/>
              </a:ext>
            </a:extLst>
          </p:cNvPr>
          <p:cNvGrpSpPr/>
          <p:nvPr/>
        </p:nvGrpSpPr>
        <p:grpSpPr>
          <a:xfrm>
            <a:off x="7839371" y="730998"/>
            <a:ext cx="3884636" cy="3325201"/>
            <a:chOff x="7361944" y="2439661"/>
            <a:chExt cx="3884636" cy="3325201"/>
          </a:xfrm>
        </p:grpSpPr>
        <p:sp>
          <p:nvSpPr>
            <p:cNvPr id="14" name="矩形 15">
              <a:extLst>
                <a:ext uri="{FF2B5EF4-FFF2-40B4-BE49-F238E27FC236}">
                  <a16:creationId xmlns:a16="http://schemas.microsoft.com/office/drawing/2014/main" id="{E65ABE19-A8AC-3645-03D5-BACAED15EC4B}"/>
                </a:ext>
              </a:extLst>
            </p:cNvPr>
            <p:cNvSpPr/>
            <p:nvPr/>
          </p:nvSpPr>
          <p:spPr>
            <a:xfrm>
              <a:off x="8596805" y="5050159"/>
              <a:ext cx="1378456" cy="714703"/>
            </a:xfrm>
            <a:prstGeom prst="rect">
              <a:avLst/>
            </a:prstGeom>
            <a:solidFill>
              <a:srgbClr val="1635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模型</a:t>
              </a:r>
            </a:p>
          </p:txBody>
        </p:sp>
        <p:sp>
          <p:nvSpPr>
            <p:cNvPr id="15" name="文本框 16">
              <a:extLst>
                <a:ext uri="{FF2B5EF4-FFF2-40B4-BE49-F238E27FC236}">
                  <a16:creationId xmlns:a16="http://schemas.microsoft.com/office/drawing/2014/main" id="{73D856AC-6A60-0B8D-5C2D-5C9A6E6E0594}"/>
                </a:ext>
              </a:extLst>
            </p:cNvPr>
            <p:cNvSpPr txBox="1"/>
            <p:nvPr/>
          </p:nvSpPr>
          <p:spPr>
            <a:xfrm>
              <a:off x="7361944" y="5063441"/>
              <a:ext cx="6470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新的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</a:p>
          </p:txBody>
        </p:sp>
        <p:sp>
          <p:nvSpPr>
            <p:cNvPr id="16" name="文本框 17">
              <a:extLst>
                <a:ext uri="{FF2B5EF4-FFF2-40B4-BE49-F238E27FC236}">
                  <a16:creationId xmlns:a16="http://schemas.microsoft.com/office/drawing/2014/main" id="{547EA065-549F-8CB4-9B3F-50300B55A82A}"/>
                </a:ext>
              </a:extLst>
            </p:cNvPr>
            <p:cNvSpPr txBox="1"/>
            <p:nvPr/>
          </p:nvSpPr>
          <p:spPr>
            <a:xfrm>
              <a:off x="7912238" y="5038949"/>
              <a:ext cx="647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输入</a:t>
              </a:r>
            </a:p>
          </p:txBody>
        </p:sp>
        <p:sp>
          <p:nvSpPr>
            <p:cNvPr id="17" name="文本框 18">
              <a:extLst>
                <a:ext uri="{FF2B5EF4-FFF2-40B4-BE49-F238E27FC236}">
                  <a16:creationId xmlns:a16="http://schemas.microsoft.com/office/drawing/2014/main" id="{A021F8A0-85D6-8205-C23D-5DC04B951222}"/>
                </a:ext>
              </a:extLst>
            </p:cNvPr>
            <p:cNvSpPr txBox="1"/>
            <p:nvPr/>
          </p:nvSpPr>
          <p:spPr>
            <a:xfrm>
              <a:off x="9986471" y="5047725"/>
              <a:ext cx="647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预测</a:t>
              </a:r>
            </a:p>
          </p:txBody>
        </p:sp>
        <p:sp>
          <p:nvSpPr>
            <p:cNvPr id="18" name="文本框 19">
              <a:extLst>
                <a:ext uri="{FF2B5EF4-FFF2-40B4-BE49-F238E27FC236}">
                  <a16:creationId xmlns:a16="http://schemas.microsoft.com/office/drawing/2014/main" id="{6F6ED92F-27DC-9B98-A8B5-0B334A3C059E}"/>
                </a:ext>
              </a:extLst>
            </p:cNvPr>
            <p:cNvSpPr txBox="1"/>
            <p:nvPr/>
          </p:nvSpPr>
          <p:spPr>
            <a:xfrm>
              <a:off x="9275008" y="4574564"/>
              <a:ext cx="647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训练</a:t>
              </a:r>
            </a:p>
          </p:txBody>
        </p:sp>
        <p:sp>
          <p:nvSpPr>
            <p:cNvPr id="19" name="文本框 20">
              <a:extLst>
                <a:ext uri="{FF2B5EF4-FFF2-40B4-BE49-F238E27FC236}">
                  <a16:creationId xmlns:a16="http://schemas.microsoft.com/office/drawing/2014/main" id="{E8118543-C607-9799-52A5-E537A5C35B14}"/>
                </a:ext>
              </a:extLst>
            </p:cNvPr>
            <p:cNvSpPr txBox="1"/>
            <p:nvPr/>
          </p:nvSpPr>
          <p:spPr>
            <a:xfrm>
              <a:off x="10599497" y="5086235"/>
              <a:ext cx="6470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未知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属性</a:t>
              </a:r>
            </a:p>
          </p:txBody>
        </p:sp>
        <p:cxnSp>
          <p:nvCxnSpPr>
            <p:cNvPr id="20" name="直线箭头连接符 21">
              <a:extLst>
                <a:ext uri="{FF2B5EF4-FFF2-40B4-BE49-F238E27FC236}">
                  <a16:creationId xmlns:a16="http://schemas.microsoft.com/office/drawing/2014/main" id="{18104982-C525-7C86-8326-28F8A8908DBA}"/>
                </a:ext>
              </a:extLst>
            </p:cNvPr>
            <p:cNvCxnSpPr/>
            <p:nvPr/>
          </p:nvCxnSpPr>
          <p:spPr>
            <a:xfrm>
              <a:off x="9976369" y="5391862"/>
              <a:ext cx="66292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箭头连接符 22">
              <a:extLst>
                <a:ext uri="{FF2B5EF4-FFF2-40B4-BE49-F238E27FC236}">
                  <a16:creationId xmlns:a16="http://schemas.microsoft.com/office/drawing/2014/main" id="{B3AAEFAB-2A97-89F3-EC93-5986041B4BA5}"/>
                </a:ext>
              </a:extLst>
            </p:cNvPr>
            <p:cNvCxnSpPr/>
            <p:nvPr/>
          </p:nvCxnSpPr>
          <p:spPr>
            <a:xfrm>
              <a:off x="7925783" y="5386607"/>
              <a:ext cx="66292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 23">
              <a:extLst>
                <a:ext uri="{FF2B5EF4-FFF2-40B4-BE49-F238E27FC236}">
                  <a16:creationId xmlns:a16="http://schemas.microsoft.com/office/drawing/2014/main" id="{8AE282C2-433A-7349-C1D3-989B44B8C375}"/>
                </a:ext>
              </a:extLst>
            </p:cNvPr>
            <p:cNvCxnSpPr>
              <a:cxnSpLocks/>
            </p:cNvCxnSpPr>
            <p:nvPr/>
          </p:nvCxnSpPr>
          <p:spPr>
            <a:xfrm>
              <a:off x="9275007" y="4393964"/>
              <a:ext cx="2927" cy="6405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图片 24">
              <a:extLst>
                <a:ext uri="{FF2B5EF4-FFF2-40B4-BE49-F238E27FC236}">
                  <a16:creationId xmlns:a16="http://schemas.microsoft.com/office/drawing/2014/main" id="{83DEAFDC-3A5F-DA1F-79ED-B3C67B43F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7834"/>
            <a:stretch/>
          </p:blipFill>
          <p:spPr>
            <a:xfrm>
              <a:off x="8608379" y="2439661"/>
              <a:ext cx="1530641" cy="1252409"/>
            </a:xfrm>
            <a:prstGeom prst="rect">
              <a:avLst/>
            </a:prstGeom>
          </p:spPr>
        </p:pic>
        <p:sp>
          <p:nvSpPr>
            <p:cNvPr id="24" name="文本框 25">
              <a:extLst>
                <a:ext uri="{FF2B5EF4-FFF2-40B4-BE49-F238E27FC236}">
                  <a16:creationId xmlns:a16="http://schemas.microsoft.com/office/drawing/2014/main" id="{A51D5B87-9FD0-9DAB-4470-799C8F9F0F02}"/>
                </a:ext>
              </a:extLst>
            </p:cNvPr>
            <p:cNvSpPr txBox="1"/>
            <p:nvPr/>
          </p:nvSpPr>
          <p:spPr>
            <a:xfrm>
              <a:off x="7377187" y="3165713"/>
              <a:ext cx="1233479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用数据优化计算机程序的模型参数</a:t>
              </a:r>
            </a:p>
          </p:txBody>
        </p:sp>
        <p:sp>
          <p:nvSpPr>
            <p:cNvPr id="25" name="椭圆 26">
              <a:extLst>
                <a:ext uri="{FF2B5EF4-FFF2-40B4-BE49-F238E27FC236}">
                  <a16:creationId xmlns:a16="http://schemas.microsoft.com/office/drawing/2014/main" id="{9FD26DB0-FB35-D958-0BE5-0BE43185FD3E}"/>
                </a:ext>
              </a:extLst>
            </p:cNvPr>
            <p:cNvSpPr/>
            <p:nvPr/>
          </p:nvSpPr>
          <p:spPr>
            <a:xfrm>
              <a:off x="8423183" y="3750972"/>
              <a:ext cx="1725701" cy="630620"/>
            </a:xfrm>
            <a:prstGeom prst="ellipse">
              <a:avLst/>
            </a:prstGeom>
            <a:solidFill>
              <a:srgbClr val="1635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历史数据</a:t>
              </a:r>
            </a:p>
          </p:txBody>
        </p:sp>
      </p:grpSp>
      <p:grpSp>
        <p:nvGrpSpPr>
          <p:cNvPr id="26" name="组合 33">
            <a:extLst>
              <a:ext uri="{FF2B5EF4-FFF2-40B4-BE49-F238E27FC236}">
                <a16:creationId xmlns:a16="http://schemas.microsoft.com/office/drawing/2014/main" id="{2A43D219-42E8-3792-EB4E-9EF0F1D6DE25}"/>
              </a:ext>
            </a:extLst>
          </p:cNvPr>
          <p:cNvGrpSpPr/>
          <p:nvPr/>
        </p:nvGrpSpPr>
        <p:grpSpPr>
          <a:xfrm>
            <a:off x="353276" y="904340"/>
            <a:ext cx="2126566" cy="2122492"/>
            <a:chOff x="5619773" y="2632313"/>
            <a:chExt cx="1962900" cy="1959140"/>
          </a:xfrm>
        </p:grpSpPr>
        <p:grpSp>
          <p:nvGrpSpPr>
            <p:cNvPr id="27" name="组合 30">
              <a:extLst>
                <a:ext uri="{FF2B5EF4-FFF2-40B4-BE49-F238E27FC236}">
                  <a16:creationId xmlns:a16="http://schemas.microsoft.com/office/drawing/2014/main" id="{D180071E-19F2-26C9-330B-697418CEE109}"/>
                </a:ext>
              </a:extLst>
            </p:cNvPr>
            <p:cNvGrpSpPr/>
            <p:nvPr/>
          </p:nvGrpSpPr>
          <p:grpSpPr>
            <a:xfrm>
              <a:off x="5619773" y="2632313"/>
              <a:ext cx="1962900" cy="1959140"/>
              <a:chOff x="5721315" y="2698178"/>
              <a:chExt cx="1268584" cy="1266155"/>
            </a:xfrm>
          </p:grpSpPr>
          <p:sp>
            <p:nvSpPr>
              <p:cNvPr id="30" name="椭圆 28">
                <a:extLst>
                  <a:ext uri="{FF2B5EF4-FFF2-40B4-BE49-F238E27FC236}">
                    <a16:creationId xmlns:a16="http://schemas.microsoft.com/office/drawing/2014/main" id="{BC5769E9-C87D-153D-7527-59797ADF20B0}"/>
                  </a:ext>
                </a:extLst>
              </p:cNvPr>
              <p:cNvSpPr/>
              <p:nvPr/>
            </p:nvSpPr>
            <p:spPr>
              <a:xfrm>
                <a:off x="5721315" y="2698178"/>
                <a:ext cx="1266154" cy="1266155"/>
              </a:xfrm>
              <a:prstGeom prst="ellipse">
                <a:avLst/>
              </a:prstGeom>
              <a:solidFill>
                <a:srgbClr val="DCE4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1" name="椭圆 27">
                <a:extLst>
                  <a:ext uri="{FF2B5EF4-FFF2-40B4-BE49-F238E27FC236}">
                    <a16:creationId xmlns:a16="http://schemas.microsoft.com/office/drawing/2014/main" id="{8C84B48F-7507-4FC9-72E0-8D2F2082FC72}"/>
                  </a:ext>
                </a:extLst>
              </p:cNvPr>
              <p:cNvSpPr/>
              <p:nvPr/>
            </p:nvSpPr>
            <p:spPr>
              <a:xfrm>
                <a:off x="6088639" y="2883683"/>
                <a:ext cx="898830" cy="898831"/>
              </a:xfrm>
              <a:prstGeom prst="ellipse">
                <a:avLst/>
              </a:prstGeom>
              <a:solidFill>
                <a:srgbClr val="FFC10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椭圆 29">
                <a:extLst>
                  <a:ext uri="{FF2B5EF4-FFF2-40B4-BE49-F238E27FC236}">
                    <a16:creationId xmlns:a16="http://schemas.microsoft.com/office/drawing/2014/main" id="{2B836863-BE82-6D9A-A248-EF109D18CF53}"/>
                  </a:ext>
                </a:extLst>
              </p:cNvPr>
              <p:cNvSpPr/>
              <p:nvPr/>
            </p:nvSpPr>
            <p:spPr>
              <a:xfrm>
                <a:off x="6486044" y="3088151"/>
                <a:ext cx="503855" cy="503855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000" dirty="0">
                    <a:solidFill>
                      <a:schemeClr val="tx1"/>
                    </a:solidFill>
                  </a:rPr>
                  <a:t>无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sz="1000" dirty="0">
                    <a:solidFill>
                      <a:schemeClr val="tx1"/>
                    </a:solidFill>
                  </a:rPr>
                  <a:t>监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sz="1000" dirty="0">
                    <a:solidFill>
                      <a:schemeClr val="tx1"/>
                    </a:solidFill>
                  </a:rPr>
                  <a:t>督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sz="1000" dirty="0">
                    <a:solidFill>
                      <a:schemeClr val="tx1"/>
                    </a:solidFill>
                  </a:rPr>
                  <a:t>学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zh-CN" altLang="en-US" sz="1000" dirty="0">
                    <a:solidFill>
                      <a:schemeClr val="tx1"/>
                    </a:solidFill>
                  </a:rPr>
                  <a:t>习</a:t>
                </a:r>
              </a:p>
            </p:txBody>
          </p:sp>
        </p:grpSp>
        <p:sp>
          <p:nvSpPr>
            <p:cNvPr id="28" name="文本框 31">
              <a:extLst>
                <a:ext uri="{FF2B5EF4-FFF2-40B4-BE49-F238E27FC236}">
                  <a16:creationId xmlns:a16="http://schemas.microsoft.com/office/drawing/2014/main" id="{B4DB7B31-F2BC-7530-DE1B-1161E1B3DAD5}"/>
                </a:ext>
              </a:extLst>
            </p:cNvPr>
            <p:cNvSpPr txBox="1"/>
            <p:nvPr/>
          </p:nvSpPr>
          <p:spPr>
            <a:xfrm>
              <a:off x="6378936" y="3275134"/>
              <a:ext cx="345965" cy="70080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1400" dirty="0"/>
                <a:t>机器学习</a:t>
              </a:r>
            </a:p>
          </p:txBody>
        </p:sp>
        <p:sp>
          <p:nvSpPr>
            <p:cNvPr id="29" name="文本框 32">
              <a:extLst>
                <a:ext uri="{FF2B5EF4-FFF2-40B4-BE49-F238E27FC236}">
                  <a16:creationId xmlns:a16="http://schemas.microsoft.com/office/drawing/2014/main" id="{BC0FAE11-72B4-DBEB-EE25-FBD75D552C60}"/>
                </a:ext>
              </a:extLst>
            </p:cNvPr>
            <p:cNvSpPr txBox="1"/>
            <p:nvPr/>
          </p:nvSpPr>
          <p:spPr>
            <a:xfrm>
              <a:off x="5753875" y="3154261"/>
              <a:ext cx="399191" cy="87822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dirty="0"/>
                <a:t>人工智能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178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3EE8-3308-DAAB-F11A-FD854576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E53F19-6599-694A-176A-EEF8E0059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无监督学习技术</a:t>
            </a: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34D87D6B-0F36-7E39-91FB-9F1704770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6" y="1151132"/>
            <a:ext cx="3768939" cy="483187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400" dirty="0"/>
              <a:t>目标是将相似的数据点分组在一起，形成</a:t>
            </a:r>
            <a:r>
              <a:rPr lang="en-US" altLang="zh-CN" sz="2400" dirty="0"/>
              <a:t>"</a:t>
            </a:r>
            <a:r>
              <a:rPr lang="zh-CN" altLang="en-US" sz="2400" dirty="0"/>
              <a:t>簇</a:t>
            </a:r>
            <a:r>
              <a:rPr lang="en-US" altLang="zh-CN" sz="2400" dirty="0"/>
              <a:t>"</a:t>
            </a:r>
            <a:r>
              <a:rPr lang="zh-CN" altLang="en-US" sz="2400" dirty="0"/>
              <a:t>（</a:t>
            </a:r>
            <a:r>
              <a:rPr lang="en" altLang="zh-CN" sz="2400" dirty="0"/>
              <a:t>cluster</a:t>
            </a:r>
            <a:r>
              <a:rPr lang="zh-CN" altLang="en" sz="2400" dirty="0"/>
              <a:t>）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altLang="zh-CN" sz="24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p"/>
              <a:defRPr/>
            </a:pPr>
            <a:endParaRPr lang="zh-CN" altLang="en-US" sz="2400" dirty="0"/>
          </a:p>
        </p:txBody>
      </p:sp>
      <p:sp>
        <p:nvSpPr>
          <p:cNvPr id="4" name="文本框 5">
            <a:extLst>
              <a:ext uri="{FF2B5EF4-FFF2-40B4-BE49-F238E27FC236}">
                <a16:creationId xmlns:a16="http://schemas.microsoft.com/office/drawing/2014/main" id="{D53F1CED-E5B4-F76B-0706-39B9FF08D345}"/>
              </a:ext>
            </a:extLst>
          </p:cNvPr>
          <p:cNvSpPr txBox="1"/>
          <p:nvPr/>
        </p:nvSpPr>
        <p:spPr>
          <a:xfrm>
            <a:off x="291706" y="779341"/>
            <a:ext cx="3768938" cy="369332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聚类</a:t>
            </a:r>
          </a:p>
        </p:txBody>
      </p:sp>
      <p:sp>
        <p:nvSpPr>
          <p:cNvPr id="5" name="内容占位符 6">
            <a:extLst>
              <a:ext uri="{FF2B5EF4-FFF2-40B4-BE49-F238E27FC236}">
                <a16:creationId xmlns:a16="http://schemas.microsoft.com/office/drawing/2014/main" id="{10419CDC-7A83-87F8-C1A1-EC8217F8B45A}"/>
              </a:ext>
            </a:extLst>
          </p:cNvPr>
          <p:cNvSpPr txBox="1">
            <a:spLocks/>
          </p:cNvSpPr>
          <p:nvPr/>
        </p:nvSpPr>
        <p:spPr>
          <a:xfrm>
            <a:off x="4139410" y="1151132"/>
            <a:ext cx="3768939" cy="48318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itchFamily="2" charset="2"/>
              <a:buChar char="n"/>
              <a:defRPr sz="2800" b="0" i="0" kern="1200">
                <a:solidFill>
                  <a:schemeClr val="tx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400" dirty="0"/>
              <a:t>降维是数据的</a:t>
            </a:r>
            <a:r>
              <a:rPr lang="en-US" altLang="zh-CN" sz="2400" dirty="0"/>
              <a:t>“</a:t>
            </a:r>
            <a:r>
              <a:rPr lang="zh-CN" altLang="en-US" sz="2400" dirty="0"/>
              <a:t>瘦身</a:t>
            </a:r>
            <a:r>
              <a:rPr lang="en-US" altLang="zh-CN" sz="2400" dirty="0"/>
              <a:t>”</a:t>
            </a:r>
            <a:r>
              <a:rPr lang="zh-CN" altLang="en-US" sz="2400" dirty="0"/>
              <a:t>过程。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400" dirty="0"/>
              <a:t>降维将高维数据转换为低维表示，同时巧妙地保留了原始数据中最重要的信息。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400" dirty="0"/>
          </a:p>
        </p:txBody>
      </p:sp>
      <p:sp>
        <p:nvSpPr>
          <p:cNvPr id="6" name="文本框 11">
            <a:extLst>
              <a:ext uri="{FF2B5EF4-FFF2-40B4-BE49-F238E27FC236}">
                <a16:creationId xmlns:a16="http://schemas.microsoft.com/office/drawing/2014/main" id="{4462C7E8-25E4-6AD2-F52C-10651CC3BD99}"/>
              </a:ext>
            </a:extLst>
          </p:cNvPr>
          <p:cNvSpPr txBox="1"/>
          <p:nvPr/>
        </p:nvSpPr>
        <p:spPr>
          <a:xfrm>
            <a:off x="4139410" y="779341"/>
            <a:ext cx="3768938" cy="369332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降维</a:t>
            </a:r>
          </a:p>
        </p:txBody>
      </p:sp>
      <p:sp>
        <p:nvSpPr>
          <p:cNvPr id="33" name="内容占位符 6">
            <a:extLst>
              <a:ext uri="{FF2B5EF4-FFF2-40B4-BE49-F238E27FC236}">
                <a16:creationId xmlns:a16="http://schemas.microsoft.com/office/drawing/2014/main" id="{DCD7BEC8-02CF-9590-D166-C89B566A0EA6}"/>
              </a:ext>
            </a:extLst>
          </p:cNvPr>
          <p:cNvSpPr txBox="1">
            <a:spLocks/>
          </p:cNvSpPr>
          <p:nvPr/>
        </p:nvSpPr>
        <p:spPr>
          <a:xfrm>
            <a:off x="7976119" y="1151132"/>
            <a:ext cx="3768939" cy="48318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itchFamily="2" charset="2"/>
              <a:buChar char="n"/>
              <a:defRPr sz="2800" b="0" i="0" kern="1200">
                <a:solidFill>
                  <a:schemeClr val="tx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400" dirty="0"/>
              <a:t>发现潜在的异常样本，通常指示错误、欺诈或其他重要事件。</a:t>
            </a:r>
          </a:p>
        </p:txBody>
      </p:sp>
      <p:sp>
        <p:nvSpPr>
          <p:cNvPr id="34" name="文本框 13">
            <a:extLst>
              <a:ext uri="{FF2B5EF4-FFF2-40B4-BE49-F238E27FC236}">
                <a16:creationId xmlns:a16="http://schemas.microsoft.com/office/drawing/2014/main" id="{18923F79-3815-7D1F-75FA-A6BFB3155EA0}"/>
              </a:ext>
            </a:extLst>
          </p:cNvPr>
          <p:cNvSpPr txBox="1"/>
          <p:nvPr/>
        </p:nvSpPr>
        <p:spPr>
          <a:xfrm>
            <a:off x="7976119" y="779341"/>
            <a:ext cx="3768938" cy="369332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异常检测</a:t>
            </a:r>
          </a:p>
        </p:txBody>
      </p:sp>
    </p:spTree>
    <p:extLst>
      <p:ext uri="{BB962C8B-B14F-4D97-AF65-F5344CB8AC3E}">
        <p14:creationId xmlns:p14="http://schemas.microsoft.com/office/powerpoint/2010/main" val="276149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38A6-66A6-8891-2E66-9DB16E04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DD96155-A4FC-43D8-C651-CB6532864E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3236" y="764293"/>
            <a:ext cx="3543030" cy="235196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33ABE1A-F349-32D4-2972-FE46E51B0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365D0D-3FD7-12FE-3461-41281DA8E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615" y="1338944"/>
            <a:ext cx="11298116" cy="5026688"/>
          </a:xfrm>
        </p:spPr>
        <p:txBody>
          <a:bodyPr/>
          <a:lstStyle/>
          <a:p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6.1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无监督学习方法概述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6.2</a:t>
            </a:r>
            <a:r>
              <a:rPr lang="zh-CN" altLang="en-US" sz="2400" dirty="0">
                <a:solidFill>
                  <a:schemeClr val="tx1"/>
                </a:solidFill>
              </a:rPr>
              <a:t> 聚类分析技术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6.3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数据降维技术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546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4B4C-2ED4-73B0-C943-263C3249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B7F0D-5314-4C5E-9457-D664484E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聚类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711561D-3B1F-E459-7B7E-921D0CB8618B}"/>
              </a:ext>
            </a:extLst>
          </p:cNvPr>
          <p:cNvSpPr txBox="1"/>
          <p:nvPr/>
        </p:nvSpPr>
        <p:spPr>
          <a:xfrm>
            <a:off x="226749" y="1134572"/>
            <a:ext cx="4479066" cy="3947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800" b="1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Lantinghei SC Heavy"/>
              </a:rPr>
              <a:t>定义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Lantinghei SC Heavy"/>
              </a:rPr>
              <a:t>：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cs typeface="Lantinghei SC Extralight"/>
              </a:rPr>
              <a:t>聚类是一种无监督学习技术，旨在将数据集分成若干组，使得同组内的样本相似度高，而不同组间的样本相似度低。</a:t>
            </a:r>
            <a:endParaRPr lang="en-US" altLang="zh-CN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" altLang="zh-CN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  <a:r>
              <a:rPr lang="zh-CN" alt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是最常用的聚类算法之一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主要步骤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(1)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随机初始化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若干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个中心点，周围散布着未分类的数据点；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(2)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将每个数据点分配给最近的中心，形成初步的簇；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(3)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重新计算每个簇的中心点。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2700">
              <a:lnSpc>
                <a:spcPct val="150000"/>
              </a:lnSpc>
              <a:spcBef>
                <a:spcPts val="1780"/>
              </a:spcBef>
            </a:pP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Lantinghei SC Extralight"/>
            </a:endParaRPr>
          </a:p>
        </p:txBody>
      </p:sp>
      <p:pic>
        <p:nvPicPr>
          <p:cNvPr id="10" name="图片 31">
            <a:extLst>
              <a:ext uri="{FF2B5EF4-FFF2-40B4-BE49-F238E27FC236}">
                <a16:creationId xmlns:a16="http://schemas.microsoft.com/office/drawing/2014/main" id="{5FC5C772-5681-8A69-4D9E-EA60CCBDF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424" y="1276452"/>
            <a:ext cx="5238501" cy="366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C6254-D6C2-EDB8-6C9F-45A0F185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EBEDE-E628-6A27-35B3-29820F5B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聚类案例</a:t>
            </a:r>
            <a:r>
              <a:rPr kumimoji="1" lang="en-US" altLang="zh-CN" dirty="0"/>
              <a:t>-</a:t>
            </a:r>
            <a:r>
              <a:rPr kumimoji="1" lang="zh-CN" altLang="en-US" dirty="0"/>
              <a:t>鸢尾花分析</a:t>
            </a:r>
          </a:p>
        </p:txBody>
      </p:sp>
      <p:sp>
        <p:nvSpPr>
          <p:cNvPr id="3" name="文本框 21">
            <a:extLst>
              <a:ext uri="{FF2B5EF4-FFF2-40B4-BE49-F238E27FC236}">
                <a16:creationId xmlns:a16="http://schemas.microsoft.com/office/drawing/2014/main" id="{336AACB2-D6EA-52F9-FE35-B80A32609406}"/>
              </a:ext>
            </a:extLst>
          </p:cNvPr>
          <p:cNvSpPr txBox="1"/>
          <p:nvPr/>
        </p:nvSpPr>
        <p:spPr>
          <a:xfrm>
            <a:off x="533185" y="4804734"/>
            <a:ext cx="11125629" cy="10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20000"/>
              </a:lnSpc>
            </a:pP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首先加载鸢尾花数据集。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包含特征数据，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包含真实的类别标签。然后，我们使用</a:t>
            </a:r>
            <a:r>
              <a:rPr lang="en-US" altLang="zh-CN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StandardScaler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对数据进行标准化。标准化的目的是将所有特征调整到相同的尺度，这对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算法很重要，因为它基于距离计算。</a:t>
            </a:r>
            <a:endParaRPr lang="zh-CN" altLang="zh-CN" sz="14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24">
            <a:extLst>
              <a:ext uri="{FF2B5EF4-FFF2-40B4-BE49-F238E27FC236}">
                <a16:creationId xmlns:a16="http://schemas.microsoft.com/office/drawing/2014/main" id="{2F12EB8A-13FB-4E02-6DA6-3D739E857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71" y="2696089"/>
            <a:ext cx="7023100" cy="1638300"/>
          </a:xfrm>
          <a:prstGeom prst="rect">
            <a:avLst/>
          </a:prstGeom>
        </p:spPr>
      </p:pic>
      <p:sp>
        <p:nvSpPr>
          <p:cNvPr id="5" name="文本框 26">
            <a:extLst>
              <a:ext uri="{FF2B5EF4-FFF2-40B4-BE49-F238E27FC236}">
                <a16:creationId xmlns:a16="http://schemas.microsoft.com/office/drawing/2014/main" id="{C6530C33-AE37-853F-F9D9-0D3C69A9ECCC}"/>
              </a:ext>
            </a:extLst>
          </p:cNvPr>
          <p:cNvSpPr txBox="1"/>
          <p:nvPr/>
        </p:nvSpPr>
        <p:spPr>
          <a:xfrm>
            <a:off x="619429" y="990412"/>
            <a:ext cx="10414858" cy="106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zh-C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在鸢尾花</a:t>
            </a:r>
            <a:r>
              <a:rPr lang="zh-CN" altLang="en-US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案例</a:t>
            </a:r>
            <a:r>
              <a:rPr lang="zh-CN" altLang="zh-CN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中，聚类就像是在没有任何先验知识的情况下，仅仅根据花的特征（花萼和花瓣的长度和宽度）来将它们分类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。以下代码使用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聚类算法实现了对鸢尾花数据集的分类，让我们逐步分析代码的各个部分。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27">
            <a:extLst>
              <a:ext uri="{FF2B5EF4-FFF2-40B4-BE49-F238E27FC236}">
                <a16:creationId xmlns:a16="http://schemas.microsoft.com/office/drawing/2014/main" id="{5C5738E5-3072-E182-78FC-8FD561AE9BB4}"/>
              </a:ext>
            </a:extLst>
          </p:cNvPr>
          <p:cNvSpPr txBox="1"/>
          <p:nvPr/>
        </p:nvSpPr>
        <p:spPr>
          <a:xfrm>
            <a:off x="779771" y="2123502"/>
            <a:ext cx="6122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数据准备</a:t>
            </a:r>
            <a:endParaRPr lang="zh-CN" altLang="zh-CN" sz="16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89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F70B-91FA-4FCC-273B-D3EB0F07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1257A-25AB-A74B-90E1-A2DE6D1C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聚类案例</a:t>
            </a:r>
            <a:r>
              <a:rPr kumimoji="1" lang="en-US" altLang="zh-CN" dirty="0"/>
              <a:t>-</a:t>
            </a:r>
            <a:r>
              <a:rPr kumimoji="1" lang="zh-CN" altLang="en-US" dirty="0"/>
              <a:t>鸢尾花分析</a:t>
            </a: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BE4CFF35-F72C-730A-C800-96F8A76020CE}"/>
              </a:ext>
            </a:extLst>
          </p:cNvPr>
          <p:cNvSpPr txBox="1"/>
          <p:nvPr/>
        </p:nvSpPr>
        <p:spPr>
          <a:xfrm>
            <a:off x="483043" y="911353"/>
            <a:ext cx="1032763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创建和训练</a:t>
            </a:r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模型</a:t>
            </a:r>
            <a:endParaRPr lang="en-US" altLang="zh-CN" sz="2000" b="1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000" b="1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000" b="1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000" b="1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000" b="1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这里我们创建一个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模型，指定簇的数量为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（因为鸢尾花有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个品种）。</a:t>
            </a:r>
            <a:r>
              <a:rPr lang="en-US" altLang="zh-CN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random_state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=42</a:t>
            </a:r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确保结果可重复。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fit</a:t>
            </a:r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方法执行聚类过程，包括初始化中心点、分配数据点到最近的簇、更新簇中心等步骤，直到收敛。</a:t>
            </a:r>
          </a:p>
        </p:txBody>
      </p:sp>
      <p:pic>
        <p:nvPicPr>
          <p:cNvPr id="8" name="图片 5">
            <a:extLst>
              <a:ext uri="{FF2B5EF4-FFF2-40B4-BE49-F238E27FC236}">
                <a16:creationId xmlns:a16="http://schemas.microsoft.com/office/drawing/2014/main" id="{B8F9BF19-A894-AB49-1BCC-1BF6EDA45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96" y="1713584"/>
            <a:ext cx="7023100" cy="584200"/>
          </a:xfrm>
          <a:prstGeom prst="rect">
            <a:avLst/>
          </a:prstGeom>
        </p:spPr>
      </p:pic>
      <p:sp>
        <p:nvSpPr>
          <p:cNvPr id="9" name="文本框 7">
            <a:extLst>
              <a:ext uri="{FF2B5EF4-FFF2-40B4-BE49-F238E27FC236}">
                <a16:creationId xmlns:a16="http://schemas.microsoft.com/office/drawing/2014/main" id="{14E0BE96-316D-800F-32DA-A26763A21979}"/>
              </a:ext>
            </a:extLst>
          </p:cNvPr>
          <p:cNvSpPr txBox="1"/>
          <p:nvPr/>
        </p:nvSpPr>
        <p:spPr>
          <a:xfrm>
            <a:off x="338557" y="3781737"/>
            <a:ext cx="910052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获取聚类结果</a:t>
            </a:r>
          </a:p>
          <a:p>
            <a:pPr indent="215900" algn="just"/>
            <a:endParaRPr lang="en-US" altLang="zh-CN" sz="18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15900" algn="just"/>
            <a:endParaRPr lang="en-US" altLang="zh-CN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15900" algn="just"/>
            <a:endParaRPr lang="en-US" altLang="zh-CN" sz="18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15900" algn="just"/>
            <a:endParaRPr lang="en-US" altLang="zh-CN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15900" algn="just"/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predict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方法将每个数据点分配到最近的簇。</a:t>
            </a:r>
            <a:r>
              <a:rPr lang="en-US" altLang="zh-CN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y_kmeans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包含每个数据点的簇标签。</a:t>
            </a:r>
            <a:endParaRPr lang="zh-CN" altLang="zh-CN" sz="14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A7DCFBD-43D4-1034-B4DC-380493E14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95" y="4509189"/>
            <a:ext cx="70104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8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AE56-F8DC-EDD9-D98F-36EE58EDD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AE0A2-2BAE-7A8B-3106-7B353C3B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聚类案例</a:t>
            </a:r>
            <a:r>
              <a:rPr kumimoji="1" lang="en-US" altLang="zh-CN" dirty="0"/>
              <a:t>-</a:t>
            </a:r>
            <a:r>
              <a:rPr kumimoji="1" lang="zh-CN" altLang="en-US" dirty="0"/>
              <a:t>鸢尾花分析</a:t>
            </a:r>
          </a:p>
        </p:txBody>
      </p:sp>
      <p:sp>
        <p:nvSpPr>
          <p:cNvPr id="3" name="文本框 4">
            <a:extLst>
              <a:ext uri="{FF2B5EF4-FFF2-40B4-BE49-F238E27FC236}">
                <a16:creationId xmlns:a16="http://schemas.microsoft.com/office/drawing/2014/main" id="{BFC7A20D-D6A8-158C-E07E-B8E3E8885E77}"/>
              </a:ext>
            </a:extLst>
          </p:cNvPr>
          <p:cNvSpPr txBox="1"/>
          <p:nvPr/>
        </p:nvSpPr>
        <p:spPr>
          <a:xfrm>
            <a:off x="248917" y="946082"/>
            <a:ext cx="10225938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可视化结果</a:t>
            </a:r>
            <a:endParaRPr lang="en-US" altLang="zh-CN" sz="2000" b="1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zh-CN" sz="2000" b="1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宋体" panose="02010600030101010101" pitchFamily="2" charset="-122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这部分代码创建两个子图：左图显示原始数据的真实类别，右图显示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聚类的结果。我们只使用前两个特征（萼片长度和宽度）来创建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2D</a:t>
            </a:r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散点图。在右图中，我们还标出了每个簇的中心点。</a:t>
            </a:r>
          </a:p>
        </p:txBody>
      </p:sp>
      <p:pic>
        <p:nvPicPr>
          <p:cNvPr id="4" name="图片 8">
            <a:extLst>
              <a:ext uri="{FF2B5EF4-FFF2-40B4-BE49-F238E27FC236}">
                <a16:creationId xmlns:a16="http://schemas.microsoft.com/office/drawing/2014/main" id="{90A7A1B8-95D8-080E-E22F-2B5669B7D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48" y="1771291"/>
            <a:ext cx="70231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0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5C1A-E6DE-8D59-04A0-ECA62DB3A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7A7E7-5745-C43D-7957-E4725938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聚类案例</a:t>
            </a:r>
            <a:r>
              <a:rPr kumimoji="1" lang="en-US" altLang="zh-CN" dirty="0"/>
              <a:t>-</a:t>
            </a:r>
            <a:r>
              <a:rPr kumimoji="1" lang="zh-CN" altLang="en-US" dirty="0"/>
              <a:t>鸢尾花分析</a:t>
            </a:r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C1DBDAFA-DA52-8925-EEB8-39E623E0C419}"/>
              </a:ext>
            </a:extLst>
          </p:cNvPr>
          <p:cNvSpPr txBox="1"/>
          <p:nvPr/>
        </p:nvSpPr>
        <p:spPr>
          <a:xfrm>
            <a:off x="233724" y="803469"/>
            <a:ext cx="1072613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评估聚类结果</a:t>
            </a:r>
          </a:p>
          <a:p>
            <a:pPr indent="266700" algn="just"/>
            <a:endParaRPr lang="en-US" altLang="zh-CN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这里我们计算聚类的准确率。需要注意的是，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是一种无监督学习算法，通常不会用准确率来评估。但在这个例子中，由于我们知道真实的类别标签，所以可以用它来了解聚类效果。</a:t>
            </a:r>
          </a:p>
        </p:txBody>
      </p:sp>
      <p:pic>
        <p:nvPicPr>
          <p:cNvPr id="6" name="图片 6">
            <a:extLst>
              <a:ext uri="{FF2B5EF4-FFF2-40B4-BE49-F238E27FC236}">
                <a16:creationId xmlns:a16="http://schemas.microsoft.com/office/drawing/2014/main" id="{70C6ACCE-B428-4D24-2424-A5A0E84B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48" y="1388820"/>
            <a:ext cx="7023100" cy="584200"/>
          </a:xfrm>
          <a:prstGeom prst="rect">
            <a:avLst/>
          </a:prstGeom>
        </p:spPr>
      </p:pic>
      <p:sp>
        <p:nvSpPr>
          <p:cNvPr id="7" name="文本框 9">
            <a:extLst>
              <a:ext uri="{FF2B5EF4-FFF2-40B4-BE49-F238E27FC236}">
                <a16:creationId xmlns:a16="http://schemas.microsoft.com/office/drawing/2014/main" id="{7A083274-F6EB-FC1C-F296-0F97ADB195E8}"/>
              </a:ext>
            </a:extLst>
          </p:cNvPr>
          <p:cNvSpPr txBox="1"/>
          <p:nvPr/>
        </p:nvSpPr>
        <p:spPr>
          <a:xfrm>
            <a:off x="233724" y="3078029"/>
            <a:ext cx="1058785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6.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分析簇的组成</a:t>
            </a: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dirty="0">
              <a:solidFill>
                <a:srgbClr val="000088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宋体" panose="02010600030101010101" pitchFamily="2" charset="-122"/>
            </a:endParaRPr>
          </a:p>
          <a:p>
            <a:pPr indent="266700" algn="just"/>
            <a:endParaRPr lang="en-US" altLang="zh-CN" kern="100" dirty="0">
              <a:solidFill>
                <a:srgbClr val="00008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88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8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8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8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kern="100" dirty="0">
              <a:solidFill>
                <a:srgbClr val="000088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这段代码分析每个簇的组成。它计算每个簇中不同鸢尾花品种的数量，帮助我们理解聚类的效果和每个簇的特点。</a:t>
            </a:r>
          </a:p>
        </p:txBody>
      </p:sp>
      <p:pic>
        <p:nvPicPr>
          <p:cNvPr id="8" name="图片 11">
            <a:extLst>
              <a:ext uri="{FF2B5EF4-FFF2-40B4-BE49-F238E27FC236}">
                <a16:creationId xmlns:a16="http://schemas.microsoft.com/office/drawing/2014/main" id="{231BF060-2047-2D38-D0C8-C4E929F7E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8" y="3616661"/>
            <a:ext cx="70104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8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A811-7278-2B6C-2F48-306D0026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3D072B-C79F-6634-6FB4-CFB067B68AF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3236" y="764293"/>
            <a:ext cx="3543030" cy="235196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B84E9E7-73A4-6B98-F248-08C43021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5AF6E-CB88-182F-C91E-7FFBB29BA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615" y="1338944"/>
            <a:ext cx="11298116" cy="5026688"/>
          </a:xfrm>
        </p:spPr>
        <p:txBody>
          <a:bodyPr/>
          <a:lstStyle/>
          <a:p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6.1</a:t>
            </a:r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 无监督学习方法概述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6.2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聚类分析技术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6.3</a:t>
            </a:r>
            <a:r>
              <a:rPr lang="zh-CN" altLang="en-US" sz="2400" dirty="0">
                <a:solidFill>
                  <a:schemeClr val="tx1"/>
                </a:solidFill>
              </a:rPr>
              <a:t> 数据降维技术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808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1735-9C20-12AC-B0E8-CD68A34F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32A7C-D5CC-C77D-C6D8-79847364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降维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9F8B72-530B-F6BA-DE23-C83822A90A06}"/>
              </a:ext>
            </a:extLst>
          </p:cNvPr>
          <p:cNvSpPr txBox="1"/>
          <p:nvPr/>
        </p:nvSpPr>
        <p:spPr>
          <a:xfrm>
            <a:off x="446942" y="954514"/>
            <a:ext cx="11139168" cy="967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sz="1800" b="1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Lantinghei SC Heavy"/>
              </a:rPr>
              <a:t>定义</a:t>
            </a:r>
            <a:r>
              <a:rPr sz="1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Lantinghei SC Heavy"/>
              </a:rPr>
              <a:t>：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降维是将高维数据转换为低维表示的过程，以简化数据集并降低计算复杂性。</a:t>
            </a:r>
            <a:endParaRPr lang="en-US" altLang="zh-CN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zh-CN" altLang="en-US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主成分分析（</a:t>
            </a:r>
            <a:r>
              <a:rPr lang="en" altLang="zh-CN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Principal Component Analysis</a:t>
            </a:r>
            <a:r>
              <a:rPr lang="zh-CN" altLang="en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" altLang="zh-CN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PCA</a:t>
            </a:r>
            <a:r>
              <a:rPr lang="zh-CN" altLang="en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是最常用的降维技术之一。</a:t>
            </a:r>
            <a:endParaRPr lang="en-US" altLang="zh-CN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indent="266700" algn="just"/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主要步骤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(1)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数据中心化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(2)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计算协方差矩阵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(3)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计算特征向量和特征值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(4)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选择主成分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。</a:t>
            </a:r>
            <a:endParaRPr sz="1800" dirty="0">
              <a:latin typeface="Microsoft YaHei" panose="020B0503020204020204" pitchFamily="34" charset="-122"/>
              <a:ea typeface="Microsoft YaHei" panose="020B0503020204020204" pitchFamily="34" charset="-122"/>
              <a:cs typeface="Lantinghei SC Extraligh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97417F-4B09-4377-FE32-355F34A7C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139" y="2590835"/>
            <a:ext cx="6469126" cy="298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5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474D3-D476-2742-8FDA-067AF623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数据降维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自学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0466CB7A-DDA0-3F47-BB05-DA69977CD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178" y="1414477"/>
            <a:ext cx="70104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DCC4F6B-5C5E-C340-9D98-333638243252}"/>
              </a:ext>
            </a:extLst>
          </p:cNvPr>
          <p:cNvSpPr/>
          <p:nvPr/>
        </p:nvSpPr>
        <p:spPr>
          <a:xfrm>
            <a:off x="4126554" y="514351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向量矩阵降维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66B713-FD2D-1346-ABB9-FBA61826378E}"/>
              </a:ext>
            </a:extLst>
          </p:cNvPr>
          <p:cNvSpPr/>
          <p:nvPr/>
        </p:nvSpPr>
        <p:spPr>
          <a:xfrm>
            <a:off x="554654" y="928670"/>
            <a:ext cx="7436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假设这是一篇文章，有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 =3 </a:t>
            </a:r>
            <a:r>
              <a:rPr lang="zh-CN" altLang="en-US" dirty="0"/>
              <a:t>）个句子，如何进行文本的分布式表示？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79DF29-F501-B046-A32F-CF9206911DFA}"/>
              </a:ext>
            </a:extLst>
          </p:cNvPr>
          <p:cNvSpPr/>
          <p:nvPr/>
        </p:nvSpPr>
        <p:spPr bwMode="auto">
          <a:xfrm>
            <a:off x="530884" y="714356"/>
            <a:ext cx="7739074" cy="54292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02D67-920D-324D-B60E-697734AB9909}"/>
              </a:ext>
            </a:extLst>
          </p:cNvPr>
          <p:cNvSpPr/>
          <p:nvPr/>
        </p:nvSpPr>
        <p:spPr>
          <a:xfrm>
            <a:off x="840406" y="5643578"/>
            <a:ext cx="2217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词汇表的大小</a:t>
            </a:r>
            <a:r>
              <a:rPr lang="en-US" altLang="zh-CN" dirty="0"/>
              <a:t>=5000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3FDFE0-964A-0745-BB58-6044B66BE1EA}"/>
              </a:ext>
            </a:extLst>
          </p:cNvPr>
          <p:cNvSpPr/>
          <p:nvPr/>
        </p:nvSpPr>
        <p:spPr bwMode="auto">
          <a:xfrm>
            <a:off x="5698190" y="1857364"/>
            <a:ext cx="285752" cy="42862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D29FD9-90BF-4A4C-BFF2-C6C46C1B2276}"/>
              </a:ext>
            </a:extLst>
          </p:cNvPr>
          <p:cNvSpPr/>
          <p:nvPr/>
        </p:nvSpPr>
        <p:spPr>
          <a:xfrm>
            <a:off x="5983942" y="4286256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编码后的词向量</a:t>
            </a:r>
          </a:p>
        </p:txBody>
      </p:sp>
      <p:cxnSp>
        <p:nvCxnSpPr>
          <p:cNvPr id="11" name="直接箭头连接符 28">
            <a:extLst>
              <a:ext uri="{FF2B5EF4-FFF2-40B4-BE49-F238E27FC236}">
                <a16:creationId xmlns:a16="http://schemas.microsoft.com/office/drawing/2014/main" id="{D370585D-5E59-8047-A82C-A3C60C44D28B}"/>
              </a:ext>
            </a:extLst>
          </p:cNvPr>
          <p:cNvCxnSpPr/>
          <p:nvPr/>
        </p:nvCxnSpPr>
        <p:spPr bwMode="auto">
          <a:xfrm rot="5400000" flipH="1" flipV="1">
            <a:off x="6448289" y="3893347"/>
            <a:ext cx="428628" cy="3571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2030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F2E36-AFC9-9344-9F34-A7AC53C5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主成分分析（</a:t>
            </a:r>
            <a:r>
              <a:rPr kumimoji="1" lang="en" altLang="zh-CN" dirty="0"/>
              <a:t>PCA</a:t>
            </a:r>
            <a:r>
              <a:rPr kumimoji="1" lang="zh-CN" altLang="en" dirty="0"/>
              <a:t>）</a:t>
            </a:r>
            <a:r>
              <a:rPr kumimoji="1" lang="en" altLang="zh-CN" dirty="0"/>
              <a:t>——</a:t>
            </a:r>
            <a:r>
              <a:rPr kumimoji="1" lang="zh-CN" altLang="en-US" dirty="0"/>
              <a:t>自学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2B8729-177E-2246-8203-E792768DF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176" y="795531"/>
            <a:ext cx="7627620" cy="3670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4A2670C-A53D-2647-A308-66576D5678B0}"/>
              </a:ext>
            </a:extLst>
          </p:cNvPr>
          <p:cNvSpPr txBox="1"/>
          <p:nvPr/>
        </p:nvSpPr>
        <p:spPr bwMode="auto">
          <a:xfrm>
            <a:off x="715986" y="4756026"/>
            <a:ext cx="11029072" cy="922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原理：</a:t>
            </a:r>
            <a:r>
              <a:rPr lang="zh-CN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通过建立一个新的坐标系，将多个维度的数据投影到该坐标系，实现数据的降维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这个坐标系的轴方向就是主成分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目标：在新坐标系中实现数据的波动最大（方差最大）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25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EDA13-7659-F6B5-B0E5-DE2E01B3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95A41-C8EB-A2D5-DB92-171B7833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降维案例</a:t>
            </a:r>
          </a:p>
        </p:txBody>
      </p:sp>
      <p:sp>
        <p:nvSpPr>
          <p:cNvPr id="5" name="文本框 26">
            <a:extLst>
              <a:ext uri="{FF2B5EF4-FFF2-40B4-BE49-F238E27FC236}">
                <a16:creationId xmlns:a16="http://schemas.microsoft.com/office/drawing/2014/main" id="{137D0A60-2281-F642-8DFB-94CD2CA11EE4}"/>
              </a:ext>
            </a:extLst>
          </p:cNvPr>
          <p:cNvSpPr txBox="1"/>
          <p:nvPr/>
        </p:nvSpPr>
        <p:spPr>
          <a:xfrm>
            <a:off x="446942" y="722585"/>
            <a:ext cx="11298116" cy="73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以下代码展示了如何使用主成分分析（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PCA</a:t>
            </a:r>
            <a:r>
              <a:rPr lang="zh-CN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）对鸢尾花数据集进行降维和可视化。让我们逐步解析代码的每个部分。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27">
            <a:extLst>
              <a:ext uri="{FF2B5EF4-FFF2-40B4-BE49-F238E27FC236}">
                <a16:creationId xmlns:a16="http://schemas.microsoft.com/office/drawing/2014/main" id="{C50E6A54-CA39-2A59-FA18-7CD9AB7FBB90}"/>
              </a:ext>
            </a:extLst>
          </p:cNvPr>
          <p:cNvSpPr txBox="1"/>
          <p:nvPr/>
        </p:nvSpPr>
        <p:spPr>
          <a:xfrm>
            <a:off x="446942" y="1644736"/>
            <a:ext cx="6122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zh-CN" sz="20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数据准备</a:t>
            </a:r>
            <a:endParaRPr lang="zh-CN" altLang="zh-CN" sz="1600" b="1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3">
            <a:extLst>
              <a:ext uri="{FF2B5EF4-FFF2-40B4-BE49-F238E27FC236}">
                <a16:creationId xmlns:a16="http://schemas.microsoft.com/office/drawing/2014/main" id="{096836EF-2732-38B6-74A4-CB3918C61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02" y="2181691"/>
            <a:ext cx="7010400" cy="850900"/>
          </a:xfrm>
          <a:prstGeom prst="rect">
            <a:avLst/>
          </a:prstGeom>
        </p:spPr>
      </p:pic>
      <p:pic>
        <p:nvPicPr>
          <p:cNvPr id="8" name="图片 5">
            <a:extLst>
              <a:ext uri="{FF2B5EF4-FFF2-40B4-BE49-F238E27FC236}">
                <a16:creationId xmlns:a16="http://schemas.microsoft.com/office/drawing/2014/main" id="{2EFB7C60-88F4-F39F-0351-8A1394120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02" y="4434449"/>
            <a:ext cx="7010400" cy="584200"/>
          </a:xfrm>
          <a:prstGeom prst="rect">
            <a:avLst/>
          </a:prstGeom>
        </p:spPr>
      </p:pic>
      <p:sp>
        <p:nvSpPr>
          <p:cNvPr id="9" name="文本框 6">
            <a:extLst>
              <a:ext uri="{FF2B5EF4-FFF2-40B4-BE49-F238E27FC236}">
                <a16:creationId xmlns:a16="http://schemas.microsoft.com/office/drawing/2014/main" id="{0411DC94-EDAD-85AC-3D6C-BCA1762C164A}"/>
              </a:ext>
            </a:extLst>
          </p:cNvPr>
          <p:cNvSpPr txBox="1"/>
          <p:nvPr/>
        </p:nvSpPr>
        <p:spPr>
          <a:xfrm>
            <a:off x="446942" y="3950908"/>
            <a:ext cx="6122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数据标准化</a:t>
            </a:r>
            <a:endParaRPr lang="zh-CN" altLang="zh-CN" sz="1600" b="1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8">
            <a:extLst>
              <a:ext uri="{FF2B5EF4-FFF2-40B4-BE49-F238E27FC236}">
                <a16:creationId xmlns:a16="http://schemas.microsoft.com/office/drawing/2014/main" id="{A08EAAC9-CD0D-84B9-4BF5-E246C07853F8}"/>
              </a:ext>
            </a:extLst>
          </p:cNvPr>
          <p:cNvSpPr txBox="1"/>
          <p:nvPr/>
        </p:nvSpPr>
        <p:spPr>
          <a:xfrm>
            <a:off x="446942" y="3163218"/>
            <a:ext cx="10151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这部分代码加载了</a:t>
            </a:r>
            <a:r>
              <a:rPr lang="en-US" altLang="zh-CN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自带的鸢尾花数据集。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包含了四个特征（花萼长度、花萼宽度、花瓣长度、花瓣宽度），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是对应的标签（鸢尾花的种类）。</a:t>
            </a:r>
            <a:endParaRPr lang="zh-CN" altLang="zh-CN" sz="14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A702F8-119E-7EB1-22A6-9D5C3A8361D8}"/>
              </a:ext>
            </a:extLst>
          </p:cNvPr>
          <p:cNvSpPr txBox="1"/>
          <p:nvPr/>
        </p:nvSpPr>
        <p:spPr>
          <a:xfrm>
            <a:off x="446942" y="5196560"/>
            <a:ext cx="10689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在应用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之前，我们首先对数据进行标准化。这一步很重要，因为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对数据的尺度很敏感。标准化确保了所有特征都在相同的尺度上，防止某些特征由于其数值范围较大而主导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的结果。</a:t>
            </a:r>
            <a:endParaRPr lang="zh-CN" altLang="zh-CN" sz="14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93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42F80-6CCB-139B-1C82-3318657E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5AA94-EBB7-79EA-B3C1-63D92F05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降维案例</a:t>
            </a:r>
          </a:p>
        </p:txBody>
      </p:sp>
      <p:sp>
        <p:nvSpPr>
          <p:cNvPr id="3" name="文本框 27">
            <a:extLst>
              <a:ext uri="{FF2B5EF4-FFF2-40B4-BE49-F238E27FC236}">
                <a16:creationId xmlns:a16="http://schemas.microsoft.com/office/drawing/2014/main" id="{28875702-C911-56CA-FCE5-0610297E2C42}"/>
              </a:ext>
            </a:extLst>
          </p:cNvPr>
          <p:cNvSpPr txBox="1"/>
          <p:nvPr/>
        </p:nvSpPr>
        <p:spPr>
          <a:xfrm>
            <a:off x="446942" y="894821"/>
            <a:ext cx="6122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应用</a:t>
            </a:r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1B90B347-7475-134F-3B04-E1A9C061CF86}"/>
              </a:ext>
            </a:extLst>
          </p:cNvPr>
          <p:cNvSpPr txBox="1"/>
          <p:nvPr/>
        </p:nvSpPr>
        <p:spPr>
          <a:xfrm>
            <a:off x="446942" y="3200993"/>
            <a:ext cx="6122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分析主成分</a:t>
            </a:r>
          </a:p>
        </p:txBody>
      </p:sp>
      <p:sp>
        <p:nvSpPr>
          <p:cNvPr id="12" name="文本框 8">
            <a:extLst>
              <a:ext uri="{FF2B5EF4-FFF2-40B4-BE49-F238E27FC236}">
                <a16:creationId xmlns:a16="http://schemas.microsoft.com/office/drawing/2014/main" id="{1142F016-39EC-A455-1C73-DF6886740E55}"/>
              </a:ext>
            </a:extLst>
          </p:cNvPr>
          <p:cNvSpPr txBox="1"/>
          <p:nvPr/>
        </p:nvSpPr>
        <p:spPr>
          <a:xfrm>
            <a:off x="446942" y="2289611"/>
            <a:ext cx="10151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这里我们创建了一个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对象，并使用</a:t>
            </a:r>
            <a:r>
              <a:rPr lang="en-US" altLang="zh-CN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fit_transform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方法对标准化后的数据进行转换。</a:t>
            </a:r>
            <a:r>
              <a:rPr lang="en-US" altLang="zh-CN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X_pca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就是转换后的数据，其中每一列对应一个主成分。</a:t>
            </a:r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8442B06B-B190-66A1-0D48-5BC2FAB6A774}"/>
              </a:ext>
            </a:extLst>
          </p:cNvPr>
          <p:cNvSpPr txBox="1"/>
          <p:nvPr/>
        </p:nvSpPr>
        <p:spPr>
          <a:xfrm>
            <a:off x="446942" y="4423366"/>
            <a:ext cx="10689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explained_variance_ratio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告诉我们每个主成分解释了多少比例的方差。这个比例反映了每个主成分的重要性。</a:t>
            </a:r>
          </a:p>
        </p:txBody>
      </p:sp>
      <p:pic>
        <p:nvPicPr>
          <p:cNvPr id="14" name="图片 4">
            <a:extLst>
              <a:ext uri="{FF2B5EF4-FFF2-40B4-BE49-F238E27FC236}">
                <a16:creationId xmlns:a16="http://schemas.microsoft.com/office/drawing/2014/main" id="{D45018A4-85A1-8D0C-953E-5E1052F07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05" y="1493500"/>
            <a:ext cx="7010400" cy="596900"/>
          </a:xfrm>
          <a:prstGeom prst="rect">
            <a:avLst/>
          </a:prstGeom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DF589AAB-AEFE-CE1C-4B31-00EC49A3B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05" y="3852424"/>
            <a:ext cx="70231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0FD4-B960-4021-40DE-792A1699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853B3-8499-683F-D065-BE18D7A2A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降维案例</a:t>
            </a:r>
          </a:p>
        </p:txBody>
      </p:sp>
      <p:sp>
        <p:nvSpPr>
          <p:cNvPr id="5" name="文本框 27">
            <a:extLst>
              <a:ext uri="{FF2B5EF4-FFF2-40B4-BE49-F238E27FC236}">
                <a16:creationId xmlns:a16="http://schemas.microsoft.com/office/drawing/2014/main" id="{A328F837-FB15-F46B-C793-972FAF3B8597}"/>
              </a:ext>
            </a:extLst>
          </p:cNvPr>
          <p:cNvSpPr txBox="1"/>
          <p:nvPr/>
        </p:nvSpPr>
        <p:spPr>
          <a:xfrm>
            <a:off x="519299" y="883669"/>
            <a:ext cx="6122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zh-CN" sz="20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分析主成分的组成</a:t>
            </a:r>
          </a:p>
          <a:p>
            <a:pPr lvl="0" algn="just"/>
            <a:endParaRPr lang="zh-CN" altLang="zh-CN" sz="1600" b="1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10">
            <a:extLst>
              <a:ext uri="{FF2B5EF4-FFF2-40B4-BE49-F238E27FC236}">
                <a16:creationId xmlns:a16="http://schemas.microsoft.com/office/drawing/2014/main" id="{FE6BDEF2-20D5-2BE8-32F1-A8F6662CFB60}"/>
              </a:ext>
            </a:extLst>
          </p:cNvPr>
          <p:cNvSpPr txBox="1"/>
          <p:nvPr/>
        </p:nvSpPr>
        <p:spPr>
          <a:xfrm>
            <a:off x="446942" y="4039730"/>
            <a:ext cx="10689248" cy="1728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20000"/>
              </a:lnSpc>
            </a:pP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这一部分代码帮助我们理解每个主成分的具体含义：</a:t>
            </a:r>
          </a:p>
          <a:p>
            <a:pPr indent="266700" algn="just">
              <a:lnSpc>
                <a:spcPct val="120000"/>
              </a:lnSpc>
            </a:pP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首先打印出每个主成分的特征向量</a:t>
            </a:r>
            <a:r>
              <a:rPr lang="zh-CN" alt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告诉我们每个原始特征对主成分的贡献。</a:t>
            </a:r>
          </a:p>
          <a:p>
            <a:pPr indent="266700" algn="just">
              <a:lnSpc>
                <a:spcPct val="120000"/>
              </a:lnSpc>
            </a:pP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然后计算并打印原始特征与主成分的相关性。这告诉我们每个主成分与原始特征的关系强度和方向。</a:t>
            </a:r>
          </a:p>
          <a:p>
            <a:pPr indent="266700" algn="just">
              <a:lnSpc>
                <a:spcPct val="120000"/>
              </a:lnSpc>
            </a:pP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通过分析这些信息，我们可以给每个主成分一个有意义的解释，例如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第一主成分可能代表花的整体大小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第二主成分可能代表花瓣与花萼的比例</a:t>
            </a:r>
            <a:r>
              <a:rPr lang="en-US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7" name="组合 11">
            <a:extLst>
              <a:ext uri="{FF2B5EF4-FFF2-40B4-BE49-F238E27FC236}">
                <a16:creationId xmlns:a16="http://schemas.microsoft.com/office/drawing/2014/main" id="{1D519015-EDF2-C858-46B6-FEC1BBA5B7A9}"/>
              </a:ext>
            </a:extLst>
          </p:cNvPr>
          <p:cNvGrpSpPr/>
          <p:nvPr/>
        </p:nvGrpSpPr>
        <p:grpSpPr>
          <a:xfrm>
            <a:off x="798225" y="1375268"/>
            <a:ext cx="7035800" cy="2584076"/>
            <a:chOff x="1111803" y="1841500"/>
            <a:chExt cx="7035800" cy="2584076"/>
          </a:xfrm>
        </p:grpSpPr>
        <p:pic>
          <p:nvPicPr>
            <p:cNvPr id="8" name="图片 3">
              <a:extLst>
                <a:ext uri="{FF2B5EF4-FFF2-40B4-BE49-F238E27FC236}">
                  <a16:creationId xmlns:a16="http://schemas.microsoft.com/office/drawing/2014/main" id="{5FA0F9F1-8751-0951-C154-061249172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4503" y="1841500"/>
              <a:ext cx="7010400" cy="1587500"/>
            </a:xfrm>
            <a:prstGeom prst="rect">
              <a:avLst/>
            </a:prstGeom>
          </p:spPr>
        </p:pic>
        <p:pic>
          <p:nvPicPr>
            <p:cNvPr id="9" name="图片 7">
              <a:extLst>
                <a:ext uri="{FF2B5EF4-FFF2-40B4-BE49-F238E27FC236}">
                  <a16:creationId xmlns:a16="http://schemas.microsoft.com/office/drawing/2014/main" id="{A1F9F297-FC17-B883-CC76-56F72AAE6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620"/>
            <a:stretch/>
          </p:blipFill>
          <p:spPr>
            <a:xfrm>
              <a:off x="1111803" y="3347488"/>
              <a:ext cx="7035800" cy="10780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938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989773" y="2775699"/>
            <a:ext cx="21467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The End.</a:t>
            </a:r>
            <a:endParaRPr lang="zh-CN" altLang="en-US" sz="4000" dirty="0">
              <a:solidFill>
                <a:schemeClr val="bg1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665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crop20194963_1*i*1"/>
  <p:tag name="KSO_WM_TEMPLATE_CATEGORY" val="crop"/>
  <p:tag name="KSO_WM_TEMPLATE_INDEX" val="20194963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  <p:tag name="KSO_WM_UNIT_HIGHLIGHT" val="0"/>
  <p:tag name="KSO_WM_UNIT_COMPATIBLE" val="0"/>
  <p:tag name="KSO_WM_UNIT_DIAGRAM_ISNUMVISUAL" val="0"/>
  <p:tag name="KSO_WM_UNIT_DIAGRAM_ISREFERUNIT" val="0"/>
  <p:tag name="KSO_WM_DIAGRAM_GROUP_CODE" val="1568032552"/>
  <p:tag name="KSO_WM_UNIT_TYPE" val="ζ_h_i"/>
  <p:tag name="KSO_WM_UNIT_INDEX" val="1_1_2"/>
  <p:tag name="KSO_WM_UNIT_ID" val="crop20194963_1*ζ_h_i*1_1_2"/>
  <p:tag name="KSO_WM_TEMPLATE_CATEGORY" val="crop"/>
  <p:tag name="KSO_WM_TEMPLATE_INDEX" val="20194963"/>
  <p:tag name="KSO_WM_UNIT_LAYERLEVEL" val="1_1_1"/>
  <p:tag name="KSO_WM_TAG_VERSION" val="1.0"/>
  <p:tag name="KSO_WM_BEAUTIFY_FLAG" val="#wm#"/>
  <p:tag name="PICTUREFILLRANGE" val="36ccaf6c-7af3-4251-8b16-6c4d44af1832"/>
  <p:tag name="KSO_WM_UNIT_DIAGRAM_MODELTYPE" val="creativeCrop"/>
  <p:tag name="KSO_WM_CREATIVE_CROP_ORG_WIDTH" val="466.75"/>
  <p:tag name="KSO_WM_CREATIVE_CROP_ORG_HEIGHT" val="302.3"/>
  <p:tag name="KSO_WM_CREATIVE_CROP_HEIGHT" val="302.3"/>
  <p:tag name="KSO_WM_CREATIVE_CROP_WIDTH" val="395.418"/>
  <p:tag name="KSO_WM_CREATIVE_CROP_VERSION" val="1"/>
  <p:tag name="KSO_WM_CREATIVE_CROP_TEMPLATE_ID" val="310698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2c6e7530-7b18-4a69-a31d-5f058a0ee538"/>
  <p:tag name="KSO_WM_UNIT_VALUE" val="417*1012"/>
  <p:tag name="KSO_WM_UNIT_HIGHLIGHT" val="0"/>
  <p:tag name="KSO_WM_UNIT_COMPATIBLE" val="0"/>
  <p:tag name="KSO_WM_UNIT_DIAGRAM_ISNUMVISUAL" val="0"/>
  <p:tag name="KSO_WM_UNIT_DIAGRAM_ISREFERUNIT" val="0"/>
  <p:tag name="KSO_WM_DIAGRAM_GROUP_CODE" val="1568032552"/>
  <p:tag name="KSO_WM_UNIT_TYPE" val="ζ_h_d"/>
  <p:tag name="KSO_WM_UNIT_INDEX" val="1_1_1"/>
  <p:tag name="KSO_WM_UNIT_ID" val="crop20194963_1*ζ_h_d*1_1_1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146"/>
  <p:tag name="KSO_WM_BLIP_RECT_RIGHT" val="-48"/>
  <p:tag name="KSO_WM_BLIP_RECT_TOP" val="-98"/>
  <p:tag name="KSO_WM_BLIP_RECT_BOTTOM" val="-255"/>
  <p:tag name="KSO_WM_CREATIVE_CROP_ORG_WIDTH" val="548"/>
  <p:tag name="KSO_WM_CREATIVE_CROP_ORG_HEIGHT" val="360"/>
  <p:tag name="KSO_WM_CREATIVE_CROP_HEIGHT" val="360.9"/>
  <p:tag name="KSO_WM_CREATIVE_CROP_WIDTH" val="464.267"/>
  <p:tag name="KSO_WM_CREATIVE_CROP_VERSION" val="1"/>
  <p:tag name="KSO_WM_CREATIVE_CROP_TEMPLATE_ID" val="3106986"/>
  <p:tag name="KSO_WM_CREATIVE_CROP_ORG_DELTA_X" val="0"/>
  <p:tag name="KSO_WM_CREATIVE_CROP_ORG_DELTA_Y" val="0"/>
  <p:tag name="KSO_WM_UNIT_PARTIAL_ZOOM_RATIO" val="1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2c6e7530-7b18-4a69-a31d-5f058a0ee538"/>
  <p:tag name="KSO_WM_UNIT_VALUE" val="903*967"/>
  <p:tag name="KSO_WM_UNIT_HIGHLIGHT" val="0"/>
  <p:tag name="KSO_WM_UNIT_COMPATIBLE" val="0"/>
  <p:tag name="KSO_WM_UNIT_DIAGRAM_ISNUMVISUAL" val="0"/>
  <p:tag name="KSO_WM_UNIT_DIAGRAM_ISREFERUNIT" val="0"/>
  <p:tag name="KSO_WM_DIAGRAM_GROUP_CODE" val="1568032552"/>
  <p:tag name="KSO_WM_UNIT_TYPE" val="ζ_h_d"/>
  <p:tag name="KSO_WM_UNIT_INDEX" val="1_1_2"/>
  <p:tag name="KSO_WM_UNIT_ID" val="crop20194963_1*ζ_h_d*1_1_2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50"/>
  <p:tag name="KSO_WM_BLIP_RECT_RIGHT" val="-157"/>
  <p:tag name="KSO_WM_BLIP_RECT_TOP" val="-16"/>
  <p:tag name="KSO_WM_BLIP_RECT_BOTTOM" val="-94"/>
  <p:tag name="KSO_WM_CREATIVE_CROP_ORG_WIDTH" val="548"/>
  <p:tag name="KSO_WM_CREATIVE_CROP_ORG_HEIGHT" val="360"/>
  <p:tag name="KSO_WM_CREATIVE_CROP_HEIGHT" val="360.9"/>
  <p:tag name="KSO_WM_CREATIVE_CROP_WIDTH" val="464.267"/>
  <p:tag name="KSO_WM_CREATIVE_CROP_VERSION" val="1"/>
  <p:tag name="KSO_WM_CREATIVE_CROP_TEMPLATE_ID" val="3106986"/>
  <p:tag name="KSO_WM_CREATIVE_CROP_ORG_DELTA_X" val="0"/>
  <p:tag name="KSO_WM_CREATIVE_CROP_ORG_DELTA_Y" val="0"/>
  <p:tag name="KSO_WM_UNIT_PARTIAL_ZOOM_RATIO" val="10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2c6e7530-7b18-4a69-a31d-5f058a0ee538"/>
  <p:tag name="KSO_WM_UNIT_VALUE" val="516*553"/>
  <p:tag name="KSO_WM_UNIT_HIGHLIGHT" val="0"/>
  <p:tag name="KSO_WM_UNIT_COMPATIBLE" val="0"/>
  <p:tag name="KSO_WM_UNIT_DIAGRAM_ISNUMVISUAL" val="0"/>
  <p:tag name="KSO_WM_UNIT_DIAGRAM_ISREFERUNIT" val="0"/>
  <p:tag name="KSO_WM_DIAGRAM_GROUP_CODE" val="1568032552"/>
  <p:tag name="KSO_WM_UNIT_TYPE" val="ζ_h_d"/>
  <p:tag name="KSO_WM_UNIT_INDEX" val="1_1_3"/>
  <p:tag name="KSO_WM_UNIT_ID" val="crop20194963_1*ζ_h_d*1_1_3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163"/>
  <p:tag name="KSO_WM_BLIP_RECT_RIGHT" val="-275"/>
  <p:tag name="KSO_WM_BLIP_RECT_TOP" val="-206"/>
  <p:tag name="KSO_WM_BLIP_RECT_BOTTOM" val="-60"/>
  <p:tag name="KSO_WM_CREATIVE_CROP_ORG_WIDTH" val="548"/>
  <p:tag name="KSO_WM_CREATIVE_CROP_ORG_HEIGHT" val="360"/>
  <p:tag name="KSO_WM_CREATIVE_CROP_HEIGHT" val="360.9"/>
  <p:tag name="KSO_WM_CREATIVE_CROP_WIDTH" val="464.267"/>
  <p:tag name="KSO_WM_CREATIVE_CROP_VERSION" val="1"/>
  <p:tag name="KSO_WM_CREATIVE_CROP_TEMPLATE_ID" val="3106986"/>
  <p:tag name="KSO_WM_CREATIVE_CROP_ORG_DELTA_X" val="0"/>
  <p:tag name="KSO_WM_CREATIVE_CROP_ORG_DELTA_Y" val="0"/>
  <p:tag name="KSO_WM_UNIT_PARTIAL_ZOOM_RATIO" val="10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2c6e7530-7b18-4a69-a31d-5f058a0ee538"/>
  <p:tag name="KSO_WM_UNIT_VALUE" val="41*789"/>
  <p:tag name="KSO_WM_UNIT_HIGHLIGHT" val="0"/>
  <p:tag name="KSO_WM_UNIT_COMPATIBLE" val="0"/>
  <p:tag name="KSO_WM_UNIT_DIAGRAM_ISNUMVISUAL" val="0"/>
  <p:tag name="KSO_WM_UNIT_DIAGRAM_ISREFERUNIT" val="0"/>
  <p:tag name="KSO_WM_DIAGRAM_GROUP_CODE" val="1568032552"/>
  <p:tag name="KSO_WM_UNIT_TYPE" val="ζ_h_d"/>
  <p:tag name="KSO_WM_UNIT_INDEX" val="1_1_4"/>
  <p:tag name="KSO_WM_UNIT_ID" val="crop20194963_1*ζ_h_d*1_1_4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84"/>
  <p:tag name="KSO_WM_BLIP_RECT_RIGHT" val="-192"/>
  <p:tag name="KSO_WM_BLIP_RECT_TOP" val="-3939"/>
  <p:tag name="KSO_WM_BLIP_RECT_BOTTOM" val="-600"/>
  <p:tag name="KSO_WM_CREATIVE_CROP_ORG_WIDTH" val="548"/>
  <p:tag name="KSO_WM_CREATIVE_CROP_ORG_HEIGHT" val="360"/>
  <p:tag name="KSO_WM_CREATIVE_CROP_HEIGHT" val="360.9"/>
  <p:tag name="KSO_WM_CREATIVE_CROP_WIDTH" val="464.267"/>
  <p:tag name="KSO_WM_CREATIVE_CROP_VERSION" val="1"/>
  <p:tag name="KSO_WM_CREATIVE_CROP_TEMPLATE_ID" val="3106986"/>
  <p:tag name="KSO_WM_CREATIVE_CROP_ORG_DELTA_X" val="0"/>
  <p:tag name="KSO_WM_CREATIVE_CROP_ORG_DELTA_Y" val="0"/>
  <p:tag name="KSO_WM_UNIT_PARTIAL_ZOOM_RATIO" val="1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2c6e7530-7b18-4a69-a31d-5f058a0ee538"/>
  <p:tag name="KSO_WM_UNIT_VALUE" val="903*861"/>
  <p:tag name="KSO_WM_UNIT_HIGHLIGHT" val="0"/>
  <p:tag name="KSO_WM_UNIT_COMPATIBLE" val="0"/>
  <p:tag name="KSO_WM_UNIT_DIAGRAM_ISNUMVISUAL" val="0"/>
  <p:tag name="KSO_WM_UNIT_DIAGRAM_ISREFERUNIT" val="0"/>
  <p:tag name="KSO_WM_DIAGRAM_GROUP_CODE" val="1568032552"/>
  <p:tag name="KSO_WM_UNIT_TYPE" val="ζ_h_d"/>
  <p:tag name="KSO_WM_UNIT_INDEX" val="1_1_5"/>
  <p:tag name="KSO_WM_UNIT_ID" val="crop20194963_1*ζ_h_d*1_1_5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171"/>
  <p:tag name="KSO_WM_BLIP_RECT_RIGHT" val="-74"/>
  <p:tag name="KSO_WM_BLIP_RECT_TOP" val="-94"/>
  <p:tag name="KSO_WM_BLIP_RECT_BOTTOM" val="-16"/>
  <p:tag name="KSO_WM_CREATIVE_CROP_ORG_WIDTH" val="548"/>
  <p:tag name="KSO_WM_CREATIVE_CROP_ORG_HEIGHT" val="360"/>
  <p:tag name="KSO_WM_CREATIVE_CROP_HEIGHT" val="360.9"/>
  <p:tag name="KSO_WM_CREATIVE_CROP_WIDTH" val="464.267"/>
  <p:tag name="KSO_WM_CREATIVE_CROP_VERSION" val="1"/>
  <p:tag name="KSO_WM_CREATIVE_CROP_TEMPLATE_ID" val="3106986"/>
  <p:tag name="KSO_WM_CREATIVE_CROP_ORG_DELTA_X" val="0"/>
  <p:tag name="KSO_WM_CREATIVE_CROP_ORG_DELTA_Y" val="0"/>
  <p:tag name="KSO_WM_UNIT_PARTIAL_ZOOM_RATIO" val="10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2c6e7530-7b18-4a69-a31d-5f058a0ee538"/>
  <p:tag name="KSO_WM_UNIT_VALUE" val="318*29"/>
  <p:tag name="KSO_WM_UNIT_HIGHLIGHT" val="0"/>
  <p:tag name="KSO_WM_UNIT_COMPATIBLE" val="0"/>
  <p:tag name="KSO_WM_UNIT_DIAGRAM_ISNUMVISUAL" val="0"/>
  <p:tag name="KSO_WM_UNIT_DIAGRAM_ISREFERUNIT" val="0"/>
  <p:tag name="KSO_WM_DIAGRAM_GROUP_CODE" val="1568032552"/>
  <p:tag name="KSO_WM_UNIT_TYPE" val="ζ_h_d"/>
  <p:tag name="KSO_WM_UNIT_INDEX" val="1_1_6"/>
  <p:tag name="KSO_WM_UNIT_ID" val="crop20194963_1*ζ_h_d*1_1_6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8680"/>
  <p:tag name="KSO_WM_BLIP_RECT_RIGHT" val="-1502"/>
  <p:tag name="KSO_WM_BLIP_RECT_TOP" val="-129"/>
  <p:tag name="KSO_WM_BLIP_RECT_BOTTOM" val="-366"/>
  <p:tag name="KSO_WM_CREATIVE_CROP_ORG_WIDTH" val="548"/>
  <p:tag name="KSO_WM_CREATIVE_CROP_ORG_HEIGHT" val="360"/>
  <p:tag name="KSO_WM_CREATIVE_CROP_HEIGHT" val="360.9"/>
  <p:tag name="KSO_WM_CREATIVE_CROP_WIDTH" val="464.267"/>
  <p:tag name="KSO_WM_CREATIVE_CROP_VERSION" val="1"/>
  <p:tag name="KSO_WM_CREATIVE_CROP_TEMPLATE_ID" val="3106986"/>
  <p:tag name="KSO_WM_CREATIVE_CROP_ORG_DELTA_X" val="0"/>
  <p:tag name="KSO_WM_CREATIVE_CROP_ORG_DELTA_Y" val="0"/>
  <p:tag name="KSO_WM_UNIT_PARTIAL_ZOOM_RATIO" val="10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2c6e7530-7b18-4a69-a31d-5f058a0ee538"/>
  <p:tag name="KSO_WM_UNIT_VALUE" val="534*38"/>
  <p:tag name="KSO_WM_UNIT_HIGHLIGHT" val="0"/>
  <p:tag name="KSO_WM_UNIT_COMPATIBLE" val="0"/>
  <p:tag name="KSO_WM_UNIT_DIAGRAM_ISNUMVISUAL" val="0"/>
  <p:tag name="KSO_WM_UNIT_DIAGRAM_ISREFERUNIT" val="0"/>
  <p:tag name="KSO_WM_DIAGRAM_GROUP_CODE" val="1568032552"/>
  <p:tag name="KSO_WM_UNIT_TYPE" val="ζ_h_d"/>
  <p:tag name="KSO_WM_UNIT_INDEX" val="1_1_7"/>
  <p:tag name="KSO_WM_UNIT_ID" val="crop20194963_1*ζ_h_d*1_1_7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6252"/>
  <p:tag name="KSO_WM_BLIP_RECT_RIGHT" val="-1527"/>
  <p:tag name="KSO_WM_BLIP_RECT_TOP" val="-199"/>
  <p:tag name="KSO_WM_BLIP_RECT_BOTTOM" val="-55"/>
  <p:tag name="KSO_WM_CREATIVE_CROP_ORG_WIDTH" val="548"/>
  <p:tag name="KSO_WM_CREATIVE_CROP_ORG_HEIGHT" val="360"/>
  <p:tag name="KSO_WM_CREATIVE_CROP_HEIGHT" val="360.9"/>
  <p:tag name="KSO_WM_CREATIVE_CROP_WIDTH" val="464.267"/>
  <p:tag name="KSO_WM_CREATIVE_CROP_VERSION" val="1"/>
  <p:tag name="KSO_WM_CREATIVE_CROP_TEMPLATE_ID" val="3106986"/>
  <p:tag name="KSO_WM_CREATIVE_CROP_ORG_DELTA_X" val="0"/>
  <p:tag name="KSO_WM_CREATIVE_CROP_ORG_DELTA_Y" val="0"/>
  <p:tag name="KSO_WM_UNIT_PARTIAL_ZOOM_RATIO" val="10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FILLRANGE" val="2c6e7530-7b18-4a69-a31d-5f058a0ee538"/>
  <p:tag name="KSO_WM_UNIT_VALUE" val="680*32"/>
  <p:tag name="KSO_WM_UNIT_HIGHLIGHT" val="0"/>
  <p:tag name="KSO_WM_UNIT_COMPATIBLE" val="0"/>
  <p:tag name="KSO_WM_UNIT_DIAGRAM_ISNUMVISUAL" val="0"/>
  <p:tag name="KSO_WM_UNIT_DIAGRAM_ISREFERUNIT" val="0"/>
  <p:tag name="KSO_WM_DIAGRAM_GROUP_CODE" val="1568032552"/>
  <p:tag name="KSO_WM_UNIT_TYPE" val="ζ_h_d"/>
  <p:tag name="KSO_WM_UNIT_INDEX" val="1_1_8"/>
  <p:tag name="KSO_WM_UNIT_ID" val="crop20194963_1*ζ_h_d*1_1_8"/>
  <p:tag name="KSO_WM_TEMPLATE_CATEGORY" val="crop"/>
  <p:tag name="KSO_WM_TEMPLATE_INDEX" val="20194963"/>
  <p:tag name="KSO_WM_UNIT_LAYERLEVEL" val="1_1_1"/>
  <p:tag name="KSO_WM_TAG_VERSION" val="1.0"/>
  <p:tag name="KSO_WM_BEAUTIFY_FLAG" val="#wm#"/>
  <p:tag name="KSO_WM_UNIT_DIAGRAM_MODELTYPE" val="creativeCrop"/>
  <p:tag name="KSO_WM_BLIP_RECT_LEFT" val="-1339"/>
  <p:tag name="KSO_WM_BLIP_RECT_RIGHT" val="-7726"/>
  <p:tag name="KSO_WM_BLIP_RECT_TOP" val="-53"/>
  <p:tag name="KSO_WM_BLIP_RECT_BOTTOM" val="-124"/>
  <p:tag name="KSO_WM_CREATIVE_CROP_ORG_WIDTH" val="548"/>
  <p:tag name="KSO_WM_CREATIVE_CROP_ORG_HEIGHT" val="360"/>
  <p:tag name="KSO_WM_CREATIVE_CROP_HEIGHT" val="360.9"/>
  <p:tag name="KSO_WM_CREATIVE_CROP_WIDTH" val="464.267"/>
  <p:tag name="KSO_WM_CREATIVE_CROP_VERSION" val="1"/>
  <p:tag name="KSO_WM_CREATIVE_CROP_TEMPLATE_ID" val="3106986"/>
  <p:tag name="KSO_WM_CREATIVE_CROP_ORG_DELTA_X" val="0"/>
  <p:tag name="KSO_WM_CREATIVE_CROP_ORG_DELTA_Y" val="0"/>
  <p:tag name="KSO_WM_UNIT_PARTIAL_ZOOM_RATIO" val="10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 w="19050">
          <a:solidFill>
            <a:schemeClr val="tx1">
              <a:lumMod val="75000"/>
              <a:lumOff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34255</TotalTime>
  <Words>1414</Words>
  <Application>Microsoft Macintosh PowerPoint</Application>
  <PresentationFormat>宽屏</PresentationFormat>
  <Paragraphs>153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DengXian</vt:lpstr>
      <vt:lpstr>华文琥珀</vt:lpstr>
      <vt:lpstr>微软雅黑</vt:lpstr>
      <vt:lpstr>微软雅黑</vt:lpstr>
      <vt:lpstr>Brush Script MT</vt:lpstr>
      <vt:lpstr>Lantinghei SC Demibold</vt:lpstr>
      <vt:lpstr>Lantinghei SC Extralight</vt:lpstr>
      <vt:lpstr>Lantinghei SC Heavy</vt:lpstr>
      <vt:lpstr>Agency FB</vt:lpstr>
      <vt:lpstr>Arial</vt:lpstr>
      <vt:lpstr>Calibri</vt:lpstr>
      <vt:lpstr>Georgia</vt:lpstr>
      <vt:lpstr>Times New Roman</vt:lpstr>
      <vt:lpstr>Wingdings</vt:lpstr>
      <vt:lpstr>Office 主题​​</vt:lpstr>
      <vt:lpstr>PowerPoint 演示文稿</vt:lpstr>
      <vt:lpstr>提纲</vt:lpstr>
      <vt:lpstr>学习要点</vt:lpstr>
      <vt:lpstr>提纲</vt:lpstr>
      <vt:lpstr>1. 理解无监督学习</vt:lpstr>
      <vt:lpstr>1. 无监督学习技术</vt:lpstr>
      <vt:lpstr>提纲</vt:lpstr>
      <vt:lpstr>2. 聚类</vt:lpstr>
      <vt:lpstr>2. 聚类案例-鸢尾花分析</vt:lpstr>
      <vt:lpstr>2. 聚类案例-鸢尾花分析</vt:lpstr>
      <vt:lpstr>2. 聚类案例-鸢尾花分析</vt:lpstr>
      <vt:lpstr>2. 聚类案例-鸢尾花分析</vt:lpstr>
      <vt:lpstr>提纲</vt:lpstr>
      <vt:lpstr>2. 降维</vt:lpstr>
      <vt:lpstr>数据降维——自学</vt:lpstr>
      <vt:lpstr>主成分分析（PCA）——自学</vt:lpstr>
      <vt:lpstr>2. 降维案例</vt:lpstr>
      <vt:lpstr>2. 降维案例</vt:lpstr>
      <vt:lpstr>2. 降维案例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XM</dc:creator>
  <cp:lastModifiedBy>Microsoft Office User</cp:lastModifiedBy>
  <cp:revision>1288</cp:revision>
  <cp:lastPrinted>2015-09-13T13:07:31Z</cp:lastPrinted>
  <dcterms:created xsi:type="dcterms:W3CDTF">2012-01-19T22:55:48Z</dcterms:created>
  <dcterms:modified xsi:type="dcterms:W3CDTF">2026-04-16T23:58:24Z</dcterms:modified>
</cp:coreProperties>
</file>